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7" r:id="rId7"/>
    <p:sldId id="261" r:id="rId8"/>
    <p:sldId id="262" r:id="rId9"/>
    <p:sldId id="263" r:id="rId10"/>
    <p:sldId id="264" r:id="rId11"/>
    <p:sldId id="268" r:id="rId12"/>
    <p:sldId id="265" r:id="rId13"/>
    <p:sldId id="266"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77787"/>
  </p:normalViewPr>
  <p:slideViewPr>
    <p:cSldViewPr snapToGrid="0" snapToObjects="1">
      <p:cViewPr>
        <p:scale>
          <a:sx n="126" d="100"/>
          <a:sy n="126" d="100"/>
        </p:scale>
        <p:origin x="104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autoTitleDeleted val="1"/>
    <c:plotArea>
      <c:layout/>
      <c:lineChart>
        <c:grouping val="standard"/>
        <c:varyColors val="0"/>
        <c:ser>
          <c:idx val="0"/>
          <c:order val="0"/>
          <c:tx>
            <c:strRef>
              <c:f>Sheet1!$B$1</c:f>
              <c:strCache>
                <c:ptCount val="1"/>
                <c:pt idx="0">
                  <c:v>Avg Rating</c:v>
                </c:pt>
              </c:strCache>
            </c:strRef>
          </c:tx>
          <c:spPr>
            <a:ln w="38100" cap="flat">
              <a:solidFill>
                <a:srgbClr val="1A56A0"/>
              </a:solidFill>
              <a:prstDash val="solid"/>
              <a:round/>
            </a:ln>
            <a:effectLst/>
          </c:spPr>
          <c:marker>
            <c:symbol val="circle"/>
            <c:size val="6"/>
            <c:spPr>
              <a:solidFill>
                <a:srgbClr val="1A56A0"/>
              </a:solidFill>
              <a:ln w="9525" cap="flat">
                <a:solidFill>
                  <a:srgbClr val="1A56A0"/>
                </a:solidFill>
                <a:prstDash val="solid"/>
                <a:round/>
              </a:ln>
              <a:effectLst/>
            </c:spPr>
          </c:marker>
          <c:dLbls>
            <c:numFmt formatCode="#,##0.0" sourceLinked="0"/>
            <c:spPr>
              <a:noFill/>
              <a:ln>
                <a:noFill/>
              </a:ln>
              <a:effectLst/>
            </c:spPr>
            <c:txPr>
              <a:bodyPr/>
              <a:lstStyle/>
              <a:p>
                <a:pPr>
                  <a:defRPr sz="1000" b="0" i="0" u="none" strike="noStrike">
                    <a:solidFill>
                      <a:srgbClr val="1C2E4A"/>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&lt;60</c:v>
                </c:pt>
                <c:pt idx="1">
                  <c:v>60-90</c:v>
                </c:pt>
                <c:pt idx="2">
                  <c:v>90-120</c:v>
                </c:pt>
                <c:pt idx="3">
                  <c:v>120-150</c:v>
                </c:pt>
                <c:pt idx="4">
                  <c:v>150-180</c:v>
                </c:pt>
                <c:pt idx="5">
                  <c:v>&gt;180</c:v>
                </c:pt>
              </c:strCache>
            </c:strRef>
          </c:cat>
          <c:val>
            <c:numRef>
              <c:f>Sheet1!$B$2:$B$7</c:f>
              <c:numCache>
                <c:formatCode>General</c:formatCode>
                <c:ptCount val="6"/>
                <c:pt idx="0">
                  <c:v>6.7</c:v>
                </c:pt>
                <c:pt idx="1">
                  <c:v>6</c:v>
                </c:pt>
                <c:pt idx="2">
                  <c:v>6.1</c:v>
                </c:pt>
                <c:pt idx="3">
                  <c:v>6.47</c:v>
                </c:pt>
                <c:pt idx="4">
                  <c:v>6.63</c:v>
                </c:pt>
                <c:pt idx="5">
                  <c:v>7.07</c:v>
                </c:pt>
              </c:numCache>
            </c:numRef>
          </c:val>
          <c:smooth val="0"/>
          <c:extLst>
            <c:ext xmlns:c16="http://schemas.microsoft.com/office/drawing/2014/chart" uri="{C3380CC4-5D6E-409C-BE32-E72D297353CC}">
              <c16:uniqueId val="{00000000-1492-BF40-BAB6-B5A61AF81F9E}"/>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4A6080"/>
                    </a:solidFill>
                    <a:latin typeface="Arial"/>
                  </a:defRPr>
                </a:pPr>
                <a:r>
                  <a:rPr lang="en-AU" sz="1100" b="0" i="0" u="none" strike="noStrike">
                    <a:solidFill>
                      <a:srgbClr val="4A6080"/>
                    </a:solidFill>
                    <a:latin typeface="Arial"/>
                  </a:rPr>
                  <a:t>Runtime Group (minutes)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6080"/>
                </a:solidFill>
                <a:latin typeface="Arial"/>
              </a:defRPr>
            </a:pPr>
            <a:endParaRPr lang="en-US"/>
          </a:p>
        </c:txPr>
        <c:crossAx val="2094734552"/>
        <c:crosses val="autoZero"/>
        <c:auto val="1"/>
        <c:lblAlgn val="ctr"/>
        <c:lblOffset val="100"/>
        <c:noMultiLvlLbl val="1"/>
      </c:catAx>
      <c:valAx>
        <c:axId val="2094734552"/>
        <c:scaling>
          <c:orientation val="minMax"/>
          <c:max val="7.5"/>
          <c:min val="5.5"/>
        </c:scaling>
        <c:delete val="0"/>
        <c:axPos val="l"/>
        <c:majorGridlines>
          <c:spPr>
            <a:ln w="6350" cap="flat">
              <a:solidFill>
                <a:srgbClr val="E2E8F0"/>
              </a:solidFill>
              <a:prstDash val="solid"/>
              <a:round/>
            </a:ln>
          </c:spPr>
        </c:majorGridlines>
        <c:title>
          <c:tx>
            <c:rich>
              <a:bodyPr/>
              <a:lstStyle/>
              <a:p>
                <a:pPr>
                  <a:defRPr sz="1100" b="0" i="0" u="none" strike="noStrike">
                    <a:solidFill>
                      <a:srgbClr val="4A6080"/>
                    </a:solidFill>
                    <a:latin typeface="Arial"/>
                  </a:defRPr>
                </a:pPr>
                <a:r>
                  <a:rPr lang="en-AU" sz="1100" b="0" i="0" u="none" strike="noStrike">
                    <a:solidFill>
                      <a:srgbClr val="4A6080"/>
                    </a:solidFill>
                    <a:latin typeface="Arial"/>
                  </a:rPr>
                  <a:t>Average Audience Rating (out of 10)</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60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autoTitleDeleted val="1"/>
    <c:plotArea>
      <c:layout/>
      <c:lineChart>
        <c:grouping val="standard"/>
        <c:varyColors val="0"/>
        <c:ser>
          <c:idx val="0"/>
          <c:order val="0"/>
          <c:tx>
            <c:strRef>
              <c:f>Sheet1!$B$1</c:f>
              <c:strCache>
                <c:ptCount val="1"/>
                <c:pt idx="0">
                  <c:v>Avg Votes</c:v>
                </c:pt>
              </c:strCache>
            </c:strRef>
          </c:tx>
          <c:spPr>
            <a:ln w="38100" cap="flat">
              <a:solidFill>
                <a:srgbClr val="E8A020"/>
              </a:solidFill>
              <a:prstDash val="solid"/>
              <a:round/>
            </a:ln>
            <a:effectLst/>
          </c:spPr>
          <c:marker>
            <c:symbol val="circle"/>
            <c:size val="6"/>
            <c:spPr>
              <a:solidFill>
                <a:srgbClr val="E8A020"/>
              </a:solidFill>
              <a:ln w="9525" cap="flat">
                <a:solidFill>
                  <a:srgbClr val="E8A020"/>
                </a:solidFill>
                <a:prstDash val="solid"/>
                <a:round/>
              </a:ln>
              <a:effectLst/>
            </c:spPr>
          </c:marker>
          <c:dLbls>
            <c:numFmt formatCode="#,##0" sourceLinked="0"/>
            <c:spPr>
              <a:noFill/>
              <a:ln>
                <a:noFill/>
              </a:ln>
              <a:effectLst/>
            </c:spPr>
            <c:txPr>
              <a:bodyPr wrap="square" lIns="38100" tIns="19050" rIns="38100" bIns="19050" anchor="ctr">
                <a:spAutoFit/>
              </a:bodyPr>
              <a:lstStyle/>
              <a:p>
                <a:pPr>
                  <a:defRPr sz="1200" b="0" i="0" u="none" strike="noStrike">
                    <a:solidFill>
                      <a:schemeClr val="accent1">
                        <a:lumMod val="40000"/>
                        <a:lumOff val="60000"/>
                      </a:schemeClr>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&lt;60</c:v>
                </c:pt>
                <c:pt idx="1">
                  <c:v>60-90</c:v>
                </c:pt>
                <c:pt idx="2">
                  <c:v>90-120</c:v>
                </c:pt>
                <c:pt idx="3">
                  <c:v>120-150</c:v>
                </c:pt>
                <c:pt idx="4">
                  <c:v>150-180</c:v>
                </c:pt>
                <c:pt idx="5">
                  <c:v>&gt;180</c:v>
                </c:pt>
              </c:strCache>
            </c:strRef>
          </c:cat>
          <c:val>
            <c:numRef>
              <c:f>Sheet1!$B$2:$B$7</c:f>
              <c:numCache>
                <c:formatCode>General</c:formatCode>
                <c:ptCount val="6"/>
                <c:pt idx="0">
                  <c:v>100</c:v>
                </c:pt>
                <c:pt idx="1">
                  <c:v>1100</c:v>
                </c:pt>
                <c:pt idx="2">
                  <c:v>5600</c:v>
                </c:pt>
                <c:pt idx="3">
                  <c:v>15200</c:v>
                </c:pt>
                <c:pt idx="4">
                  <c:v>16500</c:v>
                </c:pt>
                <c:pt idx="5">
                  <c:v>21300</c:v>
                </c:pt>
              </c:numCache>
            </c:numRef>
          </c:val>
          <c:smooth val="0"/>
          <c:extLst>
            <c:ext xmlns:c16="http://schemas.microsoft.com/office/drawing/2014/chart" uri="{C3380CC4-5D6E-409C-BE32-E72D297353CC}">
              <c16:uniqueId val="{00000000-2024-5146-99F2-D0D59D6F796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8FA3BF"/>
                    </a:solidFill>
                    <a:latin typeface="Arial"/>
                  </a:defRPr>
                </a:pPr>
                <a:r>
                  <a:rPr lang="en-AU" sz="1100" b="0" i="0" u="none" strike="noStrike">
                    <a:solidFill>
                      <a:srgbClr val="8FA3BF"/>
                    </a:solidFill>
                    <a:latin typeface="Arial"/>
                  </a:rPr>
                  <a:t>Runtime Group (minutes)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3B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4060"/>
              </a:solidFill>
              <a:prstDash val="solid"/>
              <a:round/>
            </a:ln>
          </c:spPr>
        </c:majorGridlines>
        <c:title>
          <c:tx>
            <c:rich>
              <a:bodyPr/>
              <a:lstStyle/>
              <a:p>
                <a:pPr>
                  <a:defRPr sz="1100" b="0" i="0" u="none" strike="noStrike">
                    <a:solidFill>
                      <a:srgbClr val="8FA3BF"/>
                    </a:solidFill>
                    <a:latin typeface="Arial"/>
                  </a:defRPr>
                </a:pPr>
                <a:r>
                  <a:rPr lang="en-AU" sz="1100" b="0" i="0" u="none" strike="noStrike">
                    <a:solidFill>
                      <a:srgbClr val="8FA3BF"/>
                    </a:solidFill>
                    <a:latin typeface="Arial"/>
                  </a:rPr>
                  <a:t>Average Number of Votes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3B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62033"/>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autoTitleDeleted val="1"/>
    <c:plotArea>
      <c:layout/>
      <c:lineChart>
        <c:grouping val="standard"/>
        <c:varyColors val="0"/>
        <c:ser>
          <c:idx val="0"/>
          <c:order val="0"/>
          <c:tx>
            <c:strRef>
              <c:f>Sheet1!$B$1</c:f>
              <c:strCache>
                <c:ptCount val="1"/>
                <c:pt idx="0">
                  <c:v>All Movies</c:v>
                </c:pt>
              </c:strCache>
            </c:strRef>
          </c:tx>
          <c:spPr>
            <a:ln w="25400" cap="flat">
              <a:solidFill>
                <a:srgbClr val="8FA3BF"/>
              </a:solidFill>
              <a:prstDash val="solid"/>
              <a:round/>
            </a:ln>
            <a:effectLst/>
          </c:spPr>
          <c:marker>
            <c:symbol val="circle"/>
            <c:size val="6"/>
            <c:spPr>
              <a:solidFill>
                <a:srgbClr val="8FA3BF"/>
              </a:solidFill>
              <a:ln w="9525" cap="flat">
                <a:solidFill>
                  <a:srgbClr val="8FA3BF"/>
                </a:solidFill>
                <a:prstDash val="solid"/>
                <a:round/>
              </a:ln>
              <a:effectLst/>
            </c:spPr>
          </c:marker>
          <c:dLbls>
            <c:numFmt formatCode="#,##0" sourceLinked="0"/>
            <c:spPr>
              <a:noFill/>
              <a:ln>
                <a:noFill/>
              </a:ln>
              <a:effectLst/>
            </c:spPr>
            <c:txPr>
              <a:bodyPr/>
              <a:lstStyle/>
              <a:p>
                <a:pPr>
                  <a:defRPr sz="900" b="0" i="0" u="none" strike="noStrike">
                    <a:solidFill>
                      <a:srgbClr val="4A608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&lt;60</c:v>
                </c:pt>
                <c:pt idx="1">
                  <c:v>60-90</c:v>
                </c:pt>
                <c:pt idx="2">
                  <c:v>90-120</c:v>
                </c:pt>
                <c:pt idx="3">
                  <c:v>120-150</c:v>
                </c:pt>
                <c:pt idx="4">
                  <c:v>150-180</c:v>
                </c:pt>
                <c:pt idx="5">
                  <c:v>&gt;180</c:v>
                </c:pt>
              </c:strCache>
            </c:strRef>
          </c:cat>
          <c:val>
            <c:numRef>
              <c:f>Sheet1!$B$2:$B$7</c:f>
              <c:numCache>
                <c:formatCode>General</c:formatCode>
                <c:ptCount val="6"/>
                <c:pt idx="0">
                  <c:v>6.7</c:v>
                </c:pt>
                <c:pt idx="1">
                  <c:v>6</c:v>
                </c:pt>
                <c:pt idx="2">
                  <c:v>6.1</c:v>
                </c:pt>
                <c:pt idx="3">
                  <c:v>6.47</c:v>
                </c:pt>
                <c:pt idx="4">
                  <c:v>6.63</c:v>
                </c:pt>
                <c:pt idx="5">
                  <c:v>7.07</c:v>
                </c:pt>
              </c:numCache>
            </c:numRef>
          </c:val>
          <c:smooth val="0"/>
          <c:extLst>
            <c:ext xmlns:c16="http://schemas.microsoft.com/office/drawing/2014/chart" uri="{C3380CC4-5D6E-409C-BE32-E72D297353CC}">
              <c16:uniqueId val="{00000000-8982-8445-A8DB-A0064F7C6957}"/>
            </c:ext>
          </c:extLst>
        </c:ser>
        <c:ser>
          <c:idx val="1"/>
          <c:order val="1"/>
          <c:tx>
            <c:strRef>
              <c:f>Sheet1!$C$1</c:f>
              <c:strCache>
                <c:ptCount val="1"/>
                <c:pt idx="0">
                  <c:v>Popular Movies (1,000+ votes)</c:v>
                </c:pt>
              </c:strCache>
            </c:strRef>
          </c:tx>
          <c:spPr>
            <a:ln w="25400" cap="flat">
              <a:solidFill>
                <a:srgbClr val="1A56A0"/>
              </a:solidFill>
              <a:prstDash val="solid"/>
              <a:round/>
            </a:ln>
            <a:effectLst/>
          </c:spPr>
          <c:marker>
            <c:symbol val="circle"/>
            <c:size val="6"/>
            <c:spPr>
              <a:solidFill>
                <a:srgbClr val="1A56A0"/>
              </a:solidFill>
              <a:ln w="9525" cap="flat">
                <a:solidFill>
                  <a:srgbClr val="1A56A0"/>
                </a:solidFill>
                <a:prstDash val="solid"/>
                <a:round/>
              </a:ln>
              <a:effectLst/>
            </c:spPr>
          </c:marker>
          <c:dLbls>
            <c:numFmt formatCode="#,##0" sourceLinked="0"/>
            <c:spPr>
              <a:noFill/>
              <a:ln>
                <a:noFill/>
              </a:ln>
              <a:effectLst/>
            </c:spPr>
            <c:txPr>
              <a:bodyPr/>
              <a:lstStyle/>
              <a:p>
                <a:pPr>
                  <a:defRPr sz="900" b="0" i="0" u="none" strike="noStrike">
                    <a:solidFill>
                      <a:srgbClr val="4A608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&lt;60</c:v>
                </c:pt>
                <c:pt idx="1">
                  <c:v>60-90</c:v>
                </c:pt>
                <c:pt idx="2">
                  <c:v>90-120</c:v>
                </c:pt>
                <c:pt idx="3">
                  <c:v>120-150</c:v>
                </c:pt>
                <c:pt idx="4">
                  <c:v>150-180</c:v>
                </c:pt>
                <c:pt idx="5">
                  <c:v>&gt;180</c:v>
                </c:pt>
              </c:strCache>
            </c:strRef>
          </c:cat>
          <c:val>
            <c:numRef>
              <c:f>Sheet1!$C$2:$C$7</c:f>
              <c:numCache>
                <c:formatCode>General</c:formatCode>
                <c:ptCount val="6"/>
                <c:pt idx="0">
                  <c:v>6.5</c:v>
                </c:pt>
                <c:pt idx="1">
                  <c:v>5.75</c:v>
                </c:pt>
                <c:pt idx="2">
                  <c:v>6.21</c:v>
                </c:pt>
                <c:pt idx="3">
                  <c:v>6.69</c:v>
                </c:pt>
                <c:pt idx="4">
                  <c:v>6.75</c:v>
                </c:pt>
                <c:pt idx="5">
                  <c:v>7.26</c:v>
                </c:pt>
              </c:numCache>
            </c:numRef>
          </c:val>
          <c:smooth val="0"/>
          <c:extLst>
            <c:ext xmlns:c16="http://schemas.microsoft.com/office/drawing/2014/chart" uri="{C3380CC4-5D6E-409C-BE32-E72D297353CC}">
              <c16:uniqueId val="{00000001-8982-8445-A8DB-A0064F7C6957}"/>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4A6080"/>
                    </a:solidFill>
                    <a:latin typeface="Arial"/>
                  </a:defRPr>
                </a:pPr>
                <a:r>
                  <a:rPr lang="en-AU" sz="1100" b="0" i="0" u="none" strike="noStrike">
                    <a:solidFill>
                      <a:srgbClr val="4A6080"/>
                    </a:solidFill>
                    <a:latin typeface="Arial"/>
                  </a:rPr>
                  <a:t>Runtime Group (minutes)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6080"/>
                </a:solidFill>
                <a:latin typeface="Arial"/>
              </a:defRPr>
            </a:pPr>
            <a:endParaRPr lang="en-US"/>
          </a:p>
        </c:txPr>
        <c:crossAx val="2094734552"/>
        <c:crosses val="autoZero"/>
        <c:auto val="1"/>
        <c:lblAlgn val="ctr"/>
        <c:lblOffset val="100"/>
        <c:noMultiLvlLbl val="1"/>
      </c:catAx>
      <c:valAx>
        <c:axId val="2094734552"/>
        <c:scaling>
          <c:orientation val="minMax"/>
          <c:max val="7.5"/>
          <c:min val="5.5"/>
        </c:scaling>
        <c:delete val="0"/>
        <c:axPos val="l"/>
        <c:majorGridlines>
          <c:spPr>
            <a:ln w="6350" cap="flat">
              <a:solidFill>
                <a:srgbClr val="E2E8F0"/>
              </a:solidFill>
              <a:prstDash val="solid"/>
              <a:round/>
            </a:ln>
          </c:spPr>
        </c:majorGridlines>
        <c:title>
          <c:tx>
            <c:rich>
              <a:bodyPr/>
              <a:lstStyle/>
              <a:p>
                <a:pPr>
                  <a:defRPr sz="1100" b="0" i="0" u="none" strike="noStrike">
                    <a:solidFill>
                      <a:srgbClr val="4A6080"/>
                    </a:solidFill>
                    <a:latin typeface="Arial"/>
                  </a:defRPr>
                </a:pPr>
                <a:r>
                  <a:rPr lang="en-AU" sz="1100" b="0" i="0" u="none" strike="noStrike">
                    <a:solidFill>
                      <a:srgbClr val="4A6080"/>
                    </a:solidFill>
                    <a:latin typeface="Arial"/>
                  </a:rPr>
                  <a:t>Average Rating (out of 10)</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60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autoTitleDeleted val="1"/>
    <c:plotArea>
      <c:layout/>
      <c:lineChart>
        <c:grouping val="standard"/>
        <c:varyColors val="0"/>
        <c:ser>
          <c:idx val="0"/>
          <c:order val="0"/>
          <c:tx>
            <c:strRef>
              <c:f>Sheet1!$B$1</c:f>
              <c:strCache>
                <c:ptCount val="1"/>
                <c:pt idx="0">
                  <c:v>Horror</c:v>
                </c:pt>
              </c:strCache>
            </c:strRef>
          </c:tx>
          <c:spPr>
            <a:ln w="38100" cap="flat">
              <a:solidFill>
                <a:srgbClr val="E74C3C"/>
              </a:solidFill>
              <a:prstDash val="solid"/>
              <a:round/>
            </a:ln>
            <a:effectLst/>
          </c:spPr>
          <c:marker>
            <c:symbol val="circle"/>
            <c:size val="6"/>
            <c:spPr>
              <a:solidFill>
                <a:srgbClr val="E74C3C"/>
              </a:solidFill>
              <a:ln w="9525" cap="flat">
                <a:solidFill>
                  <a:srgbClr val="E74C3C"/>
                </a:solidFill>
                <a:prstDash val="solid"/>
                <a:round/>
              </a:ln>
              <a:effectLst/>
            </c:spPr>
          </c:marker>
          <c:dLbls>
            <c:numFmt formatCode="#,##0.0" sourceLinked="0"/>
            <c:spPr>
              <a:noFill/>
              <a:ln>
                <a:noFill/>
              </a:ln>
              <a:effectLst/>
            </c:spPr>
            <c:txPr>
              <a:bodyPr/>
              <a:lstStyle/>
              <a:p>
                <a:pPr>
                  <a:defRPr sz="900" b="0" i="0" u="none" strike="noStrike">
                    <a:solidFill>
                      <a:srgbClr val="8FA3BF"/>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&lt;60</c:v>
                </c:pt>
                <c:pt idx="1">
                  <c:v>60-90</c:v>
                </c:pt>
                <c:pt idx="2">
                  <c:v>90-120</c:v>
                </c:pt>
                <c:pt idx="3">
                  <c:v>120-150</c:v>
                </c:pt>
                <c:pt idx="4">
                  <c:v>150-180</c:v>
                </c:pt>
                <c:pt idx="5">
                  <c:v>&gt;180</c:v>
                </c:pt>
              </c:strCache>
            </c:strRef>
          </c:cat>
          <c:val>
            <c:numRef>
              <c:f>Sheet1!$B$2:$B$7</c:f>
              <c:numCache>
                <c:formatCode>General</c:formatCode>
                <c:ptCount val="6"/>
                <c:pt idx="0">
                  <c:v>5.3</c:v>
                </c:pt>
                <c:pt idx="1">
                  <c:v>4.68</c:v>
                </c:pt>
                <c:pt idx="2">
                  <c:v>5.13</c:v>
                </c:pt>
                <c:pt idx="3">
                  <c:v>5.72</c:v>
                </c:pt>
                <c:pt idx="4">
                  <c:v>6.07</c:v>
                </c:pt>
                <c:pt idx="5">
                  <c:v>6.53</c:v>
                </c:pt>
              </c:numCache>
            </c:numRef>
          </c:val>
          <c:smooth val="0"/>
          <c:extLst>
            <c:ext xmlns:c16="http://schemas.microsoft.com/office/drawing/2014/chart" uri="{C3380CC4-5D6E-409C-BE32-E72D297353CC}">
              <c16:uniqueId val="{00000000-AC86-2447-B2C1-D177DA550995}"/>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8FA3BF"/>
                    </a:solidFill>
                    <a:latin typeface="Arial"/>
                  </a:defRPr>
                </a:pPr>
                <a:r>
                  <a:rPr lang="en-AU" sz="1000" b="0" i="0" u="none" strike="noStrike">
                    <a:solidFill>
                      <a:srgbClr val="8FA3BF"/>
                    </a:solidFill>
                    <a:latin typeface="Arial"/>
                  </a:rPr>
                  <a:t>Runtime Group (minutes)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3BF"/>
                </a:solidFill>
                <a:latin typeface="Arial"/>
              </a:defRPr>
            </a:pPr>
            <a:endParaRPr lang="en-US"/>
          </a:p>
        </c:txPr>
        <c:crossAx val="2094734552"/>
        <c:crosses val="autoZero"/>
        <c:auto val="1"/>
        <c:lblAlgn val="ctr"/>
        <c:lblOffset val="100"/>
        <c:noMultiLvlLbl val="1"/>
      </c:catAx>
      <c:valAx>
        <c:axId val="2094734552"/>
        <c:scaling>
          <c:orientation val="minMax"/>
          <c:max val="7"/>
          <c:min val="4.5"/>
        </c:scaling>
        <c:delete val="0"/>
        <c:axPos val="l"/>
        <c:majorGridlines>
          <c:spPr>
            <a:ln w="6350" cap="flat">
              <a:solidFill>
                <a:srgbClr val="2A4060"/>
              </a:solidFill>
              <a:prstDash val="solid"/>
              <a:round/>
            </a:ln>
          </c:spPr>
        </c:majorGridlines>
        <c:title>
          <c:tx>
            <c:rich>
              <a:bodyPr/>
              <a:lstStyle/>
              <a:p>
                <a:pPr>
                  <a:defRPr sz="1000" b="0" i="0" u="none" strike="noStrike">
                    <a:solidFill>
                      <a:srgbClr val="8FA3BF"/>
                    </a:solidFill>
                    <a:latin typeface="Arial"/>
                  </a:defRPr>
                </a:pPr>
                <a:r>
                  <a:rPr lang="en-AU" sz="1000" b="0" i="0" u="none" strike="noStrike">
                    <a:solidFill>
                      <a:srgbClr val="8FA3BF"/>
                    </a:solidFill>
                    <a:latin typeface="Arial"/>
                  </a:rPr>
                  <a:t>Avg Rating (out of 10)</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3B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62033"/>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autoTitleDeleted val="1"/>
    <c:plotArea>
      <c:layout/>
      <c:lineChart>
        <c:grouping val="standard"/>
        <c:varyColors val="0"/>
        <c:ser>
          <c:idx val="0"/>
          <c:order val="0"/>
          <c:tx>
            <c:strRef>
              <c:f>Sheet1!$B$1</c:f>
              <c:strCache>
                <c:ptCount val="1"/>
                <c:pt idx="0">
                  <c:v>Comedy</c:v>
                </c:pt>
              </c:strCache>
            </c:strRef>
          </c:tx>
          <c:spPr>
            <a:ln w="38100" cap="flat">
              <a:solidFill>
                <a:srgbClr val="E8A020"/>
              </a:solidFill>
              <a:prstDash val="solid"/>
              <a:round/>
            </a:ln>
            <a:effectLst/>
          </c:spPr>
          <c:marker>
            <c:symbol val="circle"/>
            <c:size val="6"/>
            <c:spPr>
              <a:solidFill>
                <a:srgbClr val="E8A020"/>
              </a:solidFill>
              <a:ln w="9525" cap="flat">
                <a:solidFill>
                  <a:srgbClr val="E8A020"/>
                </a:solidFill>
                <a:prstDash val="solid"/>
                <a:round/>
              </a:ln>
              <a:effectLst/>
            </c:spPr>
          </c:marker>
          <c:dLbls>
            <c:numFmt formatCode="#,##0.0" sourceLinked="0"/>
            <c:spPr>
              <a:noFill/>
              <a:ln>
                <a:noFill/>
              </a:ln>
              <a:effectLst/>
            </c:spPr>
            <c:txPr>
              <a:bodyPr/>
              <a:lstStyle/>
              <a:p>
                <a:pPr>
                  <a:defRPr sz="900" b="0" i="0" u="none" strike="noStrike">
                    <a:solidFill>
                      <a:srgbClr val="8FA3BF"/>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&lt;60</c:v>
                </c:pt>
                <c:pt idx="1">
                  <c:v>60-90</c:v>
                </c:pt>
                <c:pt idx="2">
                  <c:v>90-120</c:v>
                </c:pt>
                <c:pt idx="3">
                  <c:v>120-150</c:v>
                </c:pt>
                <c:pt idx="4">
                  <c:v>150-180</c:v>
                </c:pt>
                <c:pt idx="5">
                  <c:v>&gt;180</c:v>
                </c:pt>
              </c:strCache>
            </c:strRef>
          </c:cat>
          <c:val>
            <c:numRef>
              <c:f>Sheet1!$B$2:$B$7</c:f>
              <c:numCache>
                <c:formatCode>General</c:formatCode>
                <c:ptCount val="6"/>
                <c:pt idx="0">
                  <c:v>6.35</c:v>
                </c:pt>
                <c:pt idx="1">
                  <c:v>5.68</c:v>
                </c:pt>
                <c:pt idx="2">
                  <c:v>5.9</c:v>
                </c:pt>
                <c:pt idx="3">
                  <c:v>6.25</c:v>
                </c:pt>
                <c:pt idx="4">
                  <c:v>6.4</c:v>
                </c:pt>
                <c:pt idx="5">
                  <c:v>6.87</c:v>
                </c:pt>
              </c:numCache>
            </c:numRef>
          </c:val>
          <c:smooth val="0"/>
          <c:extLst>
            <c:ext xmlns:c16="http://schemas.microsoft.com/office/drawing/2014/chart" uri="{C3380CC4-5D6E-409C-BE32-E72D297353CC}">
              <c16:uniqueId val="{00000000-96A9-AC48-9E35-035014F16B6A}"/>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8FA3BF"/>
                    </a:solidFill>
                    <a:latin typeface="Arial"/>
                  </a:defRPr>
                </a:pPr>
                <a:r>
                  <a:rPr lang="en-AU" sz="1000" b="0" i="0" u="none" strike="noStrike">
                    <a:solidFill>
                      <a:srgbClr val="8FA3BF"/>
                    </a:solidFill>
                    <a:latin typeface="Arial"/>
                  </a:rPr>
                  <a:t>Runtime Group (minutes)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3BF"/>
                </a:solidFill>
                <a:latin typeface="Arial"/>
              </a:defRPr>
            </a:pPr>
            <a:endParaRPr lang="en-US"/>
          </a:p>
        </c:txPr>
        <c:crossAx val="2094734552"/>
        <c:crosses val="autoZero"/>
        <c:auto val="1"/>
        <c:lblAlgn val="ctr"/>
        <c:lblOffset val="100"/>
        <c:noMultiLvlLbl val="1"/>
      </c:catAx>
      <c:valAx>
        <c:axId val="2094734552"/>
        <c:scaling>
          <c:orientation val="minMax"/>
          <c:max val="7"/>
          <c:min val="4.5"/>
        </c:scaling>
        <c:delete val="0"/>
        <c:axPos val="l"/>
        <c:majorGridlines>
          <c:spPr>
            <a:ln w="6350" cap="flat">
              <a:solidFill>
                <a:srgbClr val="2A4060"/>
              </a:solidFill>
              <a:prstDash val="solid"/>
              <a:round/>
            </a:ln>
          </c:spPr>
        </c:majorGridlines>
        <c:title>
          <c:tx>
            <c:rich>
              <a:bodyPr/>
              <a:lstStyle/>
              <a:p>
                <a:pPr>
                  <a:defRPr sz="1000" b="0" i="0" u="none" strike="noStrike">
                    <a:solidFill>
                      <a:srgbClr val="8FA3BF"/>
                    </a:solidFill>
                    <a:latin typeface="Arial"/>
                  </a:defRPr>
                </a:pPr>
                <a:r>
                  <a:rPr lang="en-AU" sz="1000" b="0" i="0" u="none" strike="noStrike">
                    <a:solidFill>
                      <a:srgbClr val="8FA3BF"/>
                    </a:solidFill>
                    <a:latin typeface="Arial"/>
                  </a:rPr>
                  <a:t>Avg Rating (out of 10)</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3B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62033"/>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autoTitleDeleted val="1"/>
    <c:plotArea>
      <c:layout/>
      <c:lineChart>
        <c:grouping val="standard"/>
        <c:varyColors val="0"/>
        <c:ser>
          <c:idx val="0"/>
          <c:order val="0"/>
          <c:tx>
            <c:strRef>
              <c:f>Sheet1!$B$1</c:f>
              <c:strCache>
                <c:ptCount val="1"/>
                <c:pt idx="0">
                  <c:v>IQR Upper (75th pct)</c:v>
                </c:pt>
              </c:strCache>
            </c:strRef>
          </c:tx>
          <c:spPr>
            <a:ln w="25400" cap="flat">
              <a:solidFill>
                <a:srgbClr val="B8D4EA"/>
              </a:solidFill>
              <a:prstDash val="solid"/>
              <a:round/>
            </a:ln>
            <a:effectLst/>
          </c:spPr>
          <c:marker>
            <c:symbol val="circle"/>
            <c:size val="6"/>
            <c:spPr>
              <a:solidFill>
                <a:srgbClr val="B8D4EA"/>
              </a:solidFill>
              <a:ln w="9525" cap="flat">
                <a:solidFill>
                  <a:srgbClr val="B8D4EA"/>
                </a:solidFill>
                <a:prstDash val="solid"/>
                <a:round/>
              </a:ln>
              <a:effectLst/>
            </c:spPr>
          </c:marker>
          <c:cat>
            <c:strRef>
              <c:f>Sheet1!$A$2:$A$9</c:f>
              <c:strCache>
                <c:ptCount val="8"/>
                <c:pt idx="0">
                  <c:v>1950</c:v>
                </c:pt>
                <c:pt idx="1">
                  <c:v>1960</c:v>
                </c:pt>
                <c:pt idx="2">
                  <c:v>1970</c:v>
                </c:pt>
                <c:pt idx="3">
                  <c:v>1980</c:v>
                </c:pt>
                <c:pt idx="4">
                  <c:v>1990</c:v>
                </c:pt>
                <c:pt idx="5">
                  <c:v>2000</c:v>
                </c:pt>
                <c:pt idx="6">
                  <c:v>2010</c:v>
                </c:pt>
                <c:pt idx="7">
                  <c:v>2020</c:v>
                </c:pt>
              </c:strCache>
            </c:strRef>
          </c:cat>
          <c:val>
            <c:numRef>
              <c:f>Sheet1!$B$2:$B$9</c:f>
              <c:numCache>
                <c:formatCode>General</c:formatCode>
                <c:ptCount val="8"/>
                <c:pt idx="0">
                  <c:v>100</c:v>
                </c:pt>
                <c:pt idx="1">
                  <c:v>100</c:v>
                </c:pt>
                <c:pt idx="2">
                  <c:v>104</c:v>
                </c:pt>
                <c:pt idx="3">
                  <c:v>105</c:v>
                </c:pt>
                <c:pt idx="4">
                  <c:v>107</c:v>
                </c:pt>
                <c:pt idx="5">
                  <c:v>105</c:v>
                </c:pt>
                <c:pt idx="6">
                  <c:v>105</c:v>
                </c:pt>
                <c:pt idx="7">
                  <c:v>109</c:v>
                </c:pt>
              </c:numCache>
            </c:numRef>
          </c:val>
          <c:smooth val="1"/>
          <c:extLst>
            <c:ext xmlns:c16="http://schemas.microsoft.com/office/drawing/2014/chart" uri="{C3380CC4-5D6E-409C-BE32-E72D297353CC}">
              <c16:uniqueId val="{00000000-121E-844A-9831-27D6CFDC9028}"/>
            </c:ext>
          </c:extLst>
        </c:ser>
        <c:ser>
          <c:idx val="1"/>
          <c:order val="1"/>
          <c:tx>
            <c:strRef>
              <c:f>Sheet1!$C$1</c:f>
              <c:strCache>
                <c:ptCount val="1"/>
                <c:pt idx="0">
                  <c:v>Median Runtime</c:v>
                </c:pt>
              </c:strCache>
            </c:strRef>
          </c:tx>
          <c:spPr>
            <a:ln w="25400" cap="flat">
              <a:solidFill>
                <a:srgbClr val="E8A020"/>
              </a:solidFill>
              <a:prstDash val="solid"/>
              <a:round/>
            </a:ln>
            <a:effectLst/>
          </c:spPr>
          <c:marker>
            <c:symbol val="circle"/>
            <c:size val="6"/>
            <c:spPr>
              <a:solidFill>
                <a:srgbClr val="E8A020"/>
              </a:solidFill>
              <a:ln w="9525" cap="flat">
                <a:solidFill>
                  <a:srgbClr val="E8A020"/>
                </a:solidFill>
                <a:prstDash val="solid"/>
                <a:round/>
              </a:ln>
              <a:effectLst/>
            </c:spPr>
          </c:marker>
          <c:dLbls>
            <c:numFmt formatCode="#,##0" sourceLinked="0"/>
            <c:spPr>
              <a:ln>
                <a:noFill/>
              </a:ln>
              <a:effectLst/>
            </c:spPr>
            <c:txPr>
              <a:bodyPr wrap="square" lIns="38100" tIns="19050" rIns="38100" bIns="19050" anchor="ctr">
                <a:spAutoFit/>
              </a:bodyPr>
              <a:lstStyle/>
              <a:p>
                <a:pPr>
                  <a:defRPr sz="1200" b="0" i="0" u="none" strike="noStrike">
                    <a:solidFill>
                      <a:schemeClr val="accent4"/>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1950</c:v>
                </c:pt>
                <c:pt idx="1">
                  <c:v>1960</c:v>
                </c:pt>
                <c:pt idx="2">
                  <c:v>1970</c:v>
                </c:pt>
                <c:pt idx="3">
                  <c:v>1980</c:v>
                </c:pt>
                <c:pt idx="4">
                  <c:v>1990</c:v>
                </c:pt>
                <c:pt idx="5">
                  <c:v>2000</c:v>
                </c:pt>
                <c:pt idx="6">
                  <c:v>2010</c:v>
                </c:pt>
                <c:pt idx="7">
                  <c:v>2020</c:v>
                </c:pt>
              </c:strCache>
            </c:strRef>
          </c:cat>
          <c:val>
            <c:numRef>
              <c:f>Sheet1!$C$2:$C$9</c:f>
              <c:numCache>
                <c:formatCode>General</c:formatCode>
                <c:ptCount val="8"/>
                <c:pt idx="0">
                  <c:v>90</c:v>
                </c:pt>
                <c:pt idx="1">
                  <c:v>92</c:v>
                </c:pt>
                <c:pt idx="2">
                  <c:v>92</c:v>
                </c:pt>
                <c:pt idx="3">
                  <c:v>93</c:v>
                </c:pt>
                <c:pt idx="4">
                  <c:v>95</c:v>
                </c:pt>
                <c:pt idx="5">
                  <c:v>93</c:v>
                </c:pt>
                <c:pt idx="6">
                  <c:v>92</c:v>
                </c:pt>
                <c:pt idx="7">
                  <c:v>95</c:v>
                </c:pt>
              </c:numCache>
            </c:numRef>
          </c:val>
          <c:smooth val="1"/>
          <c:extLst>
            <c:ext xmlns:c16="http://schemas.microsoft.com/office/drawing/2014/chart" uri="{C3380CC4-5D6E-409C-BE32-E72D297353CC}">
              <c16:uniqueId val="{00000001-121E-844A-9831-27D6CFDC9028}"/>
            </c:ext>
          </c:extLst>
        </c:ser>
        <c:ser>
          <c:idx val="2"/>
          <c:order val="2"/>
          <c:tx>
            <c:strRef>
              <c:f>Sheet1!$D$1</c:f>
              <c:strCache>
                <c:ptCount val="1"/>
                <c:pt idx="0">
                  <c:v>IQR Lower (25th pct)</c:v>
                </c:pt>
              </c:strCache>
            </c:strRef>
          </c:tx>
          <c:spPr>
            <a:ln w="25400" cap="flat">
              <a:solidFill>
                <a:srgbClr val="B8D4EA"/>
              </a:solidFill>
              <a:prstDash val="solid"/>
              <a:round/>
            </a:ln>
            <a:effectLst/>
          </c:spPr>
          <c:marker>
            <c:symbol val="circle"/>
            <c:size val="6"/>
            <c:spPr>
              <a:solidFill>
                <a:srgbClr val="B8D4EA"/>
              </a:solidFill>
              <a:ln w="9525" cap="flat">
                <a:solidFill>
                  <a:srgbClr val="B8D4EA"/>
                </a:solidFill>
                <a:prstDash val="solid"/>
                <a:round/>
              </a:ln>
              <a:effectLst/>
            </c:spPr>
          </c:marker>
          <c:cat>
            <c:strRef>
              <c:f>Sheet1!$A$2:$A$9</c:f>
              <c:strCache>
                <c:ptCount val="8"/>
                <c:pt idx="0">
                  <c:v>1950</c:v>
                </c:pt>
                <c:pt idx="1">
                  <c:v>1960</c:v>
                </c:pt>
                <c:pt idx="2">
                  <c:v>1970</c:v>
                </c:pt>
                <c:pt idx="3">
                  <c:v>1980</c:v>
                </c:pt>
                <c:pt idx="4">
                  <c:v>1990</c:v>
                </c:pt>
                <c:pt idx="5">
                  <c:v>2000</c:v>
                </c:pt>
                <c:pt idx="6">
                  <c:v>2010</c:v>
                </c:pt>
                <c:pt idx="7">
                  <c:v>2020</c:v>
                </c:pt>
              </c:strCache>
            </c:strRef>
          </c:cat>
          <c:val>
            <c:numRef>
              <c:f>Sheet1!$D$2:$D$9</c:f>
              <c:numCache>
                <c:formatCode>General</c:formatCode>
                <c:ptCount val="8"/>
                <c:pt idx="0">
                  <c:v>83</c:v>
                </c:pt>
                <c:pt idx="1">
                  <c:v>85</c:v>
                </c:pt>
                <c:pt idx="2">
                  <c:v>85</c:v>
                </c:pt>
                <c:pt idx="3">
                  <c:v>87</c:v>
                </c:pt>
                <c:pt idx="4">
                  <c:v>88</c:v>
                </c:pt>
                <c:pt idx="5">
                  <c:v>84</c:v>
                </c:pt>
                <c:pt idx="6">
                  <c:v>83</c:v>
                </c:pt>
                <c:pt idx="7">
                  <c:v>86</c:v>
                </c:pt>
              </c:numCache>
            </c:numRef>
          </c:val>
          <c:smooth val="1"/>
          <c:extLst>
            <c:ext xmlns:c16="http://schemas.microsoft.com/office/drawing/2014/chart" uri="{C3380CC4-5D6E-409C-BE32-E72D297353CC}">
              <c16:uniqueId val="{00000002-121E-844A-9831-27D6CFDC902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8FA3BF"/>
                    </a:solidFill>
                    <a:latin typeface="Arial"/>
                  </a:defRPr>
                </a:pPr>
                <a:r>
                  <a:rPr lang="en-AU" sz="1100" b="0" i="0" u="none" strike="noStrike">
                    <a:solidFill>
                      <a:srgbClr val="8FA3BF"/>
                    </a:solidFill>
                    <a:latin typeface="Arial"/>
                  </a:rPr>
                  <a:t>Decade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3BF"/>
                </a:solidFill>
                <a:latin typeface="Arial"/>
              </a:defRPr>
            </a:pPr>
            <a:endParaRPr lang="en-US"/>
          </a:p>
        </c:txPr>
        <c:crossAx val="2094734552"/>
        <c:crosses val="autoZero"/>
        <c:auto val="1"/>
        <c:lblAlgn val="ctr"/>
        <c:lblOffset val="100"/>
        <c:noMultiLvlLbl val="1"/>
      </c:catAx>
      <c:valAx>
        <c:axId val="2094734552"/>
        <c:scaling>
          <c:orientation val="minMax"/>
          <c:max val="115"/>
          <c:min val="75"/>
        </c:scaling>
        <c:delete val="0"/>
        <c:axPos val="l"/>
        <c:majorGridlines>
          <c:spPr>
            <a:ln w="6350" cap="flat">
              <a:solidFill>
                <a:srgbClr val="2A4060"/>
              </a:solidFill>
              <a:prstDash val="solid"/>
              <a:round/>
            </a:ln>
          </c:spPr>
        </c:majorGridlines>
        <c:title>
          <c:tx>
            <c:rich>
              <a:bodyPr/>
              <a:lstStyle/>
              <a:p>
                <a:pPr>
                  <a:defRPr sz="1100" b="0" i="0" u="none" strike="noStrike">
                    <a:solidFill>
                      <a:srgbClr val="8FA3BF"/>
                    </a:solidFill>
                    <a:latin typeface="Arial"/>
                  </a:defRPr>
                </a:pPr>
                <a:r>
                  <a:rPr lang="en-AU" sz="1100" b="0" i="0" u="none" strike="noStrike">
                    <a:solidFill>
                      <a:srgbClr val="8FA3BF"/>
                    </a:solidFill>
                    <a:latin typeface="Arial"/>
                  </a:rPr>
                  <a:t>Runtime (minutes)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3B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162033"/>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60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(~30 sec)
★ Open with the question and let it sit — don't rush to answer it.
</a:t>
            </a:r>
            <a:r>
              <a:rPr lang="en-AU" dirty="0"/>
              <a:t>"So here's a question I want you to think about before I get started. Does it actually matter how long a movie is? Like, should a filmmaker just cut to 90 minutes and call it a day? Or does sitting in a cinema for three hours actually change how you feel when the credits roll? I</a:t>
            </a:r>
          </a:p>
          <a:p>
            <a:endParaRPr lang="en-AU" dirty="0"/>
          </a:p>
          <a:p>
            <a:r>
              <a:rPr lang="en-AU" dirty="0"/>
              <a:t>t sounds like a simple question, but when you start digging into the data, it gets a lot more interesting. I pulled over 740,000 movies from IMDb to find out and this is what the data said."</a:t>
            </a:r>
          </a:p>
          <a:p>
            <a:br>
              <a:rPr lang="en-AU" dirty="0"/>
            </a:br>
            <a:endParaRPr lang="en-AU"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Agenda (~30 sec)
★ Keep this light — it's a signpost, not a summary.
</a:t>
            </a:r>
            <a:r>
              <a:rPr lang="en-AU" dirty="0"/>
              <a:t>Quick roadmap before I dive in. I'll start with how the data was cleaned up, because raw IMDb data is a mess and the decisions I made there actually matter for how you interpret everything else. From there I'll look at how runtime relates to audience ratings, whether longer films attract more viewers, how that picture changes across different genres, and whether any of this has shifted over time. I'll finish with the key takeaways, the things that are actually actionable if you're making decisions about a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SLIDE 3 – Dataset Overview (~1.5 min)
★ The cleaning story builds credibility — own it confidently.
</a:t>
            </a:r>
            <a:r>
              <a:rPr lang="en-AU" sz="1400" dirty="0"/>
              <a:t>"I started with over 740,000 entries. That sounds like a lot, but the raw data is full of problems. Missing runtimes, missing genres, TV shows and short films mixed in with movies, and some genuinely bizarre entries. There was one film in there listed as 51,420 minutes long, which is about 35 days, so clearly not applicable to this analysis. </a:t>
            </a:r>
          </a:p>
          <a:p>
            <a:endParaRPr lang="en-AU" sz="1400" dirty="0"/>
          </a:p>
          <a:p>
            <a:r>
              <a:rPr lang="en-AU" sz="1400" dirty="0"/>
              <a:t>Before any analysis could happen I needed to make a series of deliberate cleaning decisions. I filtered down to movies only, removed entries with missing values in the key variables, and focused on films released from 1950 onwards, the modern cinema era, where production norms and data coverage are much more consistent. I also ran the analysis twice, once on the full dataset and once filtering to films with over 1,000 votes, to confirm the findings weren't being skewed by obscure films with unreliable ratings. The pattern held both ways, which gives the conclusions a lot more credibility. After all of that I landed on 433,115 films. Still a huge dataset, but now one I could actually trust."</a:t>
            </a:r>
            <a:endParaRPr lang="en-US" sz="1400"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Runtime vs Rating (~2 min)
★ This is the headline — slow down and let the chart do the talking first.
</a:t>
            </a:r>
            <a:r>
              <a:rPr lang="en-AU" dirty="0"/>
              <a:t>"Alright, here's the main insight. </a:t>
            </a:r>
          </a:p>
          <a:p>
            <a:endParaRPr lang="en-AU" dirty="0"/>
          </a:p>
          <a:p>
            <a:r>
              <a:rPr lang="en-AU" dirty="0"/>
              <a:t>When I grouped films into runtime buckets and looked at how they were rated on average, a clear pattern came through. Longer films rate higher, consistently across the board. </a:t>
            </a:r>
          </a:p>
          <a:p>
            <a:endParaRPr lang="en-AU" dirty="0"/>
          </a:p>
          <a:p>
            <a:r>
              <a:rPr lang="en-AU" dirty="0"/>
              <a:t>But the more interesting part isn't the top of the chart, it's the bottom. Look at that 60 to 90 minute bracket. That's the worst-performing group. They’re not the shortest ones, not a middle category, but that specific window. Films in that range often feel rushed. The story hasn't had room to develop and audiences feel that, even if they can't put their finger on why. </a:t>
            </a:r>
          </a:p>
          <a:p>
            <a:endParaRPr lang="en-AU" dirty="0"/>
          </a:p>
          <a:p>
            <a:r>
              <a:rPr lang="en-AU" dirty="0"/>
              <a:t>Now, and this is important, the differences here are real but moderate. Runtime is one ingredient, not the whole recipe. But as a directional signal it's consistent enough to take seriously."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Popularity Analysis (~1.5 min)
★ Pause after the big stat — let it land before moving on.
</a:t>
            </a:r>
            <a:r>
              <a:rPr lang="en-AU" dirty="0"/>
              <a:t>"So longer films rate higher, but ratings alone don't tell the full story. The other question is whether people actually watch them. This chart shows the average number of votes per runtime group and the answer is yes, dramatically so. </a:t>
            </a:r>
          </a:p>
          <a:p>
            <a:endParaRPr lang="en-AU" dirty="0"/>
          </a:p>
          <a:p>
            <a:r>
              <a:rPr lang="en-AU" dirty="0"/>
              <a:t>Films over 180 minutes receive on average around 21,300 votes while films in the 60 to 90 minutes group receive about 1,100. That's not a marginal difference, that's a completely different level of audience engagement. More people are watching them, more people care enough to log a rating, and as a result the scores themselves are more statistically reliable. </a:t>
            </a:r>
          </a:p>
          <a:p>
            <a:endParaRPr lang="en-AU" dirty="0"/>
          </a:p>
          <a:p>
            <a:r>
              <a:rPr lang="en-AU" dirty="0"/>
              <a:t>And crucially, I ran this analysis twice, on the full dataset and with a 1,000 vote minimum filter, and the pattern held both ways. </a:t>
            </a:r>
          </a:p>
          <a:p>
            <a:endParaRPr lang="en-AU" dirty="0"/>
          </a:p>
          <a:p>
            <a:r>
              <a:rPr lang="en-AU" dirty="0"/>
              <a:t>So it's not being driven by obscure films with a few outlier ratings. It's a genuine signal that longer films attract a broader, more engaged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5B - Robustness Check (~1 min)
★ Frame this as validation — you anticipated the challenge and tested for it.
"Before moving on, I want to address something a data analyst would immediately ask. Does this finding actually hold when you filter to films that have genuine audience engagement? It is a fair challenge — a film with 3 ratings could skew the averages. So I reran the same analysis filtering to films with over 1,000 votes, which represents around 17% of the dataset but the films that audiences have actually engaged with meaningfully. The grey line is all movies and the blue line is popular movies only. The shape is almost identical. The dip at 60 to 90 minutes is still there, the climb toward longer runtimes is still there, and the gap between the best and worst performing groups actually widens slightly from around 1.1 to 1.5 rating points. The finding doesn't weaken under scrutiny, it strengthens."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Genre Table (~1 min)
★ Don't read every row — set up the table then move to the next slide for the visual proof.
</a:t>
            </a:r>
            <a:r>
              <a:rPr lang="en-AU" dirty="0"/>
              <a:t>"Here's where it gets actionable. Longer is better is a useful headline but it's not a production decision, this table is. You can see that almost every genre flags the 60 to 90 minute range as something to avoid, but the optimal target varies significantly depending on what you're making. </a:t>
            </a:r>
          </a:p>
          <a:p>
            <a:endParaRPr lang="en-AU" dirty="0"/>
          </a:p>
          <a:p>
            <a:r>
              <a:rPr lang="en-AU" dirty="0"/>
              <a:t>Drama rewards length far more than Comedy does and Horror is the most penalised for short runtimes of any genre. The next slide shows exactly what that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Horror vs Comedy Spotlight (~2 min)
★ This is the most visual slide — let the contrast between the two lines do the work.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chart puts the two most contrasting genres side by side on the same scale so you can see the difference directly.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On the left is Horror. That steep drop to 60 to 90 minutes, down to a rating of 4.7, is the lowest point in the entire genre dataset. Horror audiences expect atmosphere and build-up and when a film rushes straight to the scares they feel cheated. From there it climbs all the way back to 6.53 at 180 plus minutes, which is a range of almost two full rating points driven entirely by runtime.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On the right is Comedy. There's still a dip at 60 to 90 minutes but look at how much flatter the overall shape is. Whether a comedy runs 70 minutes or 180 minutes barely changes how audiences rate it, because comedy lives or dies on its material. The jokes either land or they don’t. </a:t>
            </a:r>
          </a:p>
          <a:p>
            <a:endParaRPr lang="en-AU" dirty="0"/>
          </a:p>
          <a:p>
            <a:r>
              <a:rPr lang="en-AU" dirty="0"/>
              <a:t>Horror is far more sensitive to runtime than Comedy is, and that's the point. Getting the runtime wrong on a Horror film hurts it much more than getting it wrong on a Comedy. Know your genre, because the stakes are not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Runtime Over Time (~45 sec)
★ Keep this brief — it sets up slide 9. The punchline is on the next slide.
</a:t>
            </a:r>
            <a:r>
              <a:rPr lang="en-AU" dirty="0"/>
              <a:t>"So here's something that might surprise you. The average film has always been around 90 to 95 minutes and that median line barely moves across 70 years of cinema. </a:t>
            </a:r>
          </a:p>
          <a:p>
            <a:endParaRPr lang="en-AU" dirty="0"/>
          </a:p>
          <a:p>
            <a:r>
              <a:rPr lang="en-AU" dirty="0"/>
              <a:t>What has changed is the spread, that IQR band you can see above and below the line. In the 1950s the middle 50% of films clustered in a fairly tight range, but by the 2020s that band has widened noticeably, meaning the industry today produces a wider variety of film lengths than it used to. The typical film though is still the same length it has always been. </a:t>
            </a:r>
          </a:p>
          <a:p>
            <a:endParaRPr lang="en-AU" dirty="0"/>
          </a:p>
          <a:p>
            <a:r>
              <a:rPr lang="en-AU" dirty="0"/>
              <a:t>The more interesting question isn't whether films have gotten longer, it's whether longer films from each era tend to be better received by the people who watch them, and that's exactly what the next slide looks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Optimal Runtime Heatmap (~1 min)
★ Let the visual speak first — point to the darkest and lightest columns before saying anything.
</a:t>
            </a:r>
            <a:r>
              <a:rPr lang="en-AU" dirty="0"/>
              <a:t>"This heatmap shows the average IMDb rating for each runtime group, broken down by the decade the film was released. Darker means higher rated and lighter means lower rated. </a:t>
            </a:r>
          </a:p>
          <a:p>
            <a:endParaRPr lang="en-AU" dirty="0"/>
          </a:p>
          <a:p>
            <a:r>
              <a:rPr lang="en-AU" dirty="0"/>
              <a:t>Now it's worth noting that these ratings reflect whoever rated that film on IMDb, which could be someone watching it last week rather than at the time of release. So what this is really showing is how films from each era are perceived today by the audiences who seek them out.</a:t>
            </a:r>
          </a:p>
          <a:p>
            <a:endParaRPr lang="en-AU" dirty="0"/>
          </a:p>
          <a:p>
            <a:r>
              <a:rPr lang="en-AU" dirty="0"/>
              <a:t> With that in mind, the pattern is still striking. Films over 180 minutes have consistently received the highest ratings across every decade in the dataset, and the 60 to 90 minute group has consistently received the lowest. That ranking hasn't shifted once. Whether that reflects a timeless audience preference or simply that longer, older films attract more dedicated viewers is a fair question, but the consistency of the pattern across 70 years is hard to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5C - Popular Movies Heatmap (~45 sec)
★ Keep this brief — the point has already been made on the previous slide.
"And here's the same heatmap, this time filtered to popular movies only. The picture is very similar to what we saw with the full dataset. The &gt;180 minute column is still consistently the darkest, and 60 to 90 minutes is still consistently the lightest. There are a few interesting differences — the &lt;60 minute group scores unusually high in some earlier decades, which is likely a small sample of highly acclaimed short films skewing that cell. But the core pattern holds. Popular films that run longer are rated higher, and that's true whether you look at the 1950s or the 2020s."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Key Findings (~1 min)
★ Move through this at pace — the audience already knows these, this is the recap.</a:t>
            </a:r>
          </a:p>
          <a:p>
            <a:endParaRPr lang="en-AU" dirty="0"/>
          </a:p>
          <a:p>
            <a:r>
              <a:rPr lang="en-AU" dirty="0"/>
              <a:t>"Pulling it all together, six findings. </a:t>
            </a:r>
          </a:p>
          <a:p>
            <a:endParaRPr lang="en-AU" dirty="0"/>
          </a:p>
          <a:p>
            <a:r>
              <a:rPr lang="en-AU" dirty="0"/>
              <a:t>Longer films rate higher, consistently across every genre and every decade in the dataset.</a:t>
            </a:r>
          </a:p>
          <a:p>
            <a:endParaRPr lang="en-AU" dirty="0"/>
          </a:p>
          <a:p>
            <a:r>
              <a:rPr lang="en-AU" dirty="0"/>
              <a:t> The 60 to 90 minute range is the single worst performing bracket regardless of genre, sitting below even films under 60 minutes. </a:t>
            </a:r>
          </a:p>
          <a:p>
            <a:endParaRPr lang="en-AU" dirty="0"/>
          </a:p>
          <a:p>
            <a:r>
              <a:rPr lang="en-AU" dirty="0"/>
              <a:t>How much runtime matters depends on your genre, with Horror showing nearly two rating points of difference while Comedy barely moves. </a:t>
            </a:r>
          </a:p>
          <a:p>
            <a:endParaRPr lang="en-AU" dirty="0"/>
          </a:p>
          <a:p>
            <a:r>
              <a:rPr lang="en-AU" dirty="0"/>
              <a:t>Longer films also attract dramatically more votes, with 180 plus minute films averaging over 21,000 votes compared to just 100 for films under 60 minutes.</a:t>
            </a:r>
          </a:p>
          <a:p>
            <a:endParaRPr lang="en-AU" dirty="0"/>
          </a:p>
          <a:p>
            <a:r>
              <a:rPr lang="en-AU" dirty="0"/>
              <a:t>Runtime norms have been remarkably stable for 70 years, with the typical film sitting between 90 and 95 minutes in every decade since 1950, though it's worth noting that ratings reflect current IMDb users rather than audiences at the time of release, so the decade level patterns should be interpreted with that in mind. </a:t>
            </a:r>
          </a:p>
          <a:p>
            <a:endParaRPr lang="en-AU" dirty="0"/>
          </a:p>
          <a:p>
            <a:r>
              <a:rPr lang="en-AU" dirty="0"/>
              <a:t>And finally, correlation is not causation. A long runtime doesn't automatically make a film better and the runtime is a symptom of quality, not the cause of it. So if you're thinking about padding out your film to hit a longer bracket, the data is not telling you to do that."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SLIDE 10 – Closing (~30 sec)
★ Slow right down here — the last two sentences should land quietly and confidently.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AU" dirty="0"/>
              <a:t>"So what does all of this actually mean? The data doesn't tell filmmakers to make longer movies. It tells them something more useful, that audiences respond to films that earn their runtime. When every scene is there because it needs to be and the story has been given the space it deserves, people feel that. They rate it higher, they vote on it more, and they remember it. Serve the story. The data will follow."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3" name="Shape 1"/>
          <p:cNvSpPr/>
          <p:nvPr/>
        </p:nvSpPr>
        <p:spPr>
          <a:xfrm>
            <a:off x="7772400"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4" name="Shape 2"/>
          <p:cNvSpPr/>
          <p:nvPr/>
        </p:nvSpPr>
        <p:spPr>
          <a:xfrm>
            <a:off x="7772400"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5" name="Shape 3"/>
          <p:cNvSpPr/>
          <p:nvPr/>
        </p:nvSpPr>
        <p:spPr>
          <a:xfrm>
            <a:off x="8028432"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6" name="Shape 4"/>
          <p:cNvSpPr/>
          <p:nvPr/>
        </p:nvSpPr>
        <p:spPr>
          <a:xfrm>
            <a:off x="8028432"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7" name="Shape 5"/>
          <p:cNvSpPr/>
          <p:nvPr/>
        </p:nvSpPr>
        <p:spPr>
          <a:xfrm>
            <a:off x="8284464"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8" name="Shape 6"/>
          <p:cNvSpPr/>
          <p:nvPr/>
        </p:nvSpPr>
        <p:spPr>
          <a:xfrm>
            <a:off x="8284464"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9" name="Shape 7"/>
          <p:cNvSpPr/>
          <p:nvPr/>
        </p:nvSpPr>
        <p:spPr>
          <a:xfrm>
            <a:off x="8540496"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10" name="Shape 8"/>
          <p:cNvSpPr/>
          <p:nvPr/>
        </p:nvSpPr>
        <p:spPr>
          <a:xfrm>
            <a:off x="8540496"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11" name="Shape 9"/>
          <p:cNvSpPr/>
          <p:nvPr/>
        </p:nvSpPr>
        <p:spPr>
          <a:xfrm>
            <a:off x="8796528"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12" name="Shape 10"/>
          <p:cNvSpPr/>
          <p:nvPr/>
        </p:nvSpPr>
        <p:spPr>
          <a:xfrm>
            <a:off x="8796528"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13" name="Shape 11"/>
          <p:cNvSpPr/>
          <p:nvPr/>
        </p:nvSpPr>
        <p:spPr>
          <a:xfrm>
            <a:off x="9052560"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14" name="Shape 12"/>
          <p:cNvSpPr/>
          <p:nvPr/>
        </p:nvSpPr>
        <p:spPr>
          <a:xfrm>
            <a:off x="9052560"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15" name="Text 13"/>
          <p:cNvSpPr/>
          <p:nvPr/>
        </p:nvSpPr>
        <p:spPr>
          <a:xfrm>
            <a:off x="365760" y="1005840"/>
            <a:ext cx="8229600" cy="365760"/>
          </a:xfrm>
          <a:prstGeom prst="rect">
            <a:avLst/>
          </a:prstGeom>
          <a:noFill/>
          <a:ln/>
        </p:spPr>
        <p:txBody>
          <a:bodyPr wrap="square" rtlCol="0" anchor="ctr"/>
          <a:lstStyle/>
          <a:p>
            <a:pPr marL="0" indent="0">
              <a:buNone/>
            </a:pPr>
            <a:r>
              <a:rPr lang="en-US" sz="1100" b="1" kern="0" spc="400" dirty="0">
                <a:solidFill>
                  <a:srgbClr val="E8A020"/>
                </a:solidFill>
                <a:latin typeface="Calibri" pitchFamily="34" charset="0"/>
                <a:ea typeface="Calibri" pitchFamily="34" charset="-122"/>
                <a:cs typeface="Calibri" pitchFamily="34" charset="-120"/>
              </a:rPr>
              <a:t>EXPLORATORY DATA ANALYSIS</a:t>
            </a:r>
            <a:endParaRPr lang="en-US" sz="1100" dirty="0"/>
          </a:p>
        </p:txBody>
      </p:sp>
      <p:sp>
        <p:nvSpPr>
          <p:cNvPr id="16" name="Text 14"/>
          <p:cNvSpPr/>
          <p:nvPr/>
        </p:nvSpPr>
        <p:spPr>
          <a:xfrm>
            <a:off x="365760" y="1463040"/>
            <a:ext cx="7772400" cy="1828800"/>
          </a:xfrm>
          <a:prstGeom prst="rect">
            <a:avLst/>
          </a:prstGeom>
          <a:noFill/>
          <a:ln/>
        </p:spPr>
        <p:txBody>
          <a:bodyPr wrap="square" rtlCol="0" anchor="ctr"/>
          <a:lstStyle/>
          <a:p>
            <a:pPr marL="0" indent="0" algn="l">
              <a:buNone/>
            </a:pPr>
            <a:r>
              <a:rPr lang="en-US" sz="4400" b="1" dirty="0">
                <a:solidFill>
                  <a:srgbClr val="FFFFFF"/>
                </a:solidFill>
                <a:latin typeface="Georgia" pitchFamily="34" charset="0"/>
                <a:ea typeface="Georgia" pitchFamily="34" charset="-122"/>
                <a:cs typeface="Georgia" pitchFamily="34" charset="-120"/>
              </a:rPr>
              <a:t>Does Movie Runtime</a:t>
            </a:r>
            <a:endParaRPr lang="en-US" sz="4400" dirty="0"/>
          </a:p>
          <a:p>
            <a:pPr marL="0" indent="0" algn="l">
              <a:buNone/>
            </a:pPr>
            <a:r>
              <a:rPr lang="en-US" sz="4400" b="1" dirty="0">
                <a:solidFill>
                  <a:srgbClr val="FFFFFF"/>
                </a:solidFill>
                <a:latin typeface="Georgia" pitchFamily="34" charset="0"/>
                <a:ea typeface="Georgia" pitchFamily="34" charset="-122"/>
                <a:cs typeface="Georgia" pitchFamily="34" charset="-120"/>
              </a:rPr>
              <a:t>Influence Success?</a:t>
            </a:r>
            <a:endParaRPr lang="en-US" sz="4400" dirty="0"/>
          </a:p>
        </p:txBody>
      </p:sp>
      <p:sp>
        <p:nvSpPr>
          <p:cNvPr id="17" name="Shape 15"/>
          <p:cNvSpPr/>
          <p:nvPr/>
        </p:nvSpPr>
        <p:spPr>
          <a:xfrm>
            <a:off x="365760" y="3337560"/>
            <a:ext cx="3200400" cy="36576"/>
          </a:xfrm>
          <a:prstGeom prst="rect">
            <a:avLst/>
          </a:prstGeom>
          <a:solidFill>
            <a:srgbClr val="8FA3BF"/>
          </a:solidFill>
          <a:ln w="12700">
            <a:solidFill>
              <a:srgbClr val="8FA3BF"/>
            </a:solidFill>
            <a:prstDash val="solid"/>
          </a:ln>
        </p:spPr>
        <p:txBody>
          <a:bodyPr/>
          <a:lstStyle/>
          <a:p>
            <a:endParaRPr lang="en-US"/>
          </a:p>
        </p:txBody>
      </p:sp>
      <p:sp>
        <p:nvSpPr>
          <p:cNvPr id="18" name="Text 16"/>
          <p:cNvSpPr/>
          <p:nvPr/>
        </p:nvSpPr>
        <p:spPr>
          <a:xfrm>
            <a:off x="365760" y="3474720"/>
            <a:ext cx="7315200" cy="822960"/>
          </a:xfrm>
          <a:prstGeom prst="rect">
            <a:avLst/>
          </a:prstGeom>
          <a:noFill/>
          <a:ln/>
        </p:spPr>
        <p:txBody>
          <a:bodyPr wrap="square" rtlCol="0" anchor="ctr"/>
          <a:lstStyle/>
          <a:p>
            <a:pPr marL="0" indent="0" algn="l">
              <a:buNone/>
            </a:pPr>
            <a:r>
              <a:rPr lang="en-US" sz="1300" dirty="0">
                <a:solidFill>
                  <a:srgbClr val="8FA3BF"/>
                </a:solidFill>
                <a:latin typeface="Calibri" pitchFamily="34" charset="0"/>
                <a:ea typeface="Calibri" pitchFamily="34" charset="-122"/>
                <a:cs typeface="Calibri" pitchFamily="34" charset="-120"/>
              </a:rPr>
              <a:t>An IMDb data analysis examining the relationship between film duration</a:t>
            </a:r>
            <a:endParaRPr lang="en-US" sz="1300" dirty="0"/>
          </a:p>
          <a:p>
            <a:pPr marL="0" indent="0" algn="l">
              <a:buNone/>
            </a:pPr>
            <a:r>
              <a:rPr lang="en-US" sz="1300" dirty="0">
                <a:solidFill>
                  <a:srgbClr val="8FA3BF"/>
                </a:solidFill>
                <a:latin typeface="Calibri" pitchFamily="34" charset="0"/>
                <a:ea typeface="Calibri" pitchFamily="34" charset="-122"/>
                <a:cs typeface="Calibri" pitchFamily="34" charset="-120"/>
              </a:rPr>
              <a:t>and audience ratings across genres, time, and popularity.</a:t>
            </a:r>
            <a:endParaRPr lang="en-US" sz="1300" dirty="0"/>
          </a:p>
        </p:txBody>
      </p:sp>
      <p:sp>
        <p:nvSpPr>
          <p:cNvPr id="19" name="Text 17"/>
          <p:cNvSpPr/>
          <p:nvPr/>
        </p:nvSpPr>
        <p:spPr>
          <a:xfrm>
            <a:off x="365760" y="4663440"/>
            <a:ext cx="5486400" cy="320040"/>
          </a:xfrm>
          <a:prstGeom prst="rect">
            <a:avLst/>
          </a:prstGeom>
          <a:noFill/>
          <a:ln/>
        </p:spPr>
        <p:txBody>
          <a:bodyPr wrap="square" rtlCol="0" anchor="ctr"/>
          <a:lstStyle/>
          <a:p>
            <a:pPr marL="0" indent="0">
              <a:buNone/>
            </a:pPr>
            <a:r>
              <a:rPr lang="en-US" sz="1000" kern="0" spc="100" dirty="0">
                <a:solidFill>
                  <a:srgbClr val="8FA3BF"/>
                </a:solidFill>
                <a:latin typeface="Calibri" pitchFamily="34" charset="0"/>
                <a:ea typeface="Calibri" pitchFamily="34" charset="-122"/>
                <a:cs typeface="Calibri" pitchFamily="34" charset="-120"/>
              </a:rPr>
              <a:t>DATA SOURCE: IMDb title.basics · title.ratings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E4A"/>
          </a:solidFill>
          <a:ln w="12700">
            <a:solidFill>
              <a:srgbClr val="1C2E4A"/>
            </a:solidFill>
            <a:prstDash val="solid"/>
          </a:ln>
        </p:spPr>
        <p:txBody>
          <a:bodyPr/>
          <a:lstStyle/>
          <a:p>
            <a:endParaRPr lang="en-US"/>
          </a:p>
        </p:txBody>
      </p:sp>
      <p:sp>
        <p:nvSpPr>
          <p:cNvPr id="3" name="Shape 1"/>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274320" y="256032"/>
            <a:ext cx="8229600" cy="50292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AGENDA</a:t>
            </a:r>
            <a:endParaRPr lang="en-US" sz="2200" dirty="0"/>
          </a:p>
        </p:txBody>
      </p:sp>
      <p:sp>
        <p:nvSpPr>
          <p:cNvPr id="5" name="Shape 3"/>
          <p:cNvSpPr/>
          <p:nvPr/>
        </p:nvSpPr>
        <p:spPr>
          <a:xfrm>
            <a:off x="274320" y="1188720"/>
            <a:ext cx="420624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74320" y="1188720"/>
            <a:ext cx="64008" cy="1051560"/>
          </a:xfrm>
          <a:prstGeom prst="rect">
            <a:avLst/>
          </a:prstGeom>
          <a:solidFill>
            <a:srgbClr val="E8A020"/>
          </a:solidFill>
          <a:ln w="12700">
            <a:solidFill>
              <a:srgbClr val="E8A020"/>
            </a:solidFill>
            <a:prstDash val="solid"/>
          </a:ln>
        </p:spPr>
        <p:txBody>
          <a:bodyPr/>
          <a:lstStyle/>
          <a:p>
            <a:endParaRPr lang="en-US"/>
          </a:p>
        </p:txBody>
      </p:sp>
      <p:sp>
        <p:nvSpPr>
          <p:cNvPr id="7" name="Text 5"/>
          <p:cNvSpPr/>
          <p:nvPr/>
        </p:nvSpPr>
        <p:spPr>
          <a:xfrm>
            <a:off x="411480" y="1261872"/>
            <a:ext cx="457200" cy="320040"/>
          </a:xfrm>
          <a:prstGeom prst="rect">
            <a:avLst/>
          </a:prstGeom>
          <a:noFill/>
          <a:ln/>
        </p:spPr>
        <p:txBody>
          <a:bodyPr wrap="square" lIns="0" tIns="0" rIns="0" bIns="0" rtlCol="0" anchor="ctr"/>
          <a:lstStyle/>
          <a:p>
            <a:pPr marL="0" indent="0">
              <a:buNone/>
            </a:pPr>
            <a:r>
              <a:rPr lang="en-US" sz="1800" b="1" dirty="0">
                <a:solidFill>
                  <a:srgbClr val="E8A020"/>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411480" y="153619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Data Overview &amp; Cleaning</a:t>
            </a:r>
            <a:endParaRPr lang="en-US" sz="1200" dirty="0"/>
          </a:p>
        </p:txBody>
      </p:sp>
      <p:sp>
        <p:nvSpPr>
          <p:cNvPr id="9" name="Text 7"/>
          <p:cNvSpPr/>
          <p:nvPr/>
        </p:nvSpPr>
        <p:spPr>
          <a:xfrm>
            <a:off x="411480" y="1810512"/>
            <a:ext cx="3931920" cy="365760"/>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740,848 entries from IMDb — filtered, cleaned, and prepared for analysis</a:t>
            </a:r>
            <a:endParaRPr lang="en-US" sz="1000" dirty="0"/>
          </a:p>
        </p:txBody>
      </p:sp>
      <p:sp>
        <p:nvSpPr>
          <p:cNvPr id="10" name="Shape 8"/>
          <p:cNvSpPr/>
          <p:nvPr/>
        </p:nvSpPr>
        <p:spPr>
          <a:xfrm>
            <a:off x="4709160" y="1188720"/>
            <a:ext cx="420624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709160" y="1188720"/>
            <a:ext cx="64008" cy="1051560"/>
          </a:xfrm>
          <a:prstGeom prst="rect">
            <a:avLst/>
          </a:prstGeom>
          <a:solidFill>
            <a:srgbClr val="E8A020"/>
          </a:solidFill>
          <a:ln w="12700">
            <a:solidFill>
              <a:srgbClr val="E8A020"/>
            </a:solidFill>
            <a:prstDash val="solid"/>
          </a:ln>
        </p:spPr>
        <p:txBody>
          <a:bodyPr/>
          <a:lstStyle/>
          <a:p>
            <a:endParaRPr lang="en-US"/>
          </a:p>
        </p:txBody>
      </p:sp>
      <p:sp>
        <p:nvSpPr>
          <p:cNvPr id="12" name="Text 10"/>
          <p:cNvSpPr/>
          <p:nvPr/>
        </p:nvSpPr>
        <p:spPr>
          <a:xfrm>
            <a:off x="4846320" y="1261872"/>
            <a:ext cx="457200" cy="320040"/>
          </a:xfrm>
          <a:prstGeom prst="rect">
            <a:avLst/>
          </a:prstGeom>
          <a:noFill/>
          <a:ln/>
        </p:spPr>
        <p:txBody>
          <a:bodyPr wrap="square" lIns="0" tIns="0" rIns="0" bIns="0" rtlCol="0" anchor="ctr"/>
          <a:lstStyle/>
          <a:p>
            <a:pPr marL="0" indent="0">
              <a:buNone/>
            </a:pPr>
            <a:r>
              <a:rPr lang="en-US" sz="1800" b="1" dirty="0">
                <a:solidFill>
                  <a:srgbClr val="E8A020"/>
                </a:solidFill>
                <a:latin typeface="Georgia" pitchFamily="34" charset="0"/>
                <a:ea typeface="Georgia" pitchFamily="34" charset="-122"/>
                <a:cs typeface="Georgia" pitchFamily="34" charset="-120"/>
              </a:rPr>
              <a:t>02</a:t>
            </a:r>
            <a:endParaRPr lang="en-US" sz="1800" dirty="0"/>
          </a:p>
        </p:txBody>
      </p:sp>
      <p:sp>
        <p:nvSpPr>
          <p:cNvPr id="13" name="Text 11"/>
          <p:cNvSpPr/>
          <p:nvPr/>
        </p:nvSpPr>
        <p:spPr>
          <a:xfrm>
            <a:off x="4846320" y="153619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Data Inspection</a:t>
            </a:r>
            <a:endParaRPr lang="en-US" sz="1200" dirty="0"/>
          </a:p>
        </p:txBody>
      </p:sp>
      <p:sp>
        <p:nvSpPr>
          <p:cNvPr id="14" name="Text 12"/>
          <p:cNvSpPr/>
          <p:nvPr/>
        </p:nvSpPr>
        <p:spPr>
          <a:xfrm>
            <a:off x="4846320" y="1810512"/>
            <a:ext cx="3931920" cy="365760"/>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Summary statistics, outlier treatment, runtime &amp; vote thresholds</a:t>
            </a:r>
            <a:endParaRPr lang="en-US" sz="1000" dirty="0"/>
          </a:p>
        </p:txBody>
      </p:sp>
      <p:sp>
        <p:nvSpPr>
          <p:cNvPr id="15" name="Shape 13"/>
          <p:cNvSpPr/>
          <p:nvPr/>
        </p:nvSpPr>
        <p:spPr>
          <a:xfrm>
            <a:off x="274320" y="2423160"/>
            <a:ext cx="420624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274320" y="2423160"/>
            <a:ext cx="64008" cy="1051560"/>
          </a:xfrm>
          <a:prstGeom prst="rect">
            <a:avLst/>
          </a:prstGeom>
          <a:solidFill>
            <a:srgbClr val="E8A020"/>
          </a:solidFill>
          <a:ln w="12700">
            <a:solidFill>
              <a:srgbClr val="E8A020"/>
            </a:solidFill>
            <a:prstDash val="solid"/>
          </a:ln>
        </p:spPr>
        <p:txBody>
          <a:bodyPr/>
          <a:lstStyle/>
          <a:p>
            <a:endParaRPr lang="en-US"/>
          </a:p>
        </p:txBody>
      </p:sp>
      <p:sp>
        <p:nvSpPr>
          <p:cNvPr id="17" name="Text 15"/>
          <p:cNvSpPr/>
          <p:nvPr/>
        </p:nvSpPr>
        <p:spPr>
          <a:xfrm>
            <a:off x="411480" y="2496312"/>
            <a:ext cx="457200" cy="320040"/>
          </a:xfrm>
          <a:prstGeom prst="rect">
            <a:avLst/>
          </a:prstGeom>
          <a:noFill/>
          <a:ln/>
        </p:spPr>
        <p:txBody>
          <a:bodyPr wrap="square" lIns="0" tIns="0" rIns="0" bIns="0" rtlCol="0" anchor="ctr"/>
          <a:lstStyle/>
          <a:p>
            <a:pPr marL="0" indent="0">
              <a:buNone/>
            </a:pPr>
            <a:r>
              <a:rPr lang="en-US" sz="1800" b="1" dirty="0">
                <a:solidFill>
                  <a:srgbClr val="E8A020"/>
                </a:solidFill>
                <a:latin typeface="Georgia" pitchFamily="34" charset="0"/>
                <a:ea typeface="Georgia" pitchFamily="34" charset="-122"/>
                <a:cs typeface="Georgia" pitchFamily="34" charset="-120"/>
              </a:rPr>
              <a:t>03</a:t>
            </a:r>
            <a:endParaRPr lang="en-US" sz="1800" dirty="0"/>
          </a:p>
        </p:txBody>
      </p:sp>
      <p:sp>
        <p:nvSpPr>
          <p:cNvPr id="18" name="Text 16"/>
          <p:cNvSpPr/>
          <p:nvPr/>
        </p:nvSpPr>
        <p:spPr>
          <a:xfrm>
            <a:off x="411480" y="277063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Runtime vs Ratings</a:t>
            </a:r>
            <a:endParaRPr lang="en-US" sz="1200" dirty="0"/>
          </a:p>
        </p:txBody>
      </p:sp>
      <p:sp>
        <p:nvSpPr>
          <p:cNvPr id="19" name="Text 17"/>
          <p:cNvSpPr/>
          <p:nvPr/>
        </p:nvSpPr>
        <p:spPr>
          <a:xfrm>
            <a:off x="411480" y="3044952"/>
            <a:ext cx="3931920" cy="365760"/>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Does a longer runtime lead to higher audience ratings?</a:t>
            </a:r>
            <a:endParaRPr lang="en-US" sz="1000" dirty="0"/>
          </a:p>
        </p:txBody>
      </p:sp>
      <p:sp>
        <p:nvSpPr>
          <p:cNvPr id="20" name="Shape 18"/>
          <p:cNvSpPr/>
          <p:nvPr/>
        </p:nvSpPr>
        <p:spPr>
          <a:xfrm>
            <a:off x="4709160" y="2423160"/>
            <a:ext cx="420624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709160" y="2423160"/>
            <a:ext cx="64008" cy="1051560"/>
          </a:xfrm>
          <a:prstGeom prst="rect">
            <a:avLst/>
          </a:prstGeom>
          <a:solidFill>
            <a:srgbClr val="E8A020"/>
          </a:solidFill>
          <a:ln w="12700">
            <a:solidFill>
              <a:srgbClr val="E8A020"/>
            </a:solidFill>
            <a:prstDash val="solid"/>
          </a:ln>
        </p:spPr>
        <p:txBody>
          <a:bodyPr/>
          <a:lstStyle/>
          <a:p>
            <a:endParaRPr lang="en-US"/>
          </a:p>
        </p:txBody>
      </p:sp>
      <p:sp>
        <p:nvSpPr>
          <p:cNvPr id="22" name="Text 20"/>
          <p:cNvSpPr/>
          <p:nvPr/>
        </p:nvSpPr>
        <p:spPr>
          <a:xfrm>
            <a:off x="4846320" y="2496312"/>
            <a:ext cx="457200" cy="320040"/>
          </a:xfrm>
          <a:prstGeom prst="rect">
            <a:avLst/>
          </a:prstGeom>
          <a:noFill/>
          <a:ln/>
        </p:spPr>
        <p:txBody>
          <a:bodyPr wrap="square" lIns="0" tIns="0" rIns="0" bIns="0" rtlCol="0" anchor="ctr"/>
          <a:lstStyle/>
          <a:p>
            <a:pPr marL="0" indent="0">
              <a:buNone/>
            </a:pPr>
            <a:r>
              <a:rPr lang="en-US" sz="1800" b="1" dirty="0">
                <a:solidFill>
                  <a:srgbClr val="E8A020"/>
                </a:solidFill>
                <a:latin typeface="Georgia" pitchFamily="34" charset="0"/>
                <a:ea typeface="Georgia" pitchFamily="34" charset="-122"/>
                <a:cs typeface="Georgia" pitchFamily="34" charset="-120"/>
              </a:rPr>
              <a:t>04</a:t>
            </a:r>
            <a:endParaRPr lang="en-US" sz="1800" dirty="0"/>
          </a:p>
        </p:txBody>
      </p:sp>
      <p:sp>
        <p:nvSpPr>
          <p:cNvPr id="23" name="Text 21"/>
          <p:cNvSpPr/>
          <p:nvPr/>
        </p:nvSpPr>
        <p:spPr>
          <a:xfrm>
            <a:off x="4846320" y="277063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Popularity Analysis</a:t>
            </a:r>
            <a:endParaRPr lang="en-US" sz="1200" dirty="0"/>
          </a:p>
        </p:txBody>
      </p:sp>
      <p:sp>
        <p:nvSpPr>
          <p:cNvPr id="24" name="Text 22"/>
          <p:cNvSpPr/>
          <p:nvPr/>
        </p:nvSpPr>
        <p:spPr>
          <a:xfrm>
            <a:off x="4846320" y="3044952"/>
            <a:ext cx="3931920" cy="365760"/>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Do longer films attract more votes and audience engagement?</a:t>
            </a:r>
            <a:endParaRPr lang="en-US" sz="1000" dirty="0"/>
          </a:p>
        </p:txBody>
      </p:sp>
      <p:sp>
        <p:nvSpPr>
          <p:cNvPr id="25" name="Shape 23"/>
          <p:cNvSpPr/>
          <p:nvPr/>
        </p:nvSpPr>
        <p:spPr>
          <a:xfrm>
            <a:off x="274320" y="3657600"/>
            <a:ext cx="420624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26" name="Shape 24"/>
          <p:cNvSpPr/>
          <p:nvPr/>
        </p:nvSpPr>
        <p:spPr>
          <a:xfrm>
            <a:off x="274320" y="3657600"/>
            <a:ext cx="64008" cy="1051560"/>
          </a:xfrm>
          <a:prstGeom prst="rect">
            <a:avLst/>
          </a:prstGeom>
          <a:solidFill>
            <a:srgbClr val="E8A020"/>
          </a:solidFill>
          <a:ln w="12700">
            <a:solidFill>
              <a:srgbClr val="E8A020"/>
            </a:solidFill>
            <a:prstDash val="solid"/>
          </a:ln>
        </p:spPr>
        <p:txBody>
          <a:bodyPr/>
          <a:lstStyle/>
          <a:p>
            <a:endParaRPr lang="en-US"/>
          </a:p>
        </p:txBody>
      </p:sp>
      <p:sp>
        <p:nvSpPr>
          <p:cNvPr id="27" name="Text 25"/>
          <p:cNvSpPr/>
          <p:nvPr/>
        </p:nvSpPr>
        <p:spPr>
          <a:xfrm>
            <a:off x="411480" y="3730752"/>
            <a:ext cx="457200" cy="320040"/>
          </a:xfrm>
          <a:prstGeom prst="rect">
            <a:avLst/>
          </a:prstGeom>
          <a:noFill/>
          <a:ln/>
        </p:spPr>
        <p:txBody>
          <a:bodyPr wrap="square" lIns="0" tIns="0" rIns="0" bIns="0" rtlCol="0" anchor="ctr"/>
          <a:lstStyle/>
          <a:p>
            <a:pPr marL="0" indent="0">
              <a:buNone/>
            </a:pPr>
            <a:r>
              <a:rPr lang="en-US" sz="1800" b="1" dirty="0">
                <a:solidFill>
                  <a:srgbClr val="E8A020"/>
                </a:solidFill>
                <a:latin typeface="Georgia" pitchFamily="34" charset="0"/>
                <a:ea typeface="Georgia" pitchFamily="34" charset="-122"/>
                <a:cs typeface="Georgia" pitchFamily="34" charset="-120"/>
              </a:rPr>
              <a:t>05</a:t>
            </a:r>
            <a:endParaRPr lang="en-US" sz="1800" dirty="0"/>
          </a:p>
        </p:txBody>
      </p:sp>
      <p:sp>
        <p:nvSpPr>
          <p:cNvPr id="28" name="Text 26"/>
          <p:cNvSpPr/>
          <p:nvPr/>
        </p:nvSpPr>
        <p:spPr>
          <a:xfrm>
            <a:off x="411480" y="400507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Genre-Level Insights</a:t>
            </a:r>
            <a:endParaRPr lang="en-US" sz="1200" dirty="0"/>
          </a:p>
        </p:txBody>
      </p:sp>
      <p:sp>
        <p:nvSpPr>
          <p:cNvPr id="29" name="Text 27"/>
          <p:cNvSpPr/>
          <p:nvPr/>
        </p:nvSpPr>
        <p:spPr>
          <a:xfrm>
            <a:off x="411480" y="4279392"/>
            <a:ext cx="3931920" cy="365760"/>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Which genres benefit most from longer runtimes?</a:t>
            </a:r>
            <a:endParaRPr lang="en-US" sz="1000" dirty="0"/>
          </a:p>
        </p:txBody>
      </p:sp>
      <p:sp>
        <p:nvSpPr>
          <p:cNvPr id="30" name="Shape 28"/>
          <p:cNvSpPr/>
          <p:nvPr/>
        </p:nvSpPr>
        <p:spPr>
          <a:xfrm>
            <a:off x="4709160" y="3657600"/>
            <a:ext cx="4206240" cy="105156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31" name="Shape 29"/>
          <p:cNvSpPr/>
          <p:nvPr/>
        </p:nvSpPr>
        <p:spPr>
          <a:xfrm>
            <a:off x="4709160" y="3657600"/>
            <a:ext cx="64008" cy="1051560"/>
          </a:xfrm>
          <a:prstGeom prst="rect">
            <a:avLst/>
          </a:prstGeom>
          <a:solidFill>
            <a:srgbClr val="E8A020"/>
          </a:solidFill>
          <a:ln w="12700">
            <a:solidFill>
              <a:srgbClr val="E8A020"/>
            </a:solidFill>
            <a:prstDash val="solid"/>
          </a:ln>
        </p:spPr>
        <p:txBody>
          <a:bodyPr/>
          <a:lstStyle/>
          <a:p>
            <a:endParaRPr lang="en-US"/>
          </a:p>
        </p:txBody>
      </p:sp>
      <p:sp>
        <p:nvSpPr>
          <p:cNvPr id="32" name="Text 30"/>
          <p:cNvSpPr/>
          <p:nvPr/>
        </p:nvSpPr>
        <p:spPr>
          <a:xfrm>
            <a:off x="4846320" y="3730752"/>
            <a:ext cx="457200" cy="320040"/>
          </a:xfrm>
          <a:prstGeom prst="rect">
            <a:avLst/>
          </a:prstGeom>
          <a:noFill/>
          <a:ln/>
        </p:spPr>
        <p:txBody>
          <a:bodyPr wrap="square" lIns="0" tIns="0" rIns="0" bIns="0" rtlCol="0" anchor="ctr"/>
          <a:lstStyle/>
          <a:p>
            <a:pPr marL="0" indent="0">
              <a:buNone/>
            </a:pPr>
            <a:r>
              <a:rPr lang="en-US" sz="1800" b="1" dirty="0">
                <a:solidFill>
                  <a:srgbClr val="E8A020"/>
                </a:solidFill>
                <a:latin typeface="Georgia" pitchFamily="34" charset="0"/>
                <a:ea typeface="Georgia" pitchFamily="34" charset="-122"/>
                <a:cs typeface="Georgia" pitchFamily="34" charset="-120"/>
              </a:rPr>
              <a:t>06</a:t>
            </a:r>
            <a:endParaRPr lang="en-US" sz="1800" dirty="0"/>
          </a:p>
        </p:txBody>
      </p:sp>
      <p:sp>
        <p:nvSpPr>
          <p:cNvPr id="33" name="Text 31"/>
          <p:cNvSpPr/>
          <p:nvPr/>
        </p:nvSpPr>
        <p:spPr>
          <a:xfrm>
            <a:off x="4846320" y="400507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Key Findings &amp; Recommendations</a:t>
            </a:r>
            <a:endParaRPr lang="en-US" sz="1200" dirty="0"/>
          </a:p>
        </p:txBody>
      </p:sp>
      <p:sp>
        <p:nvSpPr>
          <p:cNvPr id="34" name="Text 32"/>
          <p:cNvSpPr/>
          <p:nvPr/>
        </p:nvSpPr>
        <p:spPr>
          <a:xfrm>
            <a:off x="4846320" y="4279392"/>
            <a:ext cx="3931920" cy="365760"/>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Actionable guidance for filmmakers and producers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3" name="Text 1"/>
          <p:cNvSpPr/>
          <p:nvPr/>
        </p:nvSpPr>
        <p:spPr>
          <a:xfrm>
            <a:off x="274320" y="228600"/>
            <a:ext cx="8229600" cy="411480"/>
          </a:xfrm>
          <a:prstGeom prst="rect">
            <a:avLst/>
          </a:prstGeom>
          <a:noFill/>
          <a:ln/>
        </p:spPr>
        <p:txBody>
          <a:bodyPr wrap="square" rtlCol="0" anchor="ctr"/>
          <a:lstStyle/>
          <a:p>
            <a:pPr marL="0" indent="0">
              <a:buNone/>
            </a:pPr>
            <a:r>
              <a:rPr lang="en-US" sz="1100" b="1" kern="0" spc="300" dirty="0">
                <a:solidFill>
                  <a:srgbClr val="E8A020"/>
                </a:solidFill>
                <a:latin typeface="Calibri" pitchFamily="34" charset="0"/>
                <a:ea typeface="Calibri" pitchFamily="34" charset="-122"/>
                <a:cs typeface="Calibri" pitchFamily="34" charset="-120"/>
              </a:rPr>
              <a:t>DATASET OVERVIEW</a:t>
            </a:r>
            <a:endParaRPr lang="en-US" sz="1100" dirty="0"/>
          </a:p>
        </p:txBody>
      </p:sp>
      <p:sp>
        <p:nvSpPr>
          <p:cNvPr id="4" name="Text 2"/>
          <p:cNvSpPr/>
          <p:nvPr/>
        </p:nvSpPr>
        <p:spPr>
          <a:xfrm>
            <a:off x="274320" y="64008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From Raw Data to Analysis-Ready Dataset</a:t>
            </a:r>
            <a:endParaRPr lang="en-US" sz="2800" dirty="0"/>
          </a:p>
        </p:txBody>
      </p:sp>
      <p:sp>
        <p:nvSpPr>
          <p:cNvPr id="5" name="Shape 3"/>
          <p:cNvSpPr/>
          <p:nvPr/>
        </p:nvSpPr>
        <p:spPr>
          <a:xfrm>
            <a:off x="274320" y="1417320"/>
            <a:ext cx="2011680" cy="1097280"/>
          </a:xfrm>
          <a:prstGeom prst="rect">
            <a:avLst/>
          </a:prstGeom>
          <a:solidFill>
            <a:srgbClr val="162033"/>
          </a:solidFill>
          <a:ln w="12700">
            <a:solidFill>
              <a:srgbClr val="2A4060"/>
            </a:solidFill>
            <a:prstDash val="solid"/>
          </a:ln>
        </p:spPr>
        <p:txBody>
          <a:bodyPr/>
          <a:lstStyle/>
          <a:p>
            <a:endParaRPr lang="en-US"/>
          </a:p>
        </p:txBody>
      </p:sp>
      <p:sp>
        <p:nvSpPr>
          <p:cNvPr id="6" name="Text 4"/>
          <p:cNvSpPr/>
          <p:nvPr/>
        </p:nvSpPr>
        <p:spPr>
          <a:xfrm>
            <a:off x="274320" y="1481328"/>
            <a:ext cx="2011680" cy="594360"/>
          </a:xfrm>
          <a:prstGeom prst="rect">
            <a:avLst/>
          </a:prstGeom>
          <a:noFill/>
          <a:ln/>
        </p:spPr>
        <p:txBody>
          <a:bodyPr wrap="square" rtlCol="0" anchor="ctr"/>
          <a:lstStyle/>
          <a:p>
            <a:pPr marL="0" indent="0" algn="ctr">
              <a:buNone/>
            </a:pPr>
            <a:r>
              <a:rPr lang="en-US" sz="2200" b="1" dirty="0">
                <a:solidFill>
                  <a:srgbClr val="E8A020"/>
                </a:solidFill>
                <a:latin typeface="Georgia" pitchFamily="34" charset="0"/>
                <a:ea typeface="Georgia" pitchFamily="34" charset="-122"/>
                <a:cs typeface="Georgia" pitchFamily="34" charset="-120"/>
              </a:rPr>
              <a:t>740,848</a:t>
            </a:r>
            <a:endParaRPr lang="en-US" sz="2200" dirty="0"/>
          </a:p>
        </p:txBody>
      </p:sp>
      <p:sp>
        <p:nvSpPr>
          <p:cNvPr id="7" name="Text 5"/>
          <p:cNvSpPr/>
          <p:nvPr/>
        </p:nvSpPr>
        <p:spPr>
          <a:xfrm>
            <a:off x="274320" y="2084832"/>
            <a:ext cx="2011680" cy="320040"/>
          </a:xfrm>
          <a:prstGeom prst="rect">
            <a:avLst/>
          </a:prstGeom>
          <a:noFill/>
          <a:ln/>
        </p:spPr>
        <p:txBody>
          <a:bodyPr wrap="square" rtlCol="0" anchor="ctr"/>
          <a:lstStyle/>
          <a:p>
            <a:pPr marL="0" indent="0" algn="ctr">
              <a:buNone/>
            </a:pPr>
            <a:r>
              <a:rPr lang="en-US" sz="1000" dirty="0">
                <a:solidFill>
                  <a:srgbClr val="8FA3BF"/>
                </a:solidFill>
                <a:latin typeface="Calibri" pitchFamily="34" charset="0"/>
                <a:ea typeface="Calibri" pitchFamily="34" charset="-122"/>
                <a:cs typeface="Calibri" pitchFamily="34" charset="-120"/>
              </a:rPr>
              <a:t>Initial Entries</a:t>
            </a:r>
            <a:endParaRPr lang="en-US" sz="1000" dirty="0"/>
          </a:p>
        </p:txBody>
      </p:sp>
      <p:sp>
        <p:nvSpPr>
          <p:cNvPr id="8" name="Shape 6"/>
          <p:cNvSpPr/>
          <p:nvPr/>
        </p:nvSpPr>
        <p:spPr>
          <a:xfrm>
            <a:off x="2450592" y="1417320"/>
            <a:ext cx="2011680" cy="1097280"/>
          </a:xfrm>
          <a:prstGeom prst="rect">
            <a:avLst/>
          </a:prstGeom>
          <a:solidFill>
            <a:srgbClr val="162033"/>
          </a:solidFill>
          <a:ln w="12700">
            <a:solidFill>
              <a:srgbClr val="2A4060"/>
            </a:solidFill>
            <a:prstDash val="solid"/>
          </a:ln>
        </p:spPr>
        <p:txBody>
          <a:bodyPr/>
          <a:lstStyle/>
          <a:p>
            <a:endParaRPr lang="en-US"/>
          </a:p>
        </p:txBody>
      </p:sp>
      <p:sp>
        <p:nvSpPr>
          <p:cNvPr id="9" name="Text 7"/>
          <p:cNvSpPr/>
          <p:nvPr/>
        </p:nvSpPr>
        <p:spPr>
          <a:xfrm>
            <a:off x="2450592" y="1481328"/>
            <a:ext cx="2011680" cy="594360"/>
          </a:xfrm>
          <a:prstGeom prst="rect">
            <a:avLst/>
          </a:prstGeom>
          <a:noFill/>
          <a:ln/>
        </p:spPr>
        <p:txBody>
          <a:bodyPr wrap="square" rtlCol="0" anchor="ctr"/>
          <a:lstStyle/>
          <a:p>
            <a:pPr marL="0" indent="0" algn="ctr">
              <a:buNone/>
            </a:pPr>
            <a:r>
              <a:rPr lang="en-US" sz="2200" b="1" dirty="0">
                <a:solidFill>
                  <a:srgbClr val="E8A020"/>
                </a:solidFill>
                <a:latin typeface="Georgia" pitchFamily="34" charset="0"/>
                <a:ea typeface="Georgia" pitchFamily="34" charset="-122"/>
                <a:cs typeface="Georgia" pitchFamily="34" charset="-120"/>
              </a:rPr>
              <a:t>433,115</a:t>
            </a:r>
            <a:endParaRPr lang="en-US" sz="2200" dirty="0"/>
          </a:p>
        </p:txBody>
      </p:sp>
      <p:sp>
        <p:nvSpPr>
          <p:cNvPr id="10" name="Text 8"/>
          <p:cNvSpPr/>
          <p:nvPr/>
        </p:nvSpPr>
        <p:spPr>
          <a:xfrm>
            <a:off x="2450592" y="2084832"/>
            <a:ext cx="2011680" cy="320040"/>
          </a:xfrm>
          <a:prstGeom prst="rect">
            <a:avLst/>
          </a:prstGeom>
          <a:noFill/>
          <a:ln/>
        </p:spPr>
        <p:txBody>
          <a:bodyPr wrap="square" rtlCol="0" anchor="ctr"/>
          <a:lstStyle/>
          <a:p>
            <a:pPr marL="0" indent="0" algn="ctr">
              <a:buNone/>
            </a:pPr>
            <a:r>
              <a:rPr lang="en-US" sz="1000" dirty="0">
                <a:solidFill>
                  <a:srgbClr val="8FA3BF"/>
                </a:solidFill>
                <a:latin typeface="Calibri" pitchFamily="34" charset="0"/>
                <a:ea typeface="Calibri" pitchFamily="34" charset="-122"/>
                <a:cs typeface="Calibri" pitchFamily="34" charset="-120"/>
              </a:rPr>
              <a:t>After Cleaning</a:t>
            </a:r>
            <a:endParaRPr lang="en-US" sz="1000" dirty="0"/>
          </a:p>
        </p:txBody>
      </p:sp>
      <p:sp>
        <p:nvSpPr>
          <p:cNvPr id="11" name="Shape 9"/>
          <p:cNvSpPr/>
          <p:nvPr/>
        </p:nvSpPr>
        <p:spPr>
          <a:xfrm>
            <a:off x="4626864" y="1417320"/>
            <a:ext cx="2011680" cy="1097280"/>
          </a:xfrm>
          <a:prstGeom prst="rect">
            <a:avLst/>
          </a:prstGeom>
          <a:solidFill>
            <a:srgbClr val="162033"/>
          </a:solidFill>
          <a:ln w="12700">
            <a:solidFill>
              <a:srgbClr val="2A4060"/>
            </a:solidFill>
            <a:prstDash val="solid"/>
          </a:ln>
        </p:spPr>
        <p:txBody>
          <a:bodyPr/>
          <a:lstStyle/>
          <a:p>
            <a:endParaRPr lang="en-US"/>
          </a:p>
        </p:txBody>
      </p:sp>
      <p:sp>
        <p:nvSpPr>
          <p:cNvPr id="12" name="Text 10"/>
          <p:cNvSpPr/>
          <p:nvPr/>
        </p:nvSpPr>
        <p:spPr>
          <a:xfrm>
            <a:off x="4626864" y="1481328"/>
            <a:ext cx="2011680" cy="594360"/>
          </a:xfrm>
          <a:prstGeom prst="rect">
            <a:avLst/>
          </a:prstGeom>
          <a:noFill/>
          <a:ln/>
        </p:spPr>
        <p:txBody>
          <a:bodyPr wrap="square" rtlCol="0" anchor="ctr"/>
          <a:lstStyle/>
          <a:p>
            <a:pPr marL="0" indent="0" algn="ctr">
              <a:buNone/>
            </a:pPr>
            <a:r>
              <a:rPr lang="en-US" sz="2200" b="1" dirty="0">
                <a:solidFill>
                  <a:srgbClr val="E8A020"/>
                </a:solidFill>
                <a:latin typeface="Georgia" pitchFamily="34" charset="0"/>
                <a:ea typeface="Georgia" pitchFamily="34" charset="-122"/>
                <a:cs typeface="Georgia" pitchFamily="34" charset="-120"/>
              </a:rPr>
              <a:t>23</a:t>
            </a:r>
            <a:endParaRPr lang="en-US" sz="2200" dirty="0"/>
          </a:p>
        </p:txBody>
      </p:sp>
      <p:sp>
        <p:nvSpPr>
          <p:cNvPr id="13" name="Text 11"/>
          <p:cNvSpPr/>
          <p:nvPr/>
        </p:nvSpPr>
        <p:spPr>
          <a:xfrm>
            <a:off x="4626864" y="2084832"/>
            <a:ext cx="2011680" cy="320040"/>
          </a:xfrm>
          <a:prstGeom prst="rect">
            <a:avLst/>
          </a:prstGeom>
          <a:noFill/>
          <a:ln/>
        </p:spPr>
        <p:txBody>
          <a:bodyPr wrap="square" rtlCol="0" anchor="ctr"/>
          <a:lstStyle/>
          <a:p>
            <a:pPr marL="0" indent="0" algn="ctr">
              <a:buNone/>
            </a:pPr>
            <a:r>
              <a:rPr lang="en-US" sz="1000" dirty="0">
                <a:solidFill>
                  <a:srgbClr val="8FA3BF"/>
                </a:solidFill>
                <a:latin typeface="Calibri" pitchFamily="34" charset="0"/>
                <a:ea typeface="Calibri" pitchFamily="34" charset="-122"/>
                <a:cs typeface="Calibri" pitchFamily="34" charset="-120"/>
              </a:rPr>
              <a:t>Genres Analysed</a:t>
            </a:r>
            <a:endParaRPr lang="en-US" sz="1000" dirty="0"/>
          </a:p>
        </p:txBody>
      </p:sp>
      <p:sp>
        <p:nvSpPr>
          <p:cNvPr id="14" name="Shape 12"/>
          <p:cNvSpPr/>
          <p:nvPr/>
        </p:nvSpPr>
        <p:spPr>
          <a:xfrm>
            <a:off x="6803136" y="1417320"/>
            <a:ext cx="2011680" cy="1097280"/>
          </a:xfrm>
          <a:prstGeom prst="rect">
            <a:avLst/>
          </a:prstGeom>
          <a:solidFill>
            <a:srgbClr val="162033"/>
          </a:solidFill>
          <a:ln w="12700">
            <a:solidFill>
              <a:srgbClr val="2A4060"/>
            </a:solidFill>
            <a:prstDash val="solid"/>
          </a:ln>
        </p:spPr>
        <p:txBody>
          <a:bodyPr/>
          <a:lstStyle/>
          <a:p>
            <a:endParaRPr lang="en-US"/>
          </a:p>
        </p:txBody>
      </p:sp>
      <p:sp>
        <p:nvSpPr>
          <p:cNvPr id="15" name="Text 13"/>
          <p:cNvSpPr/>
          <p:nvPr/>
        </p:nvSpPr>
        <p:spPr>
          <a:xfrm>
            <a:off x="6803136" y="1481328"/>
            <a:ext cx="2011680" cy="594360"/>
          </a:xfrm>
          <a:prstGeom prst="rect">
            <a:avLst/>
          </a:prstGeom>
          <a:noFill/>
          <a:ln/>
        </p:spPr>
        <p:txBody>
          <a:bodyPr wrap="square" rtlCol="0" anchor="ctr"/>
          <a:lstStyle/>
          <a:p>
            <a:pPr marL="0" indent="0" algn="ctr">
              <a:buNone/>
            </a:pPr>
            <a:r>
              <a:rPr lang="en-US" sz="2200" b="1" dirty="0">
                <a:solidFill>
                  <a:srgbClr val="E8A020"/>
                </a:solidFill>
                <a:latin typeface="Georgia" pitchFamily="34" charset="0"/>
                <a:ea typeface="Georgia" pitchFamily="34" charset="-122"/>
                <a:cs typeface="Georgia" pitchFamily="34" charset="-120"/>
              </a:rPr>
              <a:t>1950–2026</a:t>
            </a:r>
            <a:endParaRPr lang="en-US" sz="2200" dirty="0"/>
          </a:p>
        </p:txBody>
      </p:sp>
      <p:sp>
        <p:nvSpPr>
          <p:cNvPr id="16" name="Text 14"/>
          <p:cNvSpPr/>
          <p:nvPr/>
        </p:nvSpPr>
        <p:spPr>
          <a:xfrm>
            <a:off x="6803136" y="2084832"/>
            <a:ext cx="2011680" cy="320040"/>
          </a:xfrm>
          <a:prstGeom prst="rect">
            <a:avLst/>
          </a:prstGeom>
          <a:noFill/>
          <a:ln/>
        </p:spPr>
        <p:txBody>
          <a:bodyPr wrap="square" rtlCol="0" anchor="ctr"/>
          <a:lstStyle/>
          <a:p>
            <a:pPr marL="0" indent="0" algn="ctr">
              <a:buNone/>
            </a:pPr>
            <a:r>
              <a:rPr lang="en-US" sz="1000" dirty="0">
                <a:solidFill>
                  <a:srgbClr val="8FA3BF"/>
                </a:solidFill>
                <a:latin typeface="Calibri" pitchFamily="34" charset="0"/>
                <a:ea typeface="Calibri" pitchFamily="34" charset="-122"/>
                <a:cs typeface="Calibri" pitchFamily="34" charset="-120"/>
              </a:rPr>
              <a:t>Years Covered</a:t>
            </a:r>
            <a:endParaRPr lang="en-US" sz="1000" dirty="0"/>
          </a:p>
        </p:txBody>
      </p:sp>
      <p:sp>
        <p:nvSpPr>
          <p:cNvPr id="17" name="Text 15"/>
          <p:cNvSpPr/>
          <p:nvPr/>
        </p:nvSpPr>
        <p:spPr>
          <a:xfrm>
            <a:off x="274320" y="2697480"/>
            <a:ext cx="8229600" cy="320040"/>
          </a:xfrm>
          <a:prstGeom prst="rect">
            <a:avLst/>
          </a:prstGeom>
          <a:noFill/>
          <a:ln/>
        </p:spPr>
        <p:txBody>
          <a:bodyPr wrap="square" rtlCol="0" anchor="ctr"/>
          <a:lstStyle/>
          <a:p>
            <a:pPr marL="0" indent="0">
              <a:buNone/>
            </a:pPr>
            <a:r>
              <a:rPr lang="en-US" sz="1000" b="1" kern="0" spc="200" dirty="0">
                <a:solidFill>
                  <a:srgbClr val="E8A020"/>
                </a:solidFill>
                <a:latin typeface="Calibri" pitchFamily="34" charset="0"/>
                <a:ea typeface="Calibri" pitchFamily="34" charset="-122"/>
                <a:cs typeface="Calibri" pitchFamily="34" charset="-120"/>
              </a:rPr>
              <a:t>KEY CLEANING DECISIONS</a:t>
            </a:r>
            <a:endParaRPr lang="en-US" sz="1000" dirty="0"/>
          </a:p>
        </p:txBody>
      </p:sp>
      <p:sp>
        <p:nvSpPr>
          <p:cNvPr id="18" name="Shape 16"/>
          <p:cNvSpPr/>
          <p:nvPr/>
        </p:nvSpPr>
        <p:spPr>
          <a:xfrm>
            <a:off x="274320" y="3108960"/>
            <a:ext cx="4206240" cy="530352"/>
          </a:xfrm>
          <a:prstGeom prst="rect">
            <a:avLst/>
          </a:prstGeom>
          <a:solidFill>
            <a:srgbClr val="162033"/>
          </a:solidFill>
          <a:ln w="12700">
            <a:solidFill>
              <a:srgbClr val="2A4060"/>
            </a:solidFill>
            <a:prstDash val="solid"/>
          </a:ln>
        </p:spPr>
        <p:txBody>
          <a:bodyPr/>
          <a:lstStyle/>
          <a:p>
            <a:endParaRPr lang="en-US"/>
          </a:p>
        </p:txBody>
      </p:sp>
      <p:sp>
        <p:nvSpPr>
          <p:cNvPr id="19" name="Shape 17"/>
          <p:cNvSpPr/>
          <p:nvPr/>
        </p:nvSpPr>
        <p:spPr>
          <a:xfrm>
            <a:off x="274320" y="3108960"/>
            <a:ext cx="64008" cy="530352"/>
          </a:xfrm>
          <a:prstGeom prst="rect">
            <a:avLst/>
          </a:prstGeom>
          <a:solidFill>
            <a:srgbClr val="1A56A0"/>
          </a:solidFill>
          <a:ln w="12700">
            <a:solidFill>
              <a:srgbClr val="1A56A0"/>
            </a:solidFill>
            <a:prstDash val="solid"/>
          </a:ln>
        </p:spPr>
        <p:txBody>
          <a:bodyPr/>
          <a:lstStyle/>
          <a:p>
            <a:endParaRPr lang="en-US"/>
          </a:p>
        </p:txBody>
      </p:sp>
      <p:sp>
        <p:nvSpPr>
          <p:cNvPr id="20" name="Text 18"/>
          <p:cNvSpPr/>
          <p:nvPr/>
        </p:nvSpPr>
        <p:spPr>
          <a:xfrm>
            <a:off x="411480" y="3145536"/>
            <a:ext cx="393192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Removed missing values</a:t>
            </a:r>
            <a:endParaRPr lang="en-US" sz="1100" dirty="0"/>
          </a:p>
        </p:txBody>
      </p:sp>
      <p:sp>
        <p:nvSpPr>
          <p:cNvPr id="21" name="Text 19"/>
          <p:cNvSpPr/>
          <p:nvPr/>
        </p:nvSpPr>
        <p:spPr>
          <a:xfrm>
            <a:off x="411480" y="3364992"/>
            <a:ext cx="3931920" cy="201168"/>
          </a:xfrm>
          <a:prstGeom prst="rect">
            <a:avLst/>
          </a:prstGeom>
          <a:noFill/>
          <a:ln/>
        </p:spPr>
        <p:txBody>
          <a:bodyPr wrap="square" lIns="0" tIns="0" rIns="0" bIns="0" rtlCol="0" anchor="ctr"/>
          <a:lstStyle/>
          <a:p>
            <a:pPr marL="0" indent="0">
              <a:buNone/>
            </a:pPr>
            <a:r>
              <a:rPr lang="en-US" sz="900" dirty="0">
                <a:solidFill>
                  <a:srgbClr val="8FA3BF"/>
                </a:solidFill>
                <a:latin typeface="Calibri" pitchFamily="34" charset="0"/>
                <a:ea typeface="Calibri" pitchFamily="34" charset="-122"/>
                <a:cs typeface="Calibri" pitchFamily="34" charset="-120"/>
              </a:rPr>
              <a:t>runtimeMinutes, startYear, genres, primaryTitle — all essential variables, not reliably imputed</a:t>
            </a:r>
            <a:endParaRPr lang="en-US" sz="900" dirty="0"/>
          </a:p>
        </p:txBody>
      </p:sp>
      <p:sp>
        <p:nvSpPr>
          <p:cNvPr id="22" name="Shape 20"/>
          <p:cNvSpPr/>
          <p:nvPr/>
        </p:nvSpPr>
        <p:spPr>
          <a:xfrm>
            <a:off x="4709160" y="3108960"/>
            <a:ext cx="4206240" cy="530352"/>
          </a:xfrm>
          <a:prstGeom prst="rect">
            <a:avLst/>
          </a:prstGeom>
          <a:solidFill>
            <a:srgbClr val="162033"/>
          </a:solidFill>
          <a:ln w="12700">
            <a:solidFill>
              <a:srgbClr val="2A4060"/>
            </a:solidFill>
            <a:prstDash val="solid"/>
          </a:ln>
        </p:spPr>
        <p:txBody>
          <a:bodyPr/>
          <a:lstStyle/>
          <a:p>
            <a:endParaRPr lang="en-US"/>
          </a:p>
        </p:txBody>
      </p:sp>
      <p:sp>
        <p:nvSpPr>
          <p:cNvPr id="23" name="Shape 21"/>
          <p:cNvSpPr/>
          <p:nvPr/>
        </p:nvSpPr>
        <p:spPr>
          <a:xfrm>
            <a:off x="4709160" y="3108960"/>
            <a:ext cx="64008" cy="530352"/>
          </a:xfrm>
          <a:prstGeom prst="rect">
            <a:avLst/>
          </a:prstGeom>
          <a:solidFill>
            <a:srgbClr val="1A56A0"/>
          </a:solidFill>
          <a:ln w="12700">
            <a:solidFill>
              <a:srgbClr val="1A56A0"/>
            </a:solidFill>
            <a:prstDash val="solid"/>
          </a:ln>
        </p:spPr>
        <p:txBody>
          <a:bodyPr/>
          <a:lstStyle/>
          <a:p>
            <a:endParaRPr lang="en-US"/>
          </a:p>
        </p:txBody>
      </p:sp>
      <p:sp>
        <p:nvSpPr>
          <p:cNvPr id="24" name="Text 22"/>
          <p:cNvSpPr/>
          <p:nvPr/>
        </p:nvSpPr>
        <p:spPr>
          <a:xfrm>
            <a:off x="4846320" y="3145536"/>
            <a:ext cx="393192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Filtered to movies only</a:t>
            </a:r>
            <a:endParaRPr lang="en-US" sz="1100" dirty="0"/>
          </a:p>
        </p:txBody>
      </p:sp>
      <p:sp>
        <p:nvSpPr>
          <p:cNvPr id="25" name="Text 23"/>
          <p:cNvSpPr/>
          <p:nvPr/>
        </p:nvSpPr>
        <p:spPr>
          <a:xfrm>
            <a:off x="4846320" y="3364992"/>
            <a:ext cx="3931920" cy="201168"/>
          </a:xfrm>
          <a:prstGeom prst="rect">
            <a:avLst/>
          </a:prstGeom>
          <a:noFill/>
          <a:ln/>
        </p:spPr>
        <p:txBody>
          <a:bodyPr wrap="square" lIns="0" tIns="0" rIns="0" bIns="0" rtlCol="0" anchor="ctr"/>
          <a:lstStyle/>
          <a:p>
            <a:pPr marL="0" indent="0">
              <a:buNone/>
            </a:pPr>
            <a:r>
              <a:rPr lang="en-US" sz="900" dirty="0">
                <a:solidFill>
                  <a:srgbClr val="8FA3BF"/>
                </a:solidFill>
                <a:latin typeface="Calibri" pitchFamily="34" charset="0"/>
                <a:ea typeface="Calibri" pitchFamily="34" charset="-122"/>
                <a:cs typeface="Calibri" pitchFamily="34" charset="-120"/>
              </a:rPr>
              <a:t>Excluded TV shows, episodes, and other non-film media types</a:t>
            </a:r>
            <a:endParaRPr lang="en-US" sz="900" dirty="0"/>
          </a:p>
        </p:txBody>
      </p:sp>
      <p:sp>
        <p:nvSpPr>
          <p:cNvPr id="26" name="Shape 24"/>
          <p:cNvSpPr/>
          <p:nvPr/>
        </p:nvSpPr>
        <p:spPr>
          <a:xfrm>
            <a:off x="274320" y="3730752"/>
            <a:ext cx="4206240" cy="530352"/>
          </a:xfrm>
          <a:prstGeom prst="rect">
            <a:avLst/>
          </a:prstGeom>
          <a:solidFill>
            <a:srgbClr val="162033"/>
          </a:solidFill>
          <a:ln w="12700">
            <a:solidFill>
              <a:srgbClr val="2A4060"/>
            </a:solidFill>
            <a:prstDash val="solid"/>
          </a:ln>
        </p:spPr>
        <p:txBody>
          <a:bodyPr/>
          <a:lstStyle/>
          <a:p>
            <a:endParaRPr lang="en-US"/>
          </a:p>
        </p:txBody>
      </p:sp>
      <p:sp>
        <p:nvSpPr>
          <p:cNvPr id="27" name="Shape 25"/>
          <p:cNvSpPr/>
          <p:nvPr/>
        </p:nvSpPr>
        <p:spPr>
          <a:xfrm>
            <a:off x="274320" y="3730752"/>
            <a:ext cx="64008" cy="530352"/>
          </a:xfrm>
          <a:prstGeom prst="rect">
            <a:avLst/>
          </a:prstGeom>
          <a:solidFill>
            <a:srgbClr val="1A56A0"/>
          </a:solidFill>
          <a:ln w="12700">
            <a:solidFill>
              <a:srgbClr val="1A56A0"/>
            </a:solidFill>
            <a:prstDash val="solid"/>
          </a:ln>
        </p:spPr>
        <p:txBody>
          <a:bodyPr/>
          <a:lstStyle/>
          <a:p>
            <a:endParaRPr lang="en-US"/>
          </a:p>
        </p:txBody>
      </p:sp>
      <p:sp>
        <p:nvSpPr>
          <p:cNvPr id="28" name="Text 26"/>
          <p:cNvSpPr/>
          <p:nvPr/>
        </p:nvSpPr>
        <p:spPr>
          <a:xfrm>
            <a:off x="411480" y="3767328"/>
            <a:ext cx="393192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Runtime: 60–180 mins</a:t>
            </a:r>
            <a:endParaRPr lang="en-US" sz="1100" dirty="0"/>
          </a:p>
        </p:txBody>
      </p:sp>
      <p:sp>
        <p:nvSpPr>
          <p:cNvPr id="29" name="Text 27"/>
          <p:cNvSpPr/>
          <p:nvPr/>
        </p:nvSpPr>
        <p:spPr>
          <a:xfrm>
            <a:off x="411480" y="3986784"/>
            <a:ext cx="3931920" cy="201168"/>
          </a:xfrm>
          <a:prstGeom prst="rect">
            <a:avLst/>
          </a:prstGeom>
          <a:noFill/>
          <a:ln/>
        </p:spPr>
        <p:txBody>
          <a:bodyPr wrap="square" lIns="0" tIns="0" rIns="0" bIns="0" rtlCol="0" anchor="ctr"/>
          <a:lstStyle/>
          <a:p>
            <a:pPr marL="0" indent="0">
              <a:buNone/>
            </a:pPr>
            <a:r>
              <a:rPr lang="en-US" sz="900" dirty="0">
                <a:solidFill>
                  <a:srgbClr val="8FA3BF"/>
                </a:solidFill>
                <a:latin typeface="Calibri" pitchFamily="34" charset="0"/>
                <a:ea typeface="Calibri" pitchFamily="34" charset="-122"/>
                <a:cs typeface="Calibri" pitchFamily="34" charset="-120"/>
              </a:rPr>
              <a:t>Focused on standard full-length films; excluded short films and outliers</a:t>
            </a:r>
            <a:endParaRPr lang="en-US" sz="900" dirty="0"/>
          </a:p>
        </p:txBody>
      </p:sp>
      <p:sp>
        <p:nvSpPr>
          <p:cNvPr id="30" name="Shape 28"/>
          <p:cNvSpPr/>
          <p:nvPr/>
        </p:nvSpPr>
        <p:spPr>
          <a:xfrm>
            <a:off x="4709160" y="3730752"/>
            <a:ext cx="4206240" cy="530352"/>
          </a:xfrm>
          <a:prstGeom prst="rect">
            <a:avLst/>
          </a:prstGeom>
          <a:solidFill>
            <a:srgbClr val="162033"/>
          </a:solidFill>
          <a:ln w="12700">
            <a:solidFill>
              <a:srgbClr val="2A4060"/>
            </a:solidFill>
            <a:prstDash val="solid"/>
          </a:ln>
        </p:spPr>
        <p:txBody>
          <a:bodyPr/>
          <a:lstStyle/>
          <a:p>
            <a:endParaRPr lang="en-US"/>
          </a:p>
        </p:txBody>
      </p:sp>
      <p:sp>
        <p:nvSpPr>
          <p:cNvPr id="31" name="Shape 29"/>
          <p:cNvSpPr/>
          <p:nvPr/>
        </p:nvSpPr>
        <p:spPr>
          <a:xfrm>
            <a:off x="4709160" y="3730752"/>
            <a:ext cx="64008" cy="530352"/>
          </a:xfrm>
          <a:prstGeom prst="rect">
            <a:avLst/>
          </a:prstGeom>
          <a:solidFill>
            <a:srgbClr val="1A56A0"/>
          </a:solidFill>
          <a:ln w="12700">
            <a:solidFill>
              <a:srgbClr val="1A56A0"/>
            </a:solidFill>
            <a:prstDash val="solid"/>
          </a:ln>
        </p:spPr>
        <p:txBody>
          <a:bodyPr/>
          <a:lstStyle/>
          <a:p>
            <a:endParaRPr lang="en-US"/>
          </a:p>
        </p:txBody>
      </p:sp>
      <p:sp>
        <p:nvSpPr>
          <p:cNvPr id="32" name="Text 30"/>
          <p:cNvSpPr/>
          <p:nvPr/>
        </p:nvSpPr>
        <p:spPr>
          <a:xfrm>
            <a:off x="4846320" y="3767328"/>
            <a:ext cx="393192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Validated with 1,000+ votes</a:t>
            </a:r>
            <a:endParaRPr lang="en-US" sz="1100" dirty="0"/>
          </a:p>
        </p:txBody>
      </p:sp>
      <p:sp>
        <p:nvSpPr>
          <p:cNvPr id="33" name="Text 31"/>
          <p:cNvSpPr/>
          <p:nvPr/>
        </p:nvSpPr>
        <p:spPr>
          <a:xfrm>
            <a:off x="4846320" y="3986784"/>
            <a:ext cx="3931920" cy="201168"/>
          </a:xfrm>
          <a:prstGeom prst="rect">
            <a:avLst/>
          </a:prstGeom>
          <a:noFill/>
          <a:ln/>
        </p:spPr>
        <p:txBody>
          <a:bodyPr wrap="square" lIns="0" tIns="0" rIns="0" bIns="0" rtlCol="0" anchor="ctr"/>
          <a:lstStyle/>
          <a:p>
            <a:pPr marL="0" indent="0">
              <a:buNone/>
            </a:pPr>
            <a:r>
              <a:rPr lang="en-US" sz="900" dirty="0">
                <a:solidFill>
                  <a:srgbClr val="8FA3BF"/>
                </a:solidFill>
                <a:latin typeface="Calibri" pitchFamily="34" charset="0"/>
                <a:ea typeface="Calibri" pitchFamily="34" charset="-122"/>
                <a:cs typeface="Calibri" pitchFamily="34" charset="-120"/>
              </a:rPr>
              <a:t>Analysis run on full dataset and filtered dataset to confirm findings held both ways</a:t>
            </a:r>
            <a:endParaRPr lang="en-US" sz="900" dirty="0"/>
          </a:p>
        </p:txBody>
      </p:sp>
      <p:sp>
        <p:nvSpPr>
          <p:cNvPr id="34" name="Shape 32"/>
          <p:cNvSpPr/>
          <p:nvPr/>
        </p:nvSpPr>
        <p:spPr>
          <a:xfrm>
            <a:off x="274320" y="4352544"/>
            <a:ext cx="4206240" cy="530352"/>
          </a:xfrm>
          <a:prstGeom prst="rect">
            <a:avLst/>
          </a:prstGeom>
          <a:solidFill>
            <a:srgbClr val="162033"/>
          </a:solidFill>
          <a:ln w="12700">
            <a:solidFill>
              <a:srgbClr val="2A4060"/>
            </a:solidFill>
            <a:prstDash val="solid"/>
          </a:ln>
        </p:spPr>
        <p:txBody>
          <a:bodyPr/>
          <a:lstStyle/>
          <a:p>
            <a:endParaRPr lang="en-US"/>
          </a:p>
        </p:txBody>
      </p:sp>
      <p:sp>
        <p:nvSpPr>
          <p:cNvPr id="35" name="Shape 33"/>
          <p:cNvSpPr/>
          <p:nvPr/>
        </p:nvSpPr>
        <p:spPr>
          <a:xfrm>
            <a:off x="274320" y="4352544"/>
            <a:ext cx="64008" cy="530352"/>
          </a:xfrm>
          <a:prstGeom prst="rect">
            <a:avLst/>
          </a:prstGeom>
          <a:solidFill>
            <a:srgbClr val="1A56A0"/>
          </a:solidFill>
          <a:ln w="12700">
            <a:solidFill>
              <a:srgbClr val="1A56A0"/>
            </a:solidFill>
            <a:prstDash val="solid"/>
          </a:ln>
        </p:spPr>
        <p:txBody>
          <a:bodyPr/>
          <a:lstStyle/>
          <a:p>
            <a:endParaRPr lang="en-US"/>
          </a:p>
        </p:txBody>
      </p:sp>
      <p:sp>
        <p:nvSpPr>
          <p:cNvPr id="36" name="Text 34"/>
          <p:cNvSpPr/>
          <p:nvPr/>
        </p:nvSpPr>
        <p:spPr>
          <a:xfrm>
            <a:off x="411480" y="4389120"/>
            <a:ext cx="393192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Post-1950 films only</a:t>
            </a:r>
            <a:endParaRPr lang="en-US" sz="1100" dirty="0"/>
          </a:p>
        </p:txBody>
      </p:sp>
      <p:sp>
        <p:nvSpPr>
          <p:cNvPr id="37" name="Text 35"/>
          <p:cNvSpPr/>
          <p:nvPr/>
        </p:nvSpPr>
        <p:spPr>
          <a:xfrm>
            <a:off x="411480" y="4608576"/>
            <a:ext cx="3931920" cy="201168"/>
          </a:xfrm>
          <a:prstGeom prst="rect">
            <a:avLst/>
          </a:prstGeom>
          <a:noFill/>
          <a:ln/>
        </p:spPr>
        <p:txBody>
          <a:bodyPr wrap="square" lIns="0" tIns="0" rIns="0" bIns="0" rtlCol="0" anchor="ctr"/>
          <a:lstStyle/>
          <a:p>
            <a:pPr marL="0" indent="0">
              <a:buNone/>
            </a:pPr>
            <a:r>
              <a:rPr lang="en-US" sz="900" dirty="0">
                <a:solidFill>
                  <a:srgbClr val="8FA3BF"/>
                </a:solidFill>
                <a:latin typeface="Calibri" pitchFamily="34" charset="0"/>
                <a:ea typeface="Calibri" pitchFamily="34" charset="-122"/>
                <a:cs typeface="Calibri" pitchFamily="34" charset="-120"/>
              </a:rPr>
              <a:t>Modern cinema era — consistent production standards and data coverage</a:t>
            </a:r>
            <a:endParaRPr lang="en-US" sz="900" dirty="0"/>
          </a:p>
        </p:txBody>
      </p:sp>
      <p:sp>
        <p:nvSpPr>
          <p:cNvPr id="38" name="Shape 36"/>
          <p:cNvSpPr/>
          <p:nvPr/>
        </p:nvSpPr>
        <p:spPr>
          <a:xfrm>
            <a:off x="4709160" y="4352544"/>
            <a:ext cx="4206240" cy="530352"/>
          </a:xfrm>
          <a:prstGeom prst="rect">
            <a:avLst/>
          </a:prstGeom>
          <a:solidFill>
            <a:srgbClr val="162033"/>
          </a:solidFill>
          <a:ln w="12700">
            <a:solidFill>
              <a:srgbClr val="2A4060"/>
            </a:solidFill>
            <a:prstDash val="solid"/>
          </a:ln>
        </p:spPr>
        <p:txBody>
          <a:bodyPr/>
          <a:lstStyle/>
          <a:p>
            <a:endParaRPr lang="en-US"/>
          </a:p>
        </p:txBody>
      </p:sp>
      <p:sp>
        <p:nvSpPr>
          <p:cNvPr id="39" name="Shape 37"/>
          <p:cNvSpPr/>
          <p:nvPr/>
        </p:nvSpPr>
        <p:spPr>
          <a:xfrm>
            <a:off x="4709160" y="4352544"/>
            <a:ext cx="64008" cy="530352"/>
          </a:xfrm>
          <a:prstGeom prst="rect">
            <a:avLst/>
          </a:prstGeom>
          <a:solidFill>
            <a:srgbClr val="1A56A0"/>
          </a:solidFill>
          <a:ln w="12700">
            <a:solidFill>
              <a:srgbClr val="1A56A0"/>
            </a:solidFill>
            <a:prstDash val="solid"/>
          </a:ln>
        </p:spPr>
        <p:txBody>
          <a:bodyPr/>
          <a:lstStyle/>
          <a:p>
            <a:endParaRPr lang="en-US"/>
          </a:p>
        </p:txBody>
      </p:sp>
      <p:sp>
        <p:nvSpPr>
          <p:cNvPr id="40" name="Text 38"/>
          <p:cNvSpPr/>
          <p:nvPr/>
        </p:nvSpPr>
        <p:spPr>
          <a:xfrm>
            <a:off x="4846320" y="4389120"/>
            <a:ext cx="3931920" cy="20116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Low-frequency genres removed</a:t>
            </a:r>
            <a:endParaRPr lang="en-US" sz="1100" dirty="0"/>
          </a:p>
        </p:txBody>
      </p:sp>
      <p:sp>
        <p:nvSpPr>
          <p:cNvPr id="41" name="Text 39"/>
          <p:cNvSpPr/>
          <p:nvPr/>
        </p:nvSpPr>
        <p:spPr>
          <a:xfrm>
            <a:off x="4846320" y="4608576"/>
            <a:ext cx="3931920" cy="201168"/>
          </a:xfrm>
          <a:prstGeom prst="rect">
            <a:avLst/>
          </a:prstGeom>
          <a:noFill/>
          <a:ln/>
        </p:spPr>
        <p:txBody>
          <a:bodyPr wrap="square" lIns="0" tIns="0" rIns="0" bIns="0" rtlCol="0" anchor="ctr"/>
          <a:lstStyle/>
          <a:p>
            <a:pPr marL="0" indent="0">
              <a:buNone/>
            </a:pPr>
            <a:r>
              <a:rPr lang="en-US" sz="900" dirty="0">
                <a:solidFill>
                  <a:srgbClr val="8FA3BF"/>
                </a:solidFill>
                <a:latin typeface="Calibri" pitchFamily="34" charset="0"/>
                <a:ea typeface="Calibri" pitchFamily="34" charset="-122"/>
                <a:cs typeface="Calibri" pitchFamily="34" charset="-120"/>
              </a:rPr>
              <a:t>Film-Noir, Reality-TV, Talk-Show, Game-Show excluded (&lt;1,000 entries each)</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E4A"/>
          </a:solidFill>
          <a:ln w="12700">
            <a:solidFill>
              <a:srgbClr val="1C2E4A"/>
            </a:solidFill>
            <a:prstDash val="solid"/>
          </a:ln>
        </p:spPr>
        <p:txBody>
          <a:bodyPr/>
          <a:lstStyle/>
          <a:p>
            <a:endParaRPr lang="en-US"/>
          </a:p>
        </p:txBody>
      </p:sp>
      <p:sp>
        <p:nvSpPr>
          <p:cNvPr id="3" name="Shape 1"/>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274320" y="256032"/>
            <a:ext cx="8229600" cy="50292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RUNTIME vs AUDIENCE RATING</a:t>
            </a:r>
            <a:endParaRPr lang="en-US" sz="2200" dirty="0"/>
          </a:p>
        </p:txBody>
      </p:sp>
      <p:graphicFrame>
        <p:nvGraphicFramePr>
          <p:cNvPr id="5" name="Chart 0"/>
          <p:cNvGraphicFramePr/>
          <p:nvPr/>
        </p:nvGraphicFramePr>
        <p:xfrm>
          <a:off x="274320" y="1097280"/>
          <a:ext cx="530352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852160" y="1143000"/>
            <a:ext cx="3108960" cy="1143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7" name="Shape 4"/>
          <p:cNvSpPr/>
          <p:nvPr/>
        </p:nvSpPr>
        <p:spPr>
          <a:xfrm>
            <a:off x="5852160" y="1143000"/>
            <a:ext cx="64008" cy="1143000"/>
          </a:xfrm>
          <a:prstGeom prst="rect">
            <a:avLst/>
          </a:prstGeom>
          <a:solidFill>
            <a:srgbClr val="E74C3C"/>
          </a:solidFill>
          <a:ln w="12700">
            <a:solidFill>
              <a:srgbClr val="E74C3C"/>
            </a:solidFill>
            <a:prstDash val="solid"/>
          </a:ln>
        </p:spPr>
        <p:txBody>
          <a:bodyPr/>
          <a:lstStyle/>
          <a:p>
            <a:endParaRPr lang="en-US"/>
          </a:p>
        </p:txBody>
      </p:sp>
      <p:sp>
        <p:nvSpPr>
          <p:cNvPr id="8" name="Text 5"/>
          <p:cNvSpPr/>
          <p:nvPr/>
        </p:nvSpPr>
        <p:spPr>
          <a:xfrm>
            <a:off x="5989320" y="1207008"/>
            <a:ext cx="2926080" cy="228600"/>
          </a:xfrm>
          <a:prstGeom prst="rect">
            <a:avLst/>
          </a:prstGeom>
          <a:noFill/>
          <a:ln/>
        </p:spPr>
        <p:txBody>
          <a:bodyPr wrap="square" lIns="0" tIns="0" rIns="0" bIns="0" rtlCol="0" anchor="ctr"/>
          <a:lstStyle/>
          <a:p>
            <a:pPr marL="0" indent="0">
              <a:buNone/>
            </a:pPr>
            <a:r>
              <a:rPr lang="en-US" sz="900" b="1" kern="0" spc="200" dirty="0">
                <a:solidFill>
                  <a:srgbClr val="E74C3C"/>
                </a:solidFill>
                <a:latin typeface="Calibri" pitchFamily="34" charset="0"/>
                <a:ea typeface="Calibri" pitchFamily="34" charset="-122"/>
                <a:cs typeface="Calibri" pitchFamily="34" charset="-120"/>
              </a:rPr>
              <a:t>AVOID</a:t>
            </a:r>
            <a:endParaRPr lang="en-US" sz="900" dirty="0"/>
          </a:p>
        </p:txBody>
      </p:sp>
      <p:sp>
        <p:nvSpPr>
          <p:cNvPr id="9" name="Text 6"/>
          <p:cNvSpPr/>
          <p:nvPr/>
        </p:nvSpPr>
        <p:spPr>
          <a:xfrm>
            <a:off x="5989320" y="1435608"/>
            <a:ext cx="2926080" cy="274320"/>
          </a:xfrm>
          <a:prstGeom prst="rect">
            <a:avLst/>
          </a:prstGeom>
          <a:noFill/>
          <a:ln/>
        </p:spPr>
        <p:txBody>
          <a:bodyPr wrap="square" lIns="0" tIns="0" rIns="0" bIns="0" rtlCol="0" anchor="ctr"/>
          <a:lstStyle/>
          <a:p>
            <a:pPr marL="0" indent="0">
              <a:buNone/>
            </a:pPr>
            <a:r>
              <a:rPr lang="en-US" sz="1600" b="1" dirty="0">
                <a:solidFill>
                  <a:srgbClr val="1C2E4A"/>
                </a:solidFill>
                <a:latin typeface="Georgia" pitchFamily="34" charset="0"/>
                <a:ea typeface="Georgia" pitchFamily="34" charset="-122"/>
                <a:cs typeface="Georgia" pitchFamily="34" charset="-120"/>
              </a:rPr>
              <a:t>60–90 mins</a:t>
            </a:r>
            <a:endParaRPr lang="en-US" sz="1600" dirty="0"/>
          </a:p>
        </p:txBody>
      </p:sp>
      <p:sp>
        <p:nvSpPr>
          <p:cNvPr id="10" name="Text 7"/>
          <p:cNvSpPr/>
          <p:nvPr/>
        </p:nvSpPr>
        <p:spPr>
          <a:xfrm>
            <a:off x="5989320" y="1737360"/>
            <a:ext cx="2926080" cy="475488"/>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Lowest rated bracket — short enough to feel rushed but long enough to disappoint.</a:t>
            </a:r>
            <a:endParaRPr lang="en-US" sz="950" dirty="0"/>
          </a:p>
        </p:txBody>
      </p:sp>
      <p:sp>
        <p:nvSpPr>
          <p:cNvPr id="11" name="Shape 8"/>
          <p:cNvSpPr/>
          <p:nvPr/>
        </p:nvSpPr>
        <p:spPr>
          <a:xfrm>
            <a:off x="5852160" y="2423160"/>
            <a:ext cx="3108960" cy="1143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12" name="Shape 9"/>
          <p:cNvSpPr/>
          <p:nvPr/>
        </p:nvSpPr>
        <p:spPr>
          <a:xfrm>
            <a:off x="5852160" y="2423160"/>
            <a:ext cx="64008" cy="1143000"/>
          </a:xfrm>
          <a:prstGeom prst="rect">
            <a:avLst/>
          </a:prstGeom>
          <a:solidFill>
            <a:srgbClr val="E8A020"/>
          </a:solidFill>
          <a:ln w="12700">
            <a:solidFill>
              <a:srgbClr val="E8A020"/>
            </a:solidFill>
            <a:prstDash val="solid"/>
          </a:ln>
        </p:spPr>
        <p:txBody>
          <a:bodyPr/>
          <a:lstStyle/>
          <a:p>
            <a:endParaRPr lang="en-US"/>
          </a:p>
        </p:txBody>
      </p:sp>
      <p:sp>
        <p:nvSpPr>
          <p:cNvPr id="13" name="Text 10"/>
          <p:cNvSpPr/>
          <p:nvPr/>
        </p:nvSpPr>
        <p:spPr>
          <a:xfrm>
            <a:off x="5989320" y="2487168"/>
            <a:ext cx="2926080" cy="228600"/>
          </a:xfrm>
          <a:prstGeom prst="rect">
            <a:avLst/>
          </a:prstGeom>
          <a:noFill/>
          <a:ln/>
        </p:spPr>
        <p:txBody>
          <a:bodyPr wrap="square" lIns="0" tIns="0" rIns="0" bIns="0" rtlCol="0" anchor="ctr"/>
          <a:lstStyle/>
          <a:p>
            <a:pPr marL="0" indent="0">
              <a:buNone/>
            </a:pPr>
            <a:r>
              <a:rPr lang="en-US" sz="900" b="1" kern="0" spc="200" dirty="0">
                <a:solidFill>
                  <a:srgbClr val="E8A020"/>
                </a:solidFill>
                <a:latin typeface="Calibri" pitchFamily="34" charset="0"/>
                <a:ea typeface="Calibri" pitchFamily="34" charset="-122"/>
                <a:cs typeface="Calibri" pitchFamily="34" charset="-120"/>
              </a:rPr>
              <a:t>CAUTION</a:t>
            </a:r>
            <a:endParaRPr lang="en-US" sz="900" dirty="0"/>
          </a:p>
        </p:txBody>
      </p:sp>
      <p:sp>
        <p:nvSpPr>
          <p:cNvPr id="14" name="Text 11"/>
          <p:cNvSpPr/>
          <p:nvPr/>
        </p:nvSpPr>
        <p:spPr>
          <a:xfrm>
            <a:off x="5989320" y="2715768"/>
            <a:ext cx="2926080" cy="274320"/>
          </a:xfrm>
          <a:prstGeom prst="rect">
            <a:avLst/>
          </a:prstGeom>
          <a:noFill/>
          <a:ln/>
        </p:spPr>
        <p:txBody>
          <a:bodyPr wrap="square" lIns="0" tIns="0" rIns="0" bIns="0" rtlCol="0" anchor="ctr"/>
          <a:lstStyle/>
          <a:p>
            <a:pPr marL="0" indent="0">
              <a:buNone/>
            </a:pPr>
            <a:r>
              <a:rPr lang="en-US" sz="1600" b="1" dirty="0">
                <a:solidFill>
                  <a:srgbClr val="1C2E4A"/>
                </a:solidFill>
                <a:latin typeface="Georgia" pitchFamily="34" charset="0"/>
                <a:ea typeface="Georgia" pitchFamily="34" charset="-122"/>
                <a:cs typeface="Georgia" pitchFamily="34" charset="-120"/>
              </a:rPr>
              <a:t>&lt;60 mins</a:t>
            </a:r>
            <a:endParaRPr lang="en-US" sz="1600" dirty="0"/>
          </a:p>
        </p:txBody>
      </p:sp>
      <p:sp>
        <p:nvSpPr>
          <p:cNvPr id="15" name="Text 12"/>
          <p:cNvSpPr/>
          <p:nvPr/>
        </p:nvSpPr>
        <p:spPr>
          <a:xfrm>
            <a:off x="5989320" y="3017520"/>
            <a:ext cx="2926080" cy="475488"/>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Starts high but represents short films with limited narrative scope.</a:t>
            </a:r>
            <a:endParaRPr lang="en-US" sz="950" dirty="0"/>
          </a:p>
        </p:txBody>
      </p:sp>
      <p:sp>
        <p:nvSpPr>
          <p:cNvPr id="16" name="Shape 13"/>
          <p:cNvSpPr/>
          <p:nvPr/>
        </p:nvSpPr>
        <p:spPr>
          <a:xfrm>
            <a:off x="5852160" y="3703320"/>
            <a:ext cx="3108960" cy="1143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17" name="Shape 14"/>
          <p:cNvSpPr/>
          <p:nvPr/>
        </p:nvSpPr>
        <p:spPr>
          <a:xfrm>
            <a:off x="5852160" y="3703320"/>
            <a:ext cx="64008" cy="1143000"/>
          </a:xfrm>
          <a:prstGeom prst="rect">
            <a:avLst/>
          </a:prstGeom>
          <a:solidFill>
            <a:srgbClr val="27AE60"/>
          </a:solidFill>
          <a:ln w="12700">
            <a:solidFill>
              <a:srgbClr val="27AE60"/>
            </a:solidFill>
            <a:prstDash val="solid"/>
          </a:ln>
        </p:spPr>
        <p:txBody>
          <a:bodyPr/>
          <a:lstStyle/>
          <a:p>
            <a:endParaRPr lang="en-US"/>
          </a:p>
        </p:txBody>
      </p:sp>
      <p:sp>
        <p:nvSpPr>
          <p:cNvPr id="18" name="Text 15"/>
          <p:cNvSpPr/>
          <p:nvPr/>
        </p:nvSpPr>
        <p:spPr>
          <a:xfrm>
            <a:off x="5989320" y="3767328"/>
            <a:ext cx="2926080" cy="228600"/>
          </a:xfrm>
          <a:prstGeom prst="rect">
            <a:avLst/>
          </a:prstGeom>
          <a:noFill/>
          <a:ln/>
        </p:spPr>
        <p:txBody>
          <a:bodyPr wrap="square" lIns="0" tIns="0" rIns="0" bIns="0" rtlCol="0" anchor="ctr"/>
          <a:lstStyle/>
          <a:p>
            <a:pPr marL="0" indent="0">
              <a:buNone/>
            </a:pPr>
            <a:r>
              <a:rPr lang="en-US" sz="900" b="1" kern="0" spc="200" dirty="0">
                <a:solidFill>
                  <a:srgbClr val="27AE60"/>
                </a:solidFill>
                <a:latin typeface="Calibri" pitchFamily="34" charset="0"/>
                <a:ea typeface="Calibri" pitchFamily="34" charset="-122"/>
                <a:cs typeface="Calibri" pitchFamily="34" charset="-120"/>
              </a:rPr>
              <a:t>OPTIMAL</a:t>
            </a:r>
            <a:endParaRPr lang="en-US" sz="900" dirty="0"/>
          </a:p>
        </p:txBody>
      </p:sp>
      <p:sp>
        <p:nvSpPr>
          <p:cNvPr id="19" name="Text 16"/>
          <p:cNvSpPr/>
          <p:nvPr/>
        </p:nvSpPr>
        <p:spPr>
          <a:xfrm>
            <a:off x="5989320" y="3995928"/>
            <a:ext cx="2926080" cy="274320"/>
          </a:xfrm>
          <a:prstGeom prst="rect">
            <a:avLst/>
          </a:prstGeom>
          <a:noFill/>
          <a:ln/>
        </p:spPr>
        <p:txBody>
          <a:bodyPr wrap="square" lIns="0" tIns="0" rIns="0" bIns="0" rtlCol="0" anchor="ctr"/>
          <a:lstStyle/>
          <a:p>
            <a:pPr marL="0" indent="0">
              <a:buNone/>
            </a:pPr>
            <a:r>
              <a:rPr lang="en-US" sz="1600" b="1" dirty="0">
                <a:solidFill>
                  <a:srgbClr val="1C2E4A"/>
                </a:solidFill>
                <a:latin typeface="Georgia" pitchFamily="34" charset="0"/>
                <a:ea typeface="Georgia" pitchFamily="34" charset="-122"/>
                <a:cs typeface="Georgia" pitchFamily="34" charset="-120"/>
              </a:rPr>
              <a:t>150–180 mins</a:t>
            </a:r>
            <a:endParaRPr lang="en-US" sz="1600" dirty="0"/>
          </a:p>
        </p:txBody>
      </p:sp>
      <p:sp>
        <p:nvSpPr>
          <p:cNvPr id="20" name="Text 17"/>
          <p:cNvSpPr/>
          <p:nvPr/>
        </p:nvSpPr>
        <p:spPr>
          <a:xfrm>
            <a:off x="5989320" y="4297680"/>
            <a:ext cx="2926080" cy="475488"/>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Highest engagement and strong ratings — audiences reward the investment of time.</a:t>
            </a:r>
            <a:endParaRPr lang="en-US" sz="950" dirty="0"/>
          </a:p>
        </p:txBody>
      </p:sp>
      <p:sp>
        <p:nvSpPr>
          <p:cNvPr id="21" name="Text 18"/>
          <p:cNvSpPr/>
          <p:nvPr/>
        </p:nvSpPr>
        <p:spPr>
          <a:xfrm>
            <a:off x="274320" y="4754880"/>
            <a:ext cx="8595360" cy="274320"/>
          </a:xfrm>
          <a:prstGeom prst="rect">
            <a:avLst/>
          </a:prstGeom>
          <a:noFill/>
          <a:ln/>
        </p:spPr>
        <p:txBody>
          <a:bodyPr wrap="square" rtlCol="0" anchor="ctr"/>
          <a:lstStyle/>
          <a:p>
            <a:pPr marL="0" indent="0">
              <a:buNone/>
            </a:pPr>
            <a:r>
              <a:rPr lang="en-US" sz="900" i="1" dirty="0">
                <a:solidFill>
                  <a:srgbClr val="8FA3BF"/>
                </a:solidFill>
                <a:latin typeface="Calibri" pitchFamily="34" charset="0"/>
                <a:ea typeface="Calibri" pitchFamily="34" charset="-122"/>
                <a:cs typeface="Calibri" pitchFamily="34" charset="-120"/>
              </a:rPr>
              <a:t>Note: Differences between groups are real but moderate — runtime is one of several factors influencing ratings.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3" name="Text 1"/>
          <p:cNvSpPr/>
          <p:nvPr/>
        </p:nvSpPr>
        <p:spPr>
          <a:xfrm>
            <a:off x="274320" y="228600"/>
            <a:ext cx="8229600" cy="365760"/>
          </a:xfrm>
          <a:prstGeom prst="rect">
            <a:avLst/>
          </a:prstGeom>
          <a:noFill/>
          <a:ln/>
        </p:spPr>
        <p:txBody>
          <a:bodyPr wrap="square" rtlCol="0" anchor="ctr"/>
          <a:lstStyle/>
          <a:p>
            <a:pPr marL="0" indent="0">
              <a:buNone/>
            </a:pPr>
            <a:r>
              <a:rPr lang="en-US" sz="1100" b="1" kern="0" spc="300" dirty="0">
                <a:solidFill>
                  <a:srgbClr val="E8A020"/>
                </a:solidFill>
                <a:latin typeface="Calibri" pitchFamily="34" charset="0"/>
                <a:ea typeface="Calibri" pitchFamily="34" charset="-122"/>
                <a:cs typeface="Calibri" pitchFamily="34" charset="-120"/>
              </a:rPr>
              <a:t>POPULARITY ANALYSIS</a:t>
            </a:r>
            <a:endParaRPr lang="en-US" sz="1100" dirty="0"/>
          </a:p>
        </p:txBody>
      </p:sp>
      <p:sp>
        <p:nvSpPr>
          <p:cNvPr id="4" name="Text 2"/>
          <p:cNvSpPr/>
          <p:nvPr/>
        </p:nvSpPr>
        <p:spPr>
          <a:xfrm>
            <a:off x="274320" y="594360"/>
            <a:ext cx="8412480" cy="59436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Do Longer Films Attract More Audience Engagement?</a:t>
            </a:r>
            <a:endParaRPr lang="en-US" sz="2600" dirty="0"/>
          </a:p>
        </p:txBody>
      </p:sp>
      <p:graphicFrame>
        <p:nvGraphicFramePr>
          <p:cNvPr id="5" name="Chart 0"/>
          <p:cNvGraphicFramePr/>
          <p:nvPr>
            <p:extLst>
              <p:ext uri="{D42A27DB-BD31-4B8C-83A1-F6EECF244321}">
                <p14:modId xmlns:p14="http://schemas.microsoft.com/office/powerpoint/2010/main" val="1801717957"/>
              </p:ext>
            </p:extLst>
          </p:nvPr>
        </p:nvGraphicFramePr>
        <p:xfrm>
          <a:off x="274320" y="1371600"/>
          <a:ext cx="53035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806440" y="1371600"/>
            <a:ext cx="3154680" cy="3200400"/>
          </a:xfrm>
          <a:prstGeom prst="rect">
            <a:avLst/>
          </a:prstGeom>
          <a:solidFill>
            <a:srgbClr val="162033"/>
          </a:solidFill>
          <a:ln w="12700">
            <a:solidFill>
              <a:srgbClr val="2A4060"/>
            </a:solidFill>
            <a:prstDash val="solid"/>
          </a:ln>
        </p:spPr>
        <p:txBody>
          <a:bodyPr/>
          <a:lstStyle/>
          <a:p>
            <a:endParaRPr lang="en-US"/>
          </a:p>
        </p:txBody>
      </p:sp>
      <p:sp>
        <p:nvSpPr>
          <p:cNvPr id="7" name="Text 4"/>
          <p:cNvSpPr/>
          <p:nvPr/>
        </p:nvSpPr>
        <p:spPr>
          <a:xfrm>
            <a:off x="5989320" y="1508760"/>
            <a:ext cx="2834640" cy="274320"/>
          </a:xfrm>
          <a:prstGeom prst="rect">
            <a:avLst/>
          </a:prstGeom>
          <a:noFill/>
          <a:ln/>
        </p:spPr>
        <p:txBody>
          <a:bodyPr wrap="square" rtlCol="0" anchor="ctr"/>
          <a:lstStyle/>
          <a:p>
            <a:pPr marL="0" indent="0">
              <a:buNone/>
            </a:pPr>
            <a:r>
              <a:rPr lang="en-US" sz="900" b="1" kern="0" spc="200" dirty="0">
                <a:solidFill>
                  <a:srgbClr val="E8A020"/>
                </a:solidFill>
                <a:latin typeface="Calibri" pitchFamily="34" charset="0"/>
                <a:ea typeface="Calibri" pitchFamily="34" charset="-122"/>
                <a:cs typeface="Calibri" pitchFamily="34" charset="-120"/>
              </a:rPr>
              <a:t>KEY FINDING</a:t>
            </a:r>
            <a:endParaRPr lang="en-US" sz="900" dirty="0"/>
          </a:p>
        </p:txBody>
      </p:sp>
      <p:sp>
        <p:nvSpPr>
          <p:cNvPr id="8" name="Text 5"/>
          <p:cNvSpPr/>
          <p:nvPr/>
        </p:nvSpPr>
        <p:spPr>
          <a:xfrm>
            <a:off x="5989320" y="1783080"/>
            <a:ext cx="2834640" cy="822960"/>
          </a:xfrm>
          <a:prstGeom prst="rect">
            <a:avLst/>
          </a:prstGeom>
          <a:noFill/>
          <a:ln/>
        </p:spPr>
        <p:txBody>
          <a:bodyPr wrap="square"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Longer films attract significantly more votes</a:t>
            </a:r>
          </a:p>
        </p:txBody>
      </p:sp>
      <p:sp>
        <p:nvSpPr>
          <p:cNvPr id="9" name="Shape 6"/>
          <p:cNvSpPr/>
          <p:nvPr/>
        </p:nvSpPr>
        <p:spPr>
          <a:xfrm>
            <a:off x="5989320" y="2697480"/>
            <a:ext cx="2743200" cy="36576"/>
          </a:xfrm>
          <a:prstGeom prst="rect">
            <a:avLst/>
          </a:prstGeom>
          <a:solidFill>
            <a:srgbClr val="2A4060"/>
          </a:solidFill>
          <a:ln w="12700">
            <a:solidFill>
              <a:srgbClr val="2A4060"/>
            </a:solidFill>
            <a:prstDash val="solid"/>
          </a:ln>
        </p:spPr>
        <p:txBody>
          <a:bodyPr/>
          <a:lstStyle/>
          <a:p>
            <a:endParaRPr lang="en-US"/>
          </a:p>
        </p:txBody>
      </p:sp>
      <p:sp>
        <p:nvSpPr>
          <p:cNvPr id="10" name="Text 7"/>
          <p:cNvSpPr/>
          <p:nvPr/>
        </p:nvSpPr>
        <p:spPr>
          <a:xfrm>
            <a:off x="5989320" y="2834640"/>
            <a:ext cx="2834640" cy="365760"/>
          </a:xfrm>
          <a:prstGeom prst="rect">
            <a:avLst/>
          </a:prstGeom>
          <a:noFill/>
          <a:ln/>
        </p:spPr>
        <p:txBody>
          <a:bodyPr wrap="square"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 </a:t>
            </a:r>
            <a:r>
              <a:rPr lang="en-US" sz="950" dirty="0">
                <a:solidFill>
                  <a:srgbClr val="8FA3BF"/>
                </a:solidFill>
                <a:latin typeface="Calibri" pitchFamily="34" charset="0"/>
                <a:ea typeface="Calibri" pitchFamily="34" charset="-122"/>
                <a:cs typeface="Calibri" pitchFamily="34" charset="-120"/>
              </a:rPr>
              <a:t>&gt;180 min films average ~21,300 votes — highest engagement of any group</a:t>
            </a:r>
            <a:endParaRPr lang="en-US" sz="950" dirty="0"/>
          </a:p>
        </p:txBody>
      </p:sp>
      <p:sp>
        <p:nvSpPr>
          <p:cNvPr id="11" name="Text 8"/>
          <p:cNvSpPr/>
          <p:nvPr/>
        </p:nvSpPr>
        <p:spPr>
          <a:xfrm>
            <a:off x="5989320" y="3255264"/>
            <a:ext cx="2834640" cy="365760"/>
          </a:xfrm>
          <a:prstGeom prst="rect">
            <a:avLst/>
          </a:prstGeom>
          <a:noFill/>
          <a:ln/>
        </p:spPr>
        <p:txBody>
          <a:bodyPr wrap="square"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 </a:t>
            </a:r>
            <a:r>
              <a:rPr lang="en-US" sz="950" dirty="0">
                <a:solidFill>
                  <a:srgbClr val="8FA3BF"/>
                </a:solidFill>
                <a:latin typeface="Calibri" pitchFamily="34" charset="0"/>
                <a:ea typeface="Calibri" pitchFamily="34" charset="-122"/>
                <a:cs typeface="Calibri" pitchFamily="34" charset="-120"/>
              </a:rPr>
              <a:t>150–180 min close behind at ~16,500 — both far above shorter films</a:t>
            </a:r>
            <a:endParaRPr lang="en-US" sz="950" dirty="0"/>
          </a:p>
        </p:txBody>
      </p:sp>
      <p:sp>
        <p:nvSpPr>
          <p:cNvPr id="12" name="Text 9"/>
          <p:cNvSpPr/>
          <p:nvPr/>
        </p:nvSpPr>
        <p:spPr>
          <a:xfrm>
            <a:off x="5989320" y="3675888"/>
            <a:ext cx="2834640" cy="365760"/>
          </a:xfrm>
          <a:prstGeom prst="rect">
            <a:avLst/>
          </a:prstGeom>
          <a:noFill/>
          <a:ln/>
        </p:spPr>
        <p:txBody>
          <a:bodyPr wrap="square"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 </a:t>
            </a:r>
            <a:r>
              <a:rPr lang="en-US" sz="950" dirty="0">
                <a:solidFill>
                  <a:srgbClr val="8FA3BF"/>
                </a:solidFill>
                <a:latin typeface="Calibri" pitchFamily="34" charset="0"/>
                <a:ea typeface="Calibri" pitchFamily="34" charset="-122"/>
                <a:cs typeface="Calibri" pitchFamily="34" charset="-120"/>
              </a:rPr>
              <a:t>Analysis run on full dataset and 1,000+ vote subset — pattern held both ways</a:t>
            </a:r>
            <a:endParaRPr lang="en-US" sz="950" dirty="0"/>
          </a:p>
        </p:txBody>
      </p:sp>
      <p:sp>
        <p:nvSpPr>
          <p:cNvPr id="13" name="Text 10"/>
          <p:cNvSpPr/>
          <p:nvPr/>
        </p:nvSpPr>
        <p:spPr>
          <a:xfrm>
            <a:off x="5989320" y="4096512"/>
            <a:ext cx="2834640" cy="365760"/>
          </a:xfrm>
          <a:prstGeom prst="rect">
            <a:avLst/>
          </a:prstGeom>
          <a:noFill/>
          <a:ln/>
        </p:spPr>
        <p:txBody>
          <a:bodyPr wrap="square" rtlCol="0" anchor="ctr"/>
          <a:lstStyle/>
          <a:p>
            <a:pPr marL="0" indent="0">
              <a:buNone/>
            </a:pPr>
            <a:r>
              <a:rPr lang="en-US" sz="950" b="1" dirty="0">
                <a:solidFill>
                  <a:srgbClr val="E8A020"/>
                </a:solidFill>
                <a:latin typeface="Calibri" pitchFamily="34" charset="0"/>
                <a:ea typeface="Calibri" pitchFamily="34" charset="-122"/>
                <a:cs typeface="Calibri" pitchFamily="34" charset="-120"/>
              </a:rPr>
              <a:t>› </a:t>
            </a:r>
            <a:r>
              <a:rPr lang="en-US" sz="950" dirty="0">
                <a:solidFill>
                  <a:srgbClr val="8FA3BF"/>
                </a:solidFill>
                <a:latin typeface="Calibri" pitchFamily="34" charset="0"/>
                <a:ea typeface="Calibri" pitchFamily="34" charset="-122"/>
                <a:cs typeface="Calibri" pitchFamily="34" charset="-120"/>
              </a:rPr>
              <a:t>Higher votes = more reliable ratings — long film scores are more credible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E4A"/>
          </a:solidFill>
          <a:ln w="12700">
            <a:solidFill>
              <a:srgbClr val="1C2E4A"/>
            </a:solidFill>
            <a:prstDash val="solid"/>
          </a:ln>
        </p:spPr>
        <p:txBody>
          <a:bodyPr/>
          <a:lstStyle/>
          <a:p>
            <a:endParaRPr lang="en-US"/>
          </a:p>
        </p:txBody>
      </p:sp>
      <p:sp>
        <p:nvSpPr>
          <p:cNvPr id="3" name="Shape 1"/>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274320" y="256032"/>
            <a:ext cx="8229600" cy="50292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ROBUSTNESS CHECK</a:t>
            </a:r>
            <a:endParaRPr lang="en-US" sz="2200" dirty="0"/>
          </a:p>
        </p:txBody>
      </p:sp>
      <p:graphicFrame>
        <p:nvGraphicFramePr>
          <p:cNvPr id="5" name="Chart 0"/>
          <p:cNvGraphicFramePr/>
          <p:nvPr/>
        </p:nvGraphicFramePr>
        <p:xfrm>
          <a:off x="274320" y="1097280"/>
          <a:ext cx="5486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989320" y="1143000"/>
            <a:ext cx="2926080" cy="1115568"/>
          </a:xfrm>
          <a:prstGeom prst="rect">
            <a:avLst/>
          </a:prstGeom>
          <a:solidFill>
            <a:srgbClr val="FFFFFF"/>
          </a:solidFill>
          <a:ln w="12700">
            <a:solidFill>
              <a:srgbClr val="D0DCF0"/>
            </a:solidFill>
            <a:prstDash val="solid"/>
          </a:ln>
        </p:spPr>
        <p:txBody>
          <a:bodyPr/>
          <a:lstStyle/>
          <a:p>
            <a:endParaRPr lang="en-US"/>
          </a:p>
        </p:txBody>
      </p:sp>
      <p:sp>
        <p:nvSpPr>
          <p:cNvPr id="7" name="Shape 4"/>
          <p:cNvSpPr/>
          <p:nvPr/>
        </p:nvSpPr>
        <p:spPr>
          <a:xfrm>
            <a:off x="5989320" y="1143000"/>
            <a:ext cx="64008" cy="1115568"/>
          </a:xfrm>
          <a:prstGeom prst="rect">
            <a:avLst/>
          </a:prstGeom>
          <a:solidFill>
            <a:srgbClr val="27AE60"/>
          </a:solidFill>
          <a:ln w="12700">
            <a:solidFill>
              <a:srgbClr val="27AE60"/>
            </a:solidFill>
            <a:prstDash val="solid"/>
          </a:ln>
        </p:spPr>
        <p:txBody>
          <a:bodyPr/>
          <a:lstStyle/>
          <a:p>
            <a:endParaRPr lang="en-US"/>
          </a:p>
        </p:txBody>
      </p:sp>
      <p:sp>
        <p:nvSpPr>
          <p:cNvPr id="8" name="Text 5"/>
          <p:cNvSpPr/>
          <p:nvPr/>
        </p:nvSpPr>
        <p:spPr>
          <a:xfrm>
            <a:off x="6126480" y="1280160"/>
            <a:ext cx="269748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Pattern holds</a:t>
            </a:r>
            <a:endParaRPr lang="en-US" sz="1200" dirty="0"/>
          </a:p>
        </p:txBody>
      </p:sp>
      <p:sp>
        <p:nvSpPr>
          <p:cNvPr id="9" name="Text 6"/>
          <p:cNvSpPr/>
          <p:nvPr/>
        </p:nvSpPr>
        <p:spPr>
          <a:xfrm>
            <a:off x="6126480" y="1600200"/>
            <a:ext cx="2697480" cy="548640"/>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The same shape appears in both datasets — dip at 60-90, peak at &gt;180.</a:t>
            </a:r>
            <a:endParaRPr lang="en-US" sz="950" dirty="0"/>
          </a:p>
        </p:txBody>
      </p:sp>
      <p:sp>
        <p:nvSpPr>
          <p:cNvPr id="10" name="Shape 7"/>
          <p:cNvSpPr/>
          <p:nvPr/>
        </p:nvSpPr>
        <p:spPr>
          <a:xfrm>
            <a:off x="5989320" y="2404872"/>
            <a:ext cx="2926080" cy="1115568"/>
          </a:xfrm>
          <a:prstGeom prst="rect">
            <a:avLst/>
          </a:prstGeom>
          <a:solidFill>
            <a:srgbClr val="FFFFFF"/>
          </a:solidFill>
          <a:ln w="12700">
            <a:solidFill>
              <a:srgbClr val="D0DCF0"/>
            </a:solidFill>
            <a:prstDash val="solid"/>
          </a:ln>
        </p:spPr>
        <p:txBody>
          <a:bodyPr/>
          <a:lstStyle/>
          <a:p>
            <a:endParaRPr lang="en-US"/>
          </a:p>
        </p:txBody>
      </p:sp>
      <p:sp>
        <p:nvSpPr>
          <p:cNvPr id="11" name="Shape 8"/>
          <p:cNvSpPr/>
          <p:nvPr/>
        </p:nvSpPr>
        <p:spPr>
          <a:xfrm>
            <a:off x="5989320" y="2404872"/>
            <a:ext cx="64008" cy="1115568"/>
          </a:xfrm>
          <a:prstGeom prst="rect">
            <a:avLst/>
          </a:prstGeom>
          <a:solidFill>
            <a:srgbClr val="E8A020"/>
          </a:solidFill>
          <a:ln w="12700">
            <a:solidFill>
              <a:srgbClr val="E8A020"/>
            </a:solidFill>
            <a:prstDash val="solid"/>
          </a:ln>
        </p:spPr>
        <p:txBody>
          <a:bodyPr/>
          <a:lstStyle/>
          <a:p>
            <a:endParaRPr lang="en-US"/>
          </a:p>
        </p:txBody>
      </p:sp>
      <p:sp>
        <p:nvSpPr>
          <p:cNvPr id="12" name="Text 9"/>
          <p:cNvSpPr/>
          <p:nvPr/>
        </p:nvSpPr>
        <p:spPr>
          <a:xfrm>
            <a:off x="6126480" y="2542032"/>
            <a:ext cx="269748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Gap widens</a:t>
            </a:r>
            <a:endParaRPr lang="en-US" sz="1200" dirty="0"/>
          </a:p>
        </p:txBody>
      </p:sp>
      <p:sp>
        <p:nvSpPr>
          <p:cNvPr id="13" name="Text 10"/>
          <p:cNvSpPr/>
          <p:nvPr/>
        </p:nvSpPr>
        <p:spPr>
          <a:xfrm>
            <a:off x="6126480" y="2862072"/>
            <a:ext cx="2697480" cy="548640"/>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The spread between best and worst group grows from ~1.1 to ~1.5 points with the popularity filter.</a:t>
            </a:r>
            <a:endParaRPr lang="en-US" sz="950" dirty="0"/>
          </a:p>
        </p:txBody>
      </p:sp>
      <p:sp>
        <p:nvSpPr>
          <p:cNvPr id="14" name="Shape 11"/>
          <p:cNvSpPr/>
          <p:nvPr/>
        </p:nvSpPr>
        <p:spPr>
          <a:xfrm>
            <a:off x="5989320" y="3666744"/>
            <a:ext cx="2926080" cy="1115568"/>
          </a:xfrm>
          <a:prstGeom prst="rect">
            <a:avLst/>
          </a:prstGeom>
          <a:solidFill>
            <a:srgbClr val="FFFFFF"/>
          </a:solidFill>
          <a:ln w="12700">
            <a:solidFill>
              <a:srgbClr val="D0DCF0"/>
            </a:solidFill>
            <a:prstDash val="solid"/>
          </a:ln>
        </p:spPr>
        <p:txBody>
          <a:bodyPr/>
          <a:lstStyle/>
          <a:p>
            <a:endParaRPr lang="en-US"/>
          </a:p>
        </p:txBody>
      </p:sp>
      <p:sp>
        <p:nvSpPr>
          <p:cNvPr id="15" name="Shape 12"/>
          <p:cNvSpPr/>
          <p:nvPr/>
        </p:nvSpPr>
        <p:spPr>
          <a:xfrm>
            <a:off x="5989320" y="3666744"/>
            <a:ext cx="64008" cy="1115568"/>
          </a:xfrm>
          <a:prstGeom prst="rect">
            <a:avLst/>
          </a:prstGeom>
          <a:solidFill>
            <a:srgbClr val="1A56A0"/>
          </a:solidFill>
          <a:ln w="12700">
            <a:solidFill>
              <a:srgbClr val="1A56A0"/>
            </a:solidFill>
            <a:prstDash val="solid"/>
          </a:ln>
        </p:spPr>
        <p:txBody>
          <a:bodyPr/>
          <a:lstStyle/>
          <a:p>
            <a:endParaRPr lang="en-US"/>
          </a:p>
        </p:txBody>
      </p:sp>
      <p:sp>
        <p:nvSpPr>
          <p:cNvPr id="16" name="Text 13"/>
          <p:cNvSpPr/>
          <p:nvPr/>
        </p:nvSpPr>
        <p:spPr>
          <a:xfrm>
            <a:off x="6126480" y="3803904"/>
            <a:ext cx="269748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Stronger case</a:t>
            </a:r>
            <a:endParaRPr lang="en-US" sz="1200" dirty="0"/>
          </a:p>
        </p:txBody>
      </p:sp>
      <p:sp>
        <p:nvSpPr>
          <p:cNvPr id="17" name="Text 14"/>
          <p:cNvSpPr/>
          <p:nvPr/>
        </p:nvSpPr>
        <p:spPr>
          <a:xfrm>
            <a:off x="6126480" y="4123944"/>
            <a:ext cx="2697480" cy="548640"/>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The finding is more pronounced among films with real audience engagement, not weaker.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E4A"/>
          </a:solidFill>
          <a:ln w="12700">
            <a:solidFill>
              <a:srgbClr val="1C2E4A"/>
            </a:solidFill>
            <a:prstDash val="solid"/>
          </a:ln>
        </p:spPr>
        <p:txBody>
          <a:bodyPr/>
          <a:lstStyle/>
          <a:p>
            <a:endParaRPr lang="en-US"/>
          </a:p>
        </p:txBody>
      </p:sp>
      <p:sp>
        <p:nvSpPr>
          <p:cNvPr id="3" name="Shape 1"/>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274320" y="256032"/>
            <a:ext cx="8229600" cy="50292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GENRE-LEVEL RUNTIME INSIGHTS</a:t>
            </a:r>
            <a:endParaRPr lang="en-US" sz="2200" dirty="0"/>
          </a:p>
        </p:txBody>
      </p:sp>
      <p:sp>
        <p:nvSpPr>
          <p:cNvPr id="5" name="Shape 3"/>
          <p:cNvSpPr/>
          <p:nvPr/>
        </p:nvSpPr>
        <p:spPr>
          <a:xfrm>
            <a:off x="274320" y="1097280"/>
            <a:ext cx="8595360" cy="347472"/>
          </a:xfrm>
          <a:prstGeom prst="rect">
            <a:avLst/>
          </a:prstGeom>
          <a:solidFill>
            <a:srgbClr val="1C2E4A"/>
          </a:solidFill>
          <a:ln w="12700">
            <a:solidFill>
              <a:srgbClr val="1C2E4A"/>
            </a:solidFill>
            <a:prstDash val="solid"/>
          </a:ln>
        </p:spPr>
        <p:txBody>
          <a:bodyPr/>
          <a:lstStyle/>
          <a:p>
            <a:endParaRPr lang="en-US"/>
          </a:p>
        </p:txBody>
      </p:sp>
      <p:sp>
        <p:nvSpPr>
          <p:cNvPr id="6" name="Text 4"/>
          <p:cNvSpPr/>
          <p:nvPr/>
        </p:nvSpPr>
        <p:spPr>
          <a:xfrm>
            <a:off x="411480" y="1133856"/>
            <a:ext cx="1554480" cy="274320"/>
          </a:xfrm>
          <a:prstGeom prst="rect">
            <a:avLst/>
          </a:prstGeom>
          <a:noFill/>
          <a:ln/>
        </p:spPr>
        <p:txBody>
          <a:bodyPr wrap="square" lIns="0" tIns="0" rIns="0" bIns="0" rtlCol="0" anchor="ctr"/>
          <a:lstStyle/>
          <a:p>
            <a:pPr marL="0" indent="0">
              <a:buNone/>
            </a:pPr>
            <a:r>
              <a:rPr lang="en-US" sz="1000" b="1" dirty="0">
                <a:solidFill>
                  <a:srgbClr val="E8A020"/>
                </a:solidFill>
                <a:latin typeface="Calibri" pitchFamily="34" charset="0"/>
                <a:ea typeface="Calibri" pitchFamily="34" charset="-122"/>
                <a:cs typeface="Calibri" pitchFamily="34" charset="-120"/>
              </a:rPr>
              <a:t>Genre</a:t>
            </a:r>
            <a:endParaRPr lang="en-US" sz="1000" dirty="0"/>
          </a:p>
        </p:txBody>
      </p:sp>
      <p:sp>
        <p:nvSpPr>
          <p:cNvPr id="7" name="Text 5"/>
          <p:cNvSpPr/>
          <p:nvPr/>
        </p:nvSpPr>
        <p:spPr>
          <a:xfrm>
            <a:off x="2103120" y="1133856"/>
            <a:ext cx="1554480" cy="274320"/>
          </a:xfrm>
          <a:prstGeom prst="rect">
            <a:avLst/>
          </a:prstGeom>
          <a:noFill/>
          <a:ln/>
        </p:spPr>
        <p:txBody>
          <a:bodyPr wrap="square" lIns="0" tIns="0" rIns="0" bIns="0" rtlCol="0" anchor="ctr"/>
          <a:lstStyle/>
          <a:p>
            <a:pPr marL="0" indent="0">
              <a:buNone/>
            </a:pPr>
            <a:r>
              <a:rPr lang="en-US" sz="1000" b="1" dirty="0">
                <a:solidFill>
                  <a:srgbClr val="E8A020"/>
                </a:solidFill>
                <a:latin typeface="Calibri" pitchFamily="34" charset="0"/>
                <a:ea typeface="Calibri" pitchFamily="34" charset="-122"/>
                <a:cs typeface="Calibri" pitchFamily="34" charset="-120"/>
              </a:rPr>
              <a:t>Avoid</a:t>
            </a:r>
            <a:endParaRPr lang="en-US" sz="1000" dirty="0"/>
          </a:p>
        </p:txBody>
      </p:sp>
      <p:sp>
        <p:nvSpPr>
          <p:cNvPr id="8" name="Text 6"/>
          <p:cNvSpPr/>
          <p:nvPr/>
        </p:nvSpPr>
        <p:spPr>
          <a:xfrm>
            <a:off x="3794760" y="1133856"/>
            <a:ext cx="1554480" cy="274320"/>
          </a:xfrm>
          <a:prstGeom prst="rect">
            <a:avLst/>
          </a:prstGeom>
          <a:noFill/>
          <a:ln/>
        </p:spPr>
        <p:txBody>
          <a:bodyPr wrap="square" lIns="0" tIns="0" rIns="0" bIns="0" rtlCol="0" anchor="ctr"/>
          <a:lstStyle/>
          <a:p>
            <a:pPr marL="0" indent="0">
              <a:buNone/>
            </a:pPr>
            <a:r>
              <a:rPr lang="en-US" sz="1000" b="1" dirty="0">
                <a:solidFill>
                  <a:srgbClr val="E8A020"/>
                </a:solidFill>
                <a:latin typeface="Calibri" pitchFamily="34" charset="0"/>
                <a:ea typeface="Calibri" pitchFamily="34" charset="-122"/>
                <a:cs typeface="Calibri" pitchFamily="34" charset="-120"/>
              </a:rPr>
              <a:t>Target Runtime</a:t>
            </a:r>
            <a:endParaRPr lang="en-US" sz="1000" dirty="0"/>
          </a:p>
        </p:txBody>
      </p:sp>
      <p:sp>
        <p:nvSpPr>
          <p:cNvPr id="9" name="Text 7"/>
          <p:cNvSpPr/>
          <p:nvPr/>
        </p:nvSpPr>
        <p:spPr>
          <a:xfrm>
            <a:off x="5760720" y="1133856"/>
            <a:ext cx="2926080" cy="274320"/>
          </a:xfrm>
          <a:prstGeom prst="rect">
            <a:avLst/>
          </a:prstGeom>
          <a:noFill/>
          <a:ln/>
        </p:spPr>
        <p:txBody>
          <a:bodyPr wrap="square" lIns="0" tIns="0" rIns="0" bIns="0" rtlCol="0" anchor="ctr"/>
          <a:lstStyle/>
          <a:p>
            <a:pPr marL="0" indent="0">
              <a:buNone/>
            </a:pPr>
            <a:r>
              <a:rPr lang="en-US" sz="1000" b="1" dirty="0">
                <a:solidFill>
                  <a:srgbClr val="E8A020"/>
                </a:solidFill>
                <a:latin typeface="Calibri" pitchFamily="34" charset="0"/>
                <a:ea typeface="Calibri" pitchFamily="34" charset="-122"/>
                <a:cs typeface="Calibri" pitchFamily="34" charset="-120"/>
              </a:rPr>
              <a:t>Insight</a:t>
            </a:r>
            <a:endParaRPr lang="en-US" sz="1000" dirty="0"/>
          </a:p>
        </p:txBody>
      </p:sp>
      <p:sp>
        <p:nvSpPr>
          <p:cNvPr id="10" name="Shape 8"/>
          <p:cNvSpPr/>
          <p:nvPr/>
        </p:nvSpPr>
        <p:spPr>
          <a:xfrm>
            <a:off x="274320" y="1481328"/>
            <a:ext cx="8595360" cy="402336"/>
          </a:xfrm>
          <a:prstGeom prst="rect">
            <a:avLst/>
          </a:prstGeom>
          <a:solidFill>
            <a:srgbClr val="FFFFFF"/>
          </a:solidFill>
          <a:ln w="6350">
            <a:solidFill>
              <a:srgbClr val="D8E4F0"/>
            </a:solidFill>
            <a:prstDash val="solid"/>
          </a:ln>
        </p:spPr>
        <p:txBody>
          <a:bodyPr/>
          <a:lstStyle/>
          <a:p>
            <a:endParaRPr lang="en-US"/>
          </a:p>
        </p:txBody>
      </p:sp>
      <p:sp>
        <p:nvSpPr>
          <p:cNvPr id="11" name="Text 9"/>
          <p:cNvSpPr/>
          <p:nvPr/>
        </p:nvSpPr>
        <p:spPr>
          <a:xfrm>
            <a:off x="411480" y="1563624"/>
            <a:ext cx="1554480" cy="237744"/>
          </a:xfrm>
          <a:prstGeom prst="rect">
            <a:avLst/>
          </a:prstGeom>
          <a:noFill/>
          <a:ln/>
        </p:spPr>
        <p:txBody>
          <a:bodyPr wrap="square" lIns="0" tIns="0" rIns="0" bIns="0" rtlCol="0" anchor="ctr"/>
          <a:lstStyle/>
          <a:p>
            <a:pPr marL="0" indent="0">
              <a:buNone/>
            </a:pPr>
            <a:r>
              <a:rPr lang="en-US" sz="1100" b="1" dirty="0">
                <a:solidFill>
                  <a:srgbClr val="1C2E4A"/>
                </a:solidFill>
                <a:latin typeface="Calibri" pitchFamily="34" charset="0"/>
                <a:ea typeface="Calibri" pitchFamily="34" charset="-122"/>
                <a:cs typeface="Calibri" pitchFamily="34" charset="-120"/>
              </a:rPr>
              <a:t>Drama</a:t>
            </a:r>
            <a:endParaRPr lang="en-US" sz="1100" dirty="0"/>
          </a:p>
        </p:txBody>
      </p:sp>
      <p:sp>
        <p:nvSpPr>
          <p:cNvPr id="12" name="Text 10"/>
          <p:cNvSpPr/>
          <p:nvPr/>
        </p:nvSpPr>
        <p:spPr>
          <a:xfrm>
            <a:off x="2103120" y="1563624"/>
            <a:ext cx="1554480" cy="237744"/>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60–90 min</a:t>
            </a:r>
            <a:endParaRPr lang="en-US" sz="1000" dirty="0"/>
          </a:p>
        </p:txBody>
      </p:sp>
      <p:sp>
        <p:nvSpPr>
          <p:cNvPr id="13" name="Text 11"/>
          <p:cNvSpPr/>
          <p:nvPr/>
        </p:nvSpPr>
        <p:spPr>
          <a:xfrm>
            <a:off x="3794760" y="1563624"/>
            <a:ext cx="1783080" cy="237744"/>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180+ min</a:t>
            </a:r>
            <a:endParaRPr lang="en-US" sz="1000" dirty="0"/>
          </a:p>
        </p:txBody>
      </p:sp>
      <p:sp>
        <p:nvSpPr>
          <p:cNvPr id="14" name="Text 12"/>
          <p:cNvSpPr/>
          <p:nvPr/>
        </p:nvSpPr>
        <p:spPr>
          <a:xfrm>
            <a:off x="5760720" y="1563624"/>
            <a:ext cx="2926080" cy="237744"/>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Most sensitive to runtime — rewards narrative depth</a:t>
            </a:r>
            <a:endParaRPr lang="en-US" sz="950" dirty="0"/>
          </a:p>
        </p:txBody>
      </p:sp>
      <p:sp>
        <p:nvSpPr>
          <p:cNvPr id="15" name="Shape 13"/>
          <p:cNvSpPr/>
          <p:nvPr/>
        </p:nvSpPr>
        <p:spPr>
          <a:xfrm>
            <a:off x="274320" y="1920240"/>
            <a:ext cx="8595360" cy="402336"/>
          </a:xfrm>
          <a:prstGeom prst="rect">
            <a:avLst/>
          </a:prstGeom>
          <a:solidFill>
            <a:srgbClr val="EEF3FA"/>
          </a:solidFill>
          <a:ln w="6350">
            <a:solidFill>
              <a:srgbClr val="D8E4F0"/>
            </a:solidFill>
            <a:prstDash val="solid"/>
          </a:ln>
        </p:spPr>
        <p:txBody>
          <a:bodyPr/>
          <a:lstStyle/>
          <a:p>
            <a:endParaRPr lang="en-US"/>
          </a:p>
        </p:txBody>
      </p:sp>
      <p:sp>
        <p:nvSpPr>
          <p:cNvPr id="16" name="Text 14"/>
          <p:cNvSpPr/>
          <p:nvPr/>
        </p:nvSpPr>
        <p:spPr>
          <a:xfrm>
            <a:off x="411480" y="2002536"/>
            <a:ext cx="1554480" cy="237744"/>
          </a:xfrm>
          <a:prstGeom prst="rect">
            <a:avLst/>
          </a:prstGeom>
          <a:noFill/>
          <a:ln/>
        </p:spPr>
        <p:txBody>
          <a:bodyPr wrap="square" lIns="0" tIns="0" rIns="0" bIns="0" rtlCol="0" anchor="ctr"/>
          <a:lstStyle/>
          <a:p>
            <a:pPr marL="0" indent="0">
              <a:buNone/>
            </a:pPr>
            <a:r>
              <a:rPr lang="en-US" sz="1100" b="1" dirty="0">
                <a:solidFill>
                  <a:srgbClr val="1C2E4A"/>
                </a:solidFill>
                <a:latin typeface="Calibri" pitchFamily="34" charset="0"/>
                <a:ea typeface="Calibri" pitchFamily="34" charset="-122"/>
                <a:cs typeface="Calibri" pitchFamily="34" charset="-120"/>
              </a:rPr>
              <a:t>Documentary</a:t>
            </a:r>
            <a:endParaRPr lang="en-US" sz="1100" dirty="0"/>
          </a:p>
        </p:txBody>
      </p:sp>
      <p:sp>
        <p:nvSpPr>
          <p:cNvPr id="17" name="Text 15"/>
          <p:cNvSpPr/>
          <p:nvPr/>
        </p:nvSpPr>
        <p:spPr>
          <a:xfrm>
            <a:off x="2103120" y="2002536"/>
            <a:ext cx="1554480" cy="237744"/>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&lt; 90 min</a:t>
            </a:r>
            <a:endParaRPr lang="en-US" sz="1000" dirty="0"/>
          </a:p>
        </p:txBody>
      </p:sp>
      <p:sp>
        <p:nvSpPr>
          <p:cNvPr id="18" name="Text 16"/>
          <p:cNvSpPr/>
          <p:nvPr/>
        </p:nvSpPr>
        <p:spPr>
          <a:xfrm>
            <a:off x="3794760" y="2002536"/>
            <a:ext cx="1783080" cy="237744"/>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180+ min</a:t>
            </a:r>
            <a:endParaRPr lang="en-US" sz="1000" dirty="0"/>
          </a:p>
        </p:txBody>
      </p:sp>
      <p:sp>
        <p:nvSpPr>
          <p:cNvPr id="19" name="Text 17"/>
          <p:cNvSpPr/>
          <p:nvPr/>
        </p:nvSpPr>
        <p:spPr>
          <a:xfrm>
            <a:off x="5760720" y="2002536"/>
            <a:ext cx="2926080" cy="237744"/>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Consistently top-rated; length enhances credibility</a:t>
            </a:r>
            <a:endParaRPr lang="en-US" sz="950" dirty="0"/>
          </a:p>
        </p:txBody>
      </p:sp>
      <p:sp>
        <p:nvSpPr>
          <p:cNvPr id="20" name="Shape 18"/>
          <p:cNvSpPr/>
          <p:nvPr/>
        </p:nvSpPr>
        <p:spPr>
          <a:xfrm>
            <a:off x="274320" y="2359152"/>
            <a:ext cx="8595360" cy="402336"/>
          </a:xfrm>
          <a:prstGeom prst="rect">
            <a:avLst/>
          </a:prstGeom>
          <a:solidFill>
            <a:srgbClr val="FFFFFF"/>
          </a:solidFill>
          <a:ln w="6350">
            <a:solidFill>
              <a:srgbClr val="D8E4F0"/>
            </a:solidFill>
            <a:prstDash val="solid"/>
          </a:ln>
        </p:spPr>
        <p:txBody>
          <a:bodyPr/>
          <a:lstStyle/>
          <a:p>
            <a:endParaRPr lang="en-US"/>
          </a:p>
        </p:txBody>
      </p:sp>
      <p:sp>
        <p:nvSpPr>
          <p:cNvPr id="21" name="Text 19"/>
          <p:cNvSpPr/>
          <p:nvPr/>
        </p:nvSpPr>
        <p:spPr>
          <a:xfrm>
            <a:off x="411480" y="2441448"/>
            <a:ext cx="1554480" cy="237744"/>
          </a:xfrm>
          <a:prstGeom prst="rect">
            <a:avLst/>
          </a:prstGeom>
          <a:noFill/>
          <a:ln/>
        </p:spPr>
        <p:txBody>
          <a:bodyPr wrap="square" lIns="0" tIns="0" rIns="0" bIns="0" rtlCol="0" anchor="ctr"/>
          <a:lstStyle/>
          <a:p>
            <a:pPr marL="0" indent="0">
              <a:buNone/>
            </a:pPr>
            <a:r>
              <a:rPr lang="en-US" sz="1100" b="1" dirty="0">
                <a:solidFill>
                  <a:srgbClr val="1C2E4A"/>
                </a:solidFill>
                <a:latin typeface="Calibri" pitchFamily="34" charset="0"/>
                <a:ea typeface="Calibri" pitchFamily="34" charset="-122"/>
                <a:cs typeface="Calibri" pitchFamily="34" charset="-120"/>
              </a:rPr>
              <a:t>Action</a:t>
            </a:r>
            <a:endParaRPr lang="en-US" sz="1100" dirty="0"/>
          </a:p>
        </p:txBody>
      </p:sp>
      <p:sp>
        <p:nvSpPr>
          <p:cNvPr id="22" name="Text 20"/>
          <p:cNvSpPr/>
          <p:nvPr/>
        </p:nvSpPr>
        <p:spPr>
          <a:xfrm>
            <a:off x="2103120" y="2441448"/>
            <a:ext cx="1554480" cy="237744"/>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60–90 min</a:t>
            </a:r>
            <a:endParaRPr lang="en-US" sz="1000" dirty="0"/>
          </a:p>
        </p:txBody>
      </p:sp>
      <p:sp>
        <p:nvSpPr>
          <p:cNvPr id="23" name="Text 21"/>
          <p:cNvSpPr/>
          <p:nvPr/>
        </p:nvSpPr>
        <p:spPr>
          <a:xfrm>
            <a:off x="3794760" y="2441448"/>
            <a:ext cx="1783080" cy="237744"/>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180+ min</a:t>
            </a:r>
            <a:endParaRPr lang="en-US" sz="1000" dirty="0"/>
          </a:p>
        </p:txBody>
      </p:sp>
      <p:sp>
        <p:nvSpPr>
          <p:cNvPr id="24" name="Text 22"/>
          <p:cNvSpPr/>
          <p:nvPr/>
        </p:nvSpPr>
        <p:spPr>
          <a:xfrm>
            <a:off x="5760720" y="2441448"/>
            <a:ext cx="2926080" cy="237744"/>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Steepest drop at short runtimes; needs room to build</a:t>
            </a:r>
            <a:endParaRPr lang="en-US" sz="950" dirty="0"/>
          </a:p>
        </p:txBody>
      </p:sp>
      <p:sp>
        <p:nvSpPr>
          <p:cNvPr id="25" name="Shape 23"/>
          <p:cNvSpPr/>
          <p:nvPr/>
        </p:nvSpPr>
        <p:spPr>
          <a:xfrm>
            <a:off x="274320" y="2798064"/>
            <a:ext cx="8595360" cy="402336"/>
          </a:xfrm>
          <a:prstGeom prst="rect">
            <a:avLst/>
          </a:prstGeom>
          <a:solidFill>
            <a:srgbClr val="EEF3FA"/>
          </a:solidFill>
          <a:ln w="6350">
            <a:solidFill>
              <a:srgbClr val="D8E4F0"/>
            </a:solidFill>
            <a:prstDash val="solid"/>
          </a:ln>
        </p:spPr>
        <p:txBody>
          <a:bodyPr/>
          <a:lstStyle/>
          <a:p>
            <a:endParaRPr lang="en-US"/>
          </a:p>
        </p:txBody>
      </p:sp>
      <p:sp>
        <p:nvSpPr>
          <p:cNvPr id="26" name="Text 24"/>
          <p:cNvSpPr/>
          <p:nvPr/>
        </p:nvSpPr>
        <p:spPr>
          <a:xfrm>
            <a:off x="411480" y="2880360"/>
            <a:ext cx="1554480" cy="237744"/>
          </a:xfrm>
          <a:prstGeom prst="rect">
            <a:avLst/>
          </a:prstGeom>
          <a:noFill/>
          <a:ln/>
        </p:spPr>
        <p:txBody>
          <a:bodyPr wrap="square" lIns="0" tIns="0" rIns="0" bIns="0" rtlCol="0" anchor="ctr"/>
          <a:lstStyle/>
          <a:p>
            <a:pPr marL="0" indent="0">
              <a:buNone/>
            </a:pPr>
            <a:r>
              <a:rPr lang="en-US" sz="1100" b="1" dirty="0">
                <a:solidFill>
                  <a:srgbClr val="1C2E4A"/>
                </a:solidFill>
                <a:latin typeface="Calibri" pitchFamily="34" charset="0"/>
                <a:ea typeface="Calibri" pitchFamily="34" charset="-122"/>
                <a:cs typeface="Calibri" pitchFamily="34" charset="-120"/>
              </a:rPr>
              <a:t>Animation</a:t>
            </a:r>
            <a:endParaRPr lang="en-US" sz="1100" dirty="0"/>
          </a:p>
        </p:txBody>
      </p:sp>
      <p:sp>
        <p:nvSpPr>
          <p:cNvPr id="27" name="Text 25"/>
          <p:cNvSpPr/>
          <p:nvPr/>
        </p:nvSpPr>
        <p:spPr>
          <a:xfrm>
            <a:off x="2103120" y="2880360"/>
            <a:ext cx="1554480" cy="237744"/>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&lt; 90 min</a:t>
            </a:r>
            <a:endParaRPr lang="en-US" sz="1000" dirty="0"/>
          </a:p>
        </p:txBody>
      </p:sp>
      <p:sp>
        <p:nvSpPr>
          <p:cNvPr id="28" name="Text 26"/>
          <p:cNvSpPr/>
          <p:nvPr/>
        </p:nvSpPr>
        <p:spPr>
          <a:xfrm>
            <a:off x="3794760" y="2880360"/>
            <a:ext cx="1783080" cy="237744"/>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150–180 min</a:t>
            </a:r>
            <a:endParaRPr lang="en-US" sz="1000" dirty="0"/>
          </a:p>
        </p:txBody>
      </p:sp>
      <p:sp>
        <p:nvSpPr>
          <p:cNvPr id="29" name="Text 27"/>
          <p:cNvSpPr/>
          <p:nvPr/>
        </p:nvSpPr>
        <p:spPr>
          <a:xfrm>
            <a:off x="5760720" y="2880360"/>
            <a:ext cx="2926080" cy="237744"/>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Strong upward trend; peaks before very long runtimes</a:t>
            </a:r>
            <a:endParaRPr lang="en-US" sz="950" dirty="0"/>
          </a:p>
        </p:txBody>
      </p:sp>
      <p:sp>
        <p:nvSpPr>
          <p:cNvPr id="30" name="Shape 28"/>
          <p:cNvSpPr/>
          <p:nvPr/>
        </p:nvSpPr>
        <p:spPr>
          <a:xfrm>
            <a:off x="274320" y="3236976"/>
            <a:ext cx="8595360" cy="402336"/>
          </a:xfrm>
          <a:prstGeom prst="rect">
            <a:avLst/>
          </a:prstGeom>
          <a:solidFill>
            <a:srgbClr val="FFFFFF"/>
          </a:solidFill>
          <a:ln w="6350">
            <a:solidFill>
              <a:srgbClr val="D8E4F0"/>
            </a:solidFill>
            <a:prstDash val="solid"/>
          </a:ln>
        </p:spPr>
        <p:txBody>
          <a:bodyPr/>
          <a:lstStyle/>
          <a:p>
            <a:endParaRPr lang="en-US"/>
          </a:p>
        </p:txBody>
      </p:sp>
      <p:sp>
        <p:nvSpPr>
          <p:cNvPr id="31" name="Text 29"/>
          <p:cNvSpPr/>
          <p:nvPr/>
        </p:nvSpPr>
        <p:spPr>
          <a:xfrm>
            <a:off x="411480" y="3319272"/>
            <a:ext cx="1554480" cy="237744"/>
          </a:xfrm>
          <a:prstGeom prst="rect">
            <a:avLst/>
          </a:prstGeom>
          <a:noFill/>
          <a:ln/>
        </p:spPr>
        <p:txBody>
          <a:bodyPr wrap="square" lIns="0" tIns="0" rIns="0" bIns="0" rtlCol="0" anchor="ctr"/>
          <a:lstStyle/>
          <a:p>
            <a:pPr marL="0" indent="0">
              <a:buNone/>
            </a:pPr>
            <a:r>
              <a:rPr lang="en-US" sz="1100" b="1" dirty="0">
                <a:solidFill>
                  <a:srgbClr val="1C2E4A"/>
                </a:solidFill>
                <a:latin typeface="Calibri" pitchFamily="34" charset="0"/>
                <a:ea typeface="Calibri" pitchFamily="34" charset="-122"/>
                <a:cs typeface="Calibri" pitchFamily="34" charset="-120"/>
              </a:rPr>
              <a:t>Horror</a:t>
            </a:r>
            <a:endParaRPr lang="en-US" sz="1100" dirty="0"/>
          </a:p>
        </p:txBody>
      </p:sp>
      <p:sp>
        <p:nvSpPr>
          <p:cNvPr id="32" name="Text 30"/>
          <p:cNvSpPr/>
          <p:nvPr/>
        </p:nvSpPr>
        <p:spPr>
          <a:xfrm>
            <a:off x="2103120" y="3319272"/>
            <a:ext cx="1554480" cy="237744"/>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60–90 min</a:t>
            </a:r>
            <a:endParaRPr lang="en-US" sz="1000" dirty="0"/>
          </a:p>
        </p:txBody>
      </p:sp>
      <p:sp>
        <p:nvSpPr>
          <p:cNvPr id="33" name="Text 31"/>
          <p:cNvSpPr/>
          <p:nvPr/>
        </p:nvSpPr>
        <p:spPr>
          <a:xfrm>
            <a:off x="3794760" y="3319272"/>
            <a:ext cx="1783080" cy="237744"/>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150–180 min</a:t>
            </a:r>
            <a:endParaRPr lang="en-US" sz="1000" dirty="0"/>
          </a:p>
        </p:txBody>
      </p:sp>
      <p:sp>
        <p:nvSpPr>
          <p:cNvPr id="34" name="Text 32"/>
          <p:cNvSpPr/>
          <p:nvPr/>
        </p:nvSpPr>
        <p:spPr>
          <a:xfrm>
            <a:off x="5760720" y="3319272"/>
            <a:ext cx="2926080" cy="237744"/>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Most penalised for short runtimes across all genres</a:t>
            </a:r>
            <a:endParaRPr lang="en-US" sz="950" dirty="0"/>
          </a:p>
        </p:txBody>
      </p:sp>
      <p:sp>
        <p:nvSpPr>
          <p:cNvPr id="35" name="Shape 33"/>
          <p:cNvSpPr/>
          <p:nvPr/>
        </p:nvSpPr>
        <p:spPr>
          <a:xfrm>
            <a:off x="274320" y="3675888"/>
            <a:ext cx="8595360" cy="402336"/>
          </a:xfrm>
          <a:prstGeom prst="rect">
            <a:avLst/>
          </a:prstGeom>
          <a:solidFill>
            <a:srgbClr val="EEF3FA"/>
          </a:solidFill>
          <a:ln w="6350">
            <a:solidFill>
              <a:srgbClr val="D8E4F0"/>
            </a:solidFill>
            <a:prstDash val="solid"/>
          </a:ln>
        </p:spPr>
        <p:txBody>
          <a:bodyPr/>
          <a:lstStyle/>
          <a:p>
            <a:endParaRPr lang="en-US"/>
          </a:p>
        </p:txBody>
      </p:sp>
      <p:sp>
        <p:nvSpPr>
          <p:cNvPr id="36" name="Text 34"/>
          <p:cNvSpPr/>
          <p:nvPr/>
        </p:nvSpPr>
        <p:spPr>
          <a:xfrm>
            <a:off x="411480" y="3758184"/>
            <a:ext cx="1554480" cy="237744"/>
          </a:xfrm>
          <a:prstGeom prst="rect">
            <a:avLst/>
          </a:prstGeom>
          <a:noFill/>
          <a:ln/>
        </p:spPr>
        <p:txBody>
          <a:bodyPr wrap="square" lIns="0" tIns="0" rIns="0" bIns="0" rtlCol="0" anchor="ctr"/>
          <a:lstStyle/>
          <a:p>
            <a:pPr marL="0" indent="0">
              <a:buNone/>
            </a:pPr>
            <a:r>
              <a:rPr lang="en-US" sz="1100" b="1" dirty="0">
                <a:solidFill>
                  <a:srgbClr val="1C2E4A"/>
                </a:solidFill>
                <a:latin typeface="Calibri" pitchFamily="34" charset="0"/>
                <a:ea typeface="Calibri" pitchFamily="34" charset="-122"/>
                <a:cs typeface="Calibri" pitchFamily="34" charset="-120"/>
              </a:rPr>
              <a:t>Comedy</a:t>
            </a:r>
            <a:endParaRPr lang="en-US" sz="1100" dirty="0"/>
          </a:p>
        </p:txBody>
      </p:sp>
      <p:sp>
        <p:nvSpPr>
          <p:cNvPr id="37" name="Text 35"/>
          <p:cNvSpPr/>
          <p:nvPr/>
        </p:nvSpPr>
        <p:spPr>
          <a:xfrm>
            <a:off x="2103120" y="3758184"/>
            <a:ext cx="1554480" cy="237744"/>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60–90 min</a:t>
            </a:r>
            <a:endParaRPr lang="en-US" sz="1000" dirty="0"/>
          </a:p>
        </p:txBody>
      </p:sp>
      <p:sp>
        <p:nvSpPr>
          <p:cNvPr id="38" name="Text 36"/>
          <p:cNvSpPr/>
          <p:nvPr/>
        </p:nvSpPr>
        <p:spPr>
          <a:xfrm>
            <a:off x="3794760" y="3758184"/>
            <a:ext cx="1783080" cy="237744"/>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120+ min</a:t>
            </a:r>
            <a:endParaRPr lang="en-US" sz="1000" dirty="0"/>
          </a:p>
        </p:txBody>
      </p:sp>
      <p:sp>
        <p:nvSpPr>
          <p:cNvPr id="39" name="Text 37"/>
          <p:cNvSpPr/>
          <p:nvPr/>
        </p:nvSpPr>
        <p:spPr>
          <a:xfrm>
            <a:off x="5760720" y="3758184"/>
            <a:ext cx="2926080" cy="237744"/>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Flattest trend — content quality matters more than length</a:t>
            </a:r>
            <a:endParaRPr lang="en-US" sz="950" dirty="0"/>
          </a:p>
        </p:txBody>
      </p:sp>
      <p:sp>
        <p:nvSpPr>
          <p:cNvPr id="40" name="Shape 38"/>
          <p:cNvSpPr/>
          <p:nvPr/>
        </p:nvSpPr>
        <p:spPr>
          <a:xfrm>
            <a:off x="274320" y="4114800"/>
            <a:ext cx="8595360" cy="402336"/>
          </a:xfrm>
          <a:prstGeom prst="rect">
            <a:avLst/>
          </a:prstGeom>
          <a:solidFill>
            <a:srgbClr val="FFFFFF"/>
          </a:solidFill>
          <a:ln w="6350">
            <a:solidFill>
              <a:srgbClr val="D8E4F0"/>
            </a:solidFill>
            <a:prstDash val="solid"/>
          </a:ln>
        </p:spPr>
        <p:txBody>
          <a:bodyPr/>
          <a:lstStyle/>
          <a:p>
            <a:endParaRPr lang="en-US"/>
          </a:p>
        </p:txBody>
      </p:sp>
      <p:sp>
        <p:nvSpPr>
          <p:cNvPr id="41" name="Text 39"/>
          <p:cNvSpPr/>
          <p:nvPr/>
        </p:nvSpPr>
        <p:spPr>
          <a:xfrm>
            <a:off x="411480" y="4197096"/>
            <a:ext cx="1554480" cy="237744"/>
          </a:xfrm>
          <a:prstGeom prst="rect">
            <a:avLst/>
          </a:prstGeom>
          <a:noFill/>
          <a:ln/>
        </p:spPr>
        <p:txBody>
          <a:bodyPr wrap="square" lIns="0" tIns="0" rIns="0" bIns="0" rtlCol="0" anchor="ctr"/>
          <a:lstStyle/>
          <a:p>
            <a:pPr marL="0" indent="0">
              <a:buNone/>
            </a:pPr>
            <a:r>
              <a:rPr lang="en-US" sz="1100" b="1" dirty="0">
                <a:solidFill>
                  <a:srgbClr val="1C2E4A"/>
                </a:solidFill>
                <a:latin typeface="Calibri" pitchFamily="34" charset="0"/>
                <a:ea typeface="Calibri" pitchFamily="34" charset="-122"/>
                <a:cs typeface="Calibri" pitchFamily="34" charset="-120"/>
              </a:rPr>
              <a:t>Thriller</a:t>
            </a:r>
            <a:endParaRPr lang="en-US" sz="1100" dirty="0"/>
          </a:p>
        </p:txBody>
      </p:sp>
      <p:sp>
        <p:nvSpPr>
          <p:cNvPr id="42" name="Text 40"/>
          <p:cNvSpPr/>
          <p:nvPr/>
        </p:nvSpPr>
        <p:spPr>
          <a:xfrm>
            <a:off x="2103120" y="4197096"/>
            <a:ext cx="1554480" cy="237744"/>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60–90 min</a:t>
            </a:r>
            <a:endParaRPr lang="en-US" sz="1000" dirty="0"/>
          </a:p>
        </p:txBody>
      </p:sp>
      <p:sp>
        <p:nvSpPr>
          <p:cNvPr id="43" name="Text 41"/>
          <p:cNvSpPr/>
          <p:nvPr/>
        </p:nvSpPr>
        <p:spPr>
          <a:xfrm>
            <a:off x="3794760" y="4197096"/>
            <a:ext cx="1783080" cy="237744"/>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150+ min</a:t>
            </a:r>
            <a:endParaRPr lang="en-US" sz="1000" dirty="0"/>
          </a:p>
        </p:txBody>
      </p:sp>
      <p:sp>
        <p:nvSpPr>
          <p:cNvPr id="44" name="Text 42"/>
          <p:cNvSpPr/>
          <p:nvPr/>
        </p:nvSpPr>
        <p:spPr>
          <a:xfrm>
            <a:off x="5760720" y="4197096"/>
            <a:ext cx="2926080" cy="237744"/>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Steady recovery after the 60–90 min dip</a:t>
            </a:r>
            <a:endParaRPr lang="en-US" sz="950" dirty="0"/>
          </a:p>
        </p:txBody>
      </p:sp>
      <p:sp>
        <p:nvSpPr>
          <p:cNvPr id="45" name="Shape 43"/>
          <p:cNvSpPr/>
          <p:nvPr/>
        </p:nvSpPr>
        <p:spPr>
          <a:xfrm>
            <a:off x="274320" y="4553712"/>
            <a:ext cx="8595360" cy="402336"/>
          </a:xfrm>
          <a:prstGeom prst="rect">
            <a:avLst/>
          </a:prstGeom>
          <a:solidFill>
            <a:srgbClr val="EEF3FA"/>
          </a:solidFill>
          <a:ln w="6350">
            <a:solidFill>
              <a:srgbClr val="D8E4F0"/>
            </a:solidFill>
            <a:prstDash val="solid"/>
          </a:ln>
        </p:spPr>
        <p:txBody>
          <a:bodyPr/>
          <a:lstStyle/>
          <a:p>
            <a:endParaRPr lang="en-US"/>
          </a:p>
        </p:txBody>
      </p:sp>
      <p:sp>
        <p:nvSpPr>
          <p:cNvPr id="46" name="Text 44"/>
          <p:cNvSpPr/>
          <p:nvPr/>
        </p:nvSpPr>
        <p:spPr>
          <a:xfrm>
            <a:off x="411480" y="4636008"/>
            <a:ext cx="1554480" cy="237744"/>
          </a:xfrm>
          <a:prstGeom prst="rect">
            <a:avLst/>
          </a:prstGeom>
          <a:noFill/>
          <a:ln/>
        </p:spPr>
        <p:txBody>
          <a:bodyPr wrap="square" lIns="0" tIns="0" rIns="0" bIns="0" rtlCol="0" anchor="ctr"/>
          <a:lstStyle/>
          <a:p>
            <a:pPr marL="0" indent="0">
              <a:buNone/>
            </a:pPr>
            <a:r>
              <a:rPr lang="en-US" sz="1100" b="1" dirty="0">
                <a:solidFill>
                  <a:srgbClr val="1C2E4A"/>
                </a:solidFill>
                <a:latin typeface="Calibri" pitchFamily="34" charset="0"/>
                <a:ea typeface="Calibri" pitchFamily="34" charset="-122"/>
                <a:cs typeface="Calibri" pitchFamily="34" charset="-120"/>
              </a:rPr>
              <a:t>Romance</a:t>
            </a:r>
            <a:endParaRPr lang="en-US" sz="1100" dirty="0"/>
          </a:p>
        </p:txBody>
      </p:sp>
      <p:sp>
        <p:nvSpPr>
          <p:cNvPr id="47" name="Text 45"/>
          <p:cNvSpPr/>
          <p:nvPr/>
        </p:nvSpPr>
        <p:spPr>
          <a:xfrm>
            <a:off x="2103120" y="4636008"/>
            <a:ext cx="1554480" cy="237744"/>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60–90 min</a:t>
            </a:r>
            <a:endParaRPr lang="en-US" sz="1000" dirty="0"/>
          </a:p>
        </p:txBody>
      </p:sp>
      <p:sp>
        <p:nvSpPr>
          <p:cNvPr id="48" name="Text 46"/>
          <p:cNvSpPr/>
          <p:nvPr/>
        </p:nvSpPr>
        <p:spPr>
          <a:xfrm>
            <a:off x="3794760" y="4636008"/>
            <a:ext cx="1783080" cy="237744"/>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150+ min</a:t>
            </a:r>
            <a:endParaRPr lang="en-US" sz="1000" dirty="0"/>
          </a:p>
        </p:txBody>
      </p:sp>
      <p:sp>
        <p:nvSpPr>
          <p:cNvPr id="49" name="Text 47"/>
          <p:cNvSpPr/>
          <p:nvPr/>
        </p:nvSpPr>
        <p:spPr>
          <a:xfrm>
            <a:off x="5760720" y="4636008"/>
            <a:ext cx="2926080" cy="237744"/>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Audience rewards emotional development over time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3" name="Text 1"/>
          <p:cNvSpPr/>
          <p:nvPr/>
        </p:nvSpPr>
        <p:spPr>
          <a:xfrm>
            <a:off x="274320" y="201168"/>
            <a:ext cx="8229600" cy="365760"/>
          </a:xfrm>
          <a:prstGeom prst="rect">
            <a:avLst/>
          </a:prstGeom>
          <a:noFill/>
          <a:ln/>
        </p:spPr>
        <p:txBody>
          <a:bodyPr wrap="square" rtlCol="0" anchor="ctr"/>
          <a:lstStyle/>
          <a:p>
            <a:pPr marL="0" indent="0">
              <a:buNone/>
            </a:pPr>
            <a:r>
              <a:rPr lang="en-US" sz="1100" b="1" kern="0" spc="300" dirty="0">
                <a:solidFill>
                  <a:srgbClr val="E8A020"/>
                </a:solidFill>
                <a:latin typeface="Calibri" pitchFamily="34" charset="0"/>
                <a:ea typeface="Calibri" pitchFamily="34" charset="-122"/>
                <a:cs typeface="Calibri" pitchFamily="34" charset="-120"/>
              </a:rPr>
              <a:t>GENRE SPOTLIGHT</a:t>
            </a:r>
            <a:endParaRPr lang="en-US" sz="1100" dirty="0"/>
          </a:p>
        </p:txBody>
      </p:sp>
      <p:sp>
        <p:nvSpPr>
          <p:cNvPr id="4" name="Text 2"/>
          <p:cNvSpPr/>
          <p:nvPr/>
        </p:nvSpPr>
        <p:spPr>
          <a:xfrm>
            <a:off x="274320" y="566928"/>
            <a:ext cx="8595360" cy="59436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Horror vs Comedy: Two Very Different Stories</a:t>
            </a:r>
            <a:endParaRPr lang="en-US" sz="2600" dirty="0"/>
          </a:p>
        </p:txBody>
      </p:sp>
      <p:graphicFrame>
        <p:nvGraphicFramePr>
          <p:cNvPr id="5" name="Chart 0"/>
          <p:cNvGraphicFramePr/>
          <p:nvPr/>
        </p:nvGraphicFramePr>
        <p:xfrm>
          <a:off x="274320" y="1325880"/>
          <a:ext cx="411480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274320" y="1261872"/>
            <a:ext cx="1188720" cy="292608"/>
          </a:xfrm>
          <a:prstGeom prst="rect">
            <a:avLst/>
          </a:prstGeom>
          <a:solidFill>
            <a:srgbClr val="E74C3C"/>
          </a:solidFill>
          <a:ln w="12700">
            <a:solidFill>
              <a:srgbClr val="E74C3C"/>
            </a:solidFill>
            <a:prstDash val="solid"/>
          </a:ln>
        </p:spPr>
        <p:txBody>
          <a:bodyPr/>
          <a:lstStyle/>
          <a:p>
            <a:endParaRPr lang="en-US"/>
          </a:p>
        </p:txBody>
      </p:sp>
      <p:sp>
        <p:nvSpPr>
          <p:cNvPr id="7" name="Text 4"/>
          <p:cNvSpPr/>
          <p:nvPr/>
        </p:nvSpPr>
        <p:spPr>
          <a:xfrm>
            <a:off x="274320" y="1261872"/>
            <a:ext cx="118872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HORROR</a:t>
            </a:r>
            <a:endParaRPr lang="en-US" sz="1100" dirty="0"/>
          </a:p>
        </p:txBody>
      </p:sp>
      <p:graphicFrame>
        <p:nvGraphicFramePr>
          <p:cNvPr id="8" name="Chart 1"/>
          <p:cNvGraphicFramePr/>
          <p:nvPr/>
        </p:nvGraphicFramePr>
        <p:xfrm>
          <a:off x="4754880" y="1325880"/>
          <a:ext cx="411480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4754880" y="1261872"/>
            <a:ext cx="1280160" cy="292608"/>
          </a:xfrm>
          <a:prstGeom prst="rect">
            <a:avLst/>
          </a:prstGeom>
          <a:solidFill>
            <a:srgbClr val="E8A020"/>
          </a:solidFill>
          <a:ln w="12700">
            <a:solidFill>
              <a:srgbClr val="E8A020"/>
            </a:solidFill>
            <a:prstDash val="solid"/>
          </a:ln>
        </p:spPr>
        <p:txBody>
          <a:bodyPr/>
          <a:lstStyle/>
          <a:p>
            <a:endParaRPr lang="en-US"/>
          </a:p>
        </p:txBody>
      </p:sp>
      <p:sp>
        <p:nvSpPr>
          <p:cNvPr id="10" name="Text 6"/>
          <p:cNvSpPr/>
          <p:nvPr/>
        </p:nvSpPr>
        <p:spPr>
          <a:xfrm>
            <a:off x="4754880" y="1261872"/>
            <a:ext cx="1280160" cy="292608"/>
          </a:xfrm>
          <a:prstGeom prst="rect">
            <a:avLst/>
          </a:prstGeom>
          <a:noFill/>
          <a:ln/>
        </p:spPr>
        <p:txBody>
          <a:bodyPr wrap="square" rtlCol="0" anchor="ctr"/>
          <a:lstStyle/>
          <a:p>
            <a:pPr marL="0" indent="0" algn="ctr">
              <a:buNone/>
            </a:pPr>
            <a:r>
              <a:rPr lang="en-US" sz="1100" b="1" dirty="0">
                <a:solidFill>
                  <a:srgbClr val="0D1117"/>
                </a:solidFill>
                <a:latin typeface="Calibri" pitchFamily="34" charset="0"/>
                <a:ea typeface="Calibri" pitchFamily="34" charset="-122"/>
                <a:cs typeface="Calibri" pitchFamily="34" charset="-120"/>
              </a:rPr>
              <a:t>COMEDY</a:t>
            </a:r>
            <a:endParaRPr lang="en-US" sz="1100" dirty="0"/>
          </a:p>
        </p:txBody>
      </p:sp>
      <p:sp>
        <p:nvSpPr>
          <p:cNvPr id="11" name="Text 7"/>
          <p:cNvSpPr/>
          <p:nvPr/>
        </p:nvSpPr>
        <p:spPr>
          <a:xfrm>
            <a:off x="274320" y="4206240"/>
            <a:ext cx="8595360" cy="228600"/>
          </a:xfrm>
          <a:prstGeom prst="rect">
            <a:avLst/>
          </a:prstGeom>
          <a:noFill/>
          <a:ln/>
        </p:spPr>
        <p:txBody>
          <a:bodyPr wrap="square" rtlCol="0" anchor="ctr"/>
          <a:lstStyle/>
          <a:p>
            <a:pPr marL="0" indent="0" algn="ctr">
              <a:buNone/>
            </a:pPr>
            <a:r>
              <a:rPr lang="en-US" sz="900" i="1" dirty="0">
                <a:solidFill>
                  <a:srgbClr val="8FA3BF"/>
                </a:solidFill>
                <a:latin typeface="Calibri" pitchFamily="34" charset="0"/>
                <a:ea typeface="Calibri" pitchFamily="34" charset="-122"/>
                <a:cs typeface="Calibri" pitchFamily="34" charset="-120"/>
              </a:rPr>
              <a:t>Both charts use the same Y-axis scale (4.5–7.0) for direct comparison</a:t>
            </a:r>
            <a:endParaRPr lang="en-US" sz="900" dirty="0"/>
          </a:p>
        </p:txBody>
      </p:sp>
      <p:sp>
        <p:nvSpPr>
          <p:cNvPr id="12" name="Shape 8"/>
          <p:cNvSpPr/>
          <p:nvPr/>
        </p:nvSpPr>
        <p:spPr>
          <a:xfrm>
            <a:off x="274320" y="4498848"/>
            <a:ext cx="4114800" cy="438912"/>
          </a:xfrm>
          <a:prstGeom prst="rect">
            <a:avLst/>
          </a:prstGeom>
          <a:solidFill>
            <a:srgbClr val="2A0A0A"/>
          </a:solidFill>
          <a:ln w="12700">
            <a:solidFill>
              <a:srgbClr val="E74C3C"/>
            </a:solidFill>
            <a:prstDash val="solid"/>
          </a:ln>
        </p:spPr>
        <p:txBody>
          <a:bodyPr/>
          <a:lstStyle/>
          <a:p>
            <a:endParaRPr lang="en-US"/>
          </a:p>
        </p:txBody>
      </p:sp>
      <p:sp>
        <p:nvSpPr>
          <p:cNvPr id="13" name="Text 9"/>
          <p:cNvSpPr/>
          <p:nvPr/>
        </p:nvSpPr>
        <p:spPr>
          <a:xfrm>
            <a:off x="320040" y="4498848"/>
            <a:ext cx="4023360" cy="438912"/>
          </a:xfrm>
          <a:prstGeom prst="rect">
            <a:avLst/>
          </a:prstGeom>
          <a:noFill/>
          <a:ln/>
        </p:spPr>
        <p:txBody>
          <a:bodyPr wrap="square" rtlCol="0" anchor="ctr"/>
          <a:lstStyle/>
          <a:p>
            <a:pPr marL="0" indent="0" algn="ctr">
              <a:buNone/>
            </a:pPr>
            <a:r>
              <a:rPr lang="en-US" sz="950" dirty="0">
                <a:solidFill>
                  <a:srgbClr val="F4A0A0"/>
                </a:solidFill>
                <a:latin typeface="Calibri" pitchFamily="34" charset="0"/>
                <a:ea typeface="Calibri" pitchFamily="34" charset="-122"/>
                <a:cs typeface="Calibri" pitchFamily="34" charset="-120"/>
              </a:rPr>
              <a:t>Steepest dip in dataset at 60-90 min (4.68) — needs time to build dread</a:t>
            </a:r>
            <a:endParaRPr lang="en-US" sz="950" dirty="0"/>
          </a:p>
        </p:txBody>
      </p:sp>
      <p:sp>
        <p:nvSpPr>
          <p:cNvPr id="14" name="Shape 10"/>
          <p:cNvSpPr/>
          <p:nvPr/>
        </p:nvSpPr>
        <p:spPr>
          <a:xfrm>
            <a:off x="4754880" y="4498848"/>
            <a:ext cx="4114800" cy="438912"/>
          </a:xfrm>
          <a:prstGeom prst="rect">
            <a:avLst/>
          </a:prstGeom>
          <a:solidFill>
            <a:srgbClr val="1A1200"/>
          </a:solidFill>
          <a:ln w="12700">
            <a:solidFill>
              <a:srgbClr val="E8A020"/>
            </a:solidFill>
            <a:prstDash val="solid"/>
          </a:ln>
        </p:spPr>
        <p:txBody>
          <a:bodyPr/>
          <a:lstStyle/>
          <a:p>
            <a:endParaRPr lang="en-US"/>
          </a:p>
        </p:txBody>
      </p:sp>
      <p:sp>
        <p:nvSpPr>
          <p:cNvPr id="15" name="Text 11"/>
          <p:cNvSpPr/>
          <p:nvPr/>
        </p:nvSpPr>
        <p:spPr>
          <a:xfrm>
            <a:off x="4800600" y="4498848"/>
            <a:ext cx="4023360" cy="438912"/>
          </a:xfrm>
          <a:prstGeom prst="rect">
            <a:avLst/>
          </a:prstGeom>
          <a:noFill/>
          <a:ln/>
        </p:spPr>
        <p:txBody>
          <a:bodyPr wrap="square" rtlCol="0" anchor="ctr"/>
          <a:lstStyle/>
          <a:p>
            <a:pPr marL="0" indent="0" algn="ctr">
              <a:buNone/>
            </a:pPr>
            <a:r>
              <a:rPr lang="en-US" sz="950" dirty="0">
                <a:solidFill>
                  <a:srgbClr val="F4D080"/>
                </a:solidFill>
                <a:latin typeface="Calibri" pitchFamily="34" charset="0"/>
                <a:ea typeface="Calibri" pitchFamily="34" charset="-122"/>
                <a:cs typeface="Calibri" pitchFamily="34" charset="-120"/>
              </a:rPr>
              <a:t>Relatively flat compared to Horror — the script matters more than the clock</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3" name="Text 1"/>
          <p:cNvSpPr/>
          <p:nvPr/>
        </p:nvSpPr>
        <p:spPr>
          <a:xfrm>
            <a:off x="274320" y="228600"/>
            <a:ext cx="8229600" cy="365760"/>
          </a:xfrm>
          <a:prstGeom prst="rect">
            <a:avLst/>
          </a:prstGeom>
          <a:noFill/>
          <a:ln/>
        </p:spPr>
        <p:txBody>
          <a:bodyPr wrap="square" rtlCol="0" anchor="ctr"/>
          <a:lstStyle/>
          <a:p>
            <a:pPr marL="0" indent="0">
              <a:buNone/>
            </a:pPr>
            <a:r>
              <a:rPr lang="en-US" sz="1100" b="1" kern="0" spc="300" dirty="0">
                <a:solidFill>
                  <a:srgbClr val="E8A020"/>
                </a:solidFill>
                <a:latin typeface="Calibri" pitchFamily="34" charset="0"/>
                <a:ea typeface="Calibri" pitchFamily="34" charset="-122"/>
                <a:cs typeface="Calibri" pitchFamily="34" charset="-120"/>
              </a:rPr>
              <a:t>TEMPORAL TREND ANALYSIS</a:t>
            </a:r>
            <a:endParaRPr lang="en-US" sz="1100" dirty="0"/>
          </a:p>
        </p:txBody>
      </p:sp>
      <p:sp>
        <p:nvSpPr>
          <p:cNvPr id="4" name="Text 2"/>
          <p:cNvSpPr/>
          <p:nvPr/>
        </p:nvSpPr>
        <p:spPr>
          <a:xfrm>
            <a:off x="274320" y="594360"/>
            <a:ext cx="8229600" cy="59436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Has the Typical Film Length Changed Over Time?</a:t>
            </a:r>
            <a:endParaRPr lang="en-US" sz="2600" dirty="0"/>
          </a:p>
        </p:txBody>
      </p:sp>
      <p:graphicFrame>
        <p:nvGraphicFramePr>
          <p:cNvPr id="5" name="Chart 0"/>
          <p:cNvGraphicFramePr/>
          <p:nvPr>
            <p:extLst>
              <p:ext uri="{D42A27DB-BD31-4B8C-83A1-F6EECF244321}">
                <p14:modId xmlns:p14="http://schemas.microsoft.com/office/powerpoint/2010/main" val="1228264767"/>
              </p:ext>
            </p:extLst>
          </p:nvPr>
        </p:nvGraphicFramePr>
        <p:xfrm>
          <a:off x="274320" y="1371600"/>
          <a:ext cx="548640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035040" y="1417320"/>
            <a:ext cx="2880360" cy="960120"/>
          </a:xfrm>
          <a:prstGeom prst="rect">
            <a:avLst/>
          </a:prstGeom>
          <a:solidFill>
            <a:srgbClr val="162033"/>
          </a:solidFill>
          <a:ln w="12700">
            <a:solidFill>
              <a:srgbClr val="2A4060"/>
            </a:solidFill>
            <a:prstDash val="solid"/>
          </a:ln>
        </p:spPr>
        <p:txBody>
          <a:bodyPr/>
          <a:lstStyle/>
          <a:p>
            <a:endParaRPr lang="en-US"/>
          </a:p>
        </p:txBody>
      </p:sp>
      <p:sp>
        <p:nvSpPr>
          <p:cNvPr id="7" name="Shape 4"/>
          <p:cNvSpPr/>
          <p:nvPr/>
        </p:nvSpPr>
        <p:spPr>
          <a:xfrm>
            <a:off x="6035040" y="1417320"/>
            <a:ext cx="64008" cy="960120"/>
          </a:xfrm>
          <a:prstGeom prst="rect">
            <a:avLst/>
          </a:prstGeom>
          <a:solidFill>
            <a:srgbClr val="E8A020"/>
          </a:solidFill>
          <a:ln w="12700">
            <a:solidFill>
              <a:srgbClr val="E8A020"/>
            </a:solidFill>
            <a:prstDash val="solid"/>
          </a:ln>
        </p:spPr>
        <p:txBody>
          <a:bodyPr/>
          <a:lstStyle/>
          <a:p>
            <a:endParaRPr lang="en-US"/>
          </a:p>
        </p:txBody>
      </p:sp>
      <p:sp>
        <p:nvSpPr>
          <p:cNvPr id="8" name="Text 5"/>
          <p:cNvSpPr/>
          <p:nvPr/>
        </p:nvSpPr>
        <p:spPr>
          <a:xfrm>
            <a:off x="6172200" y="1481328"/>
            <a:ext cx="2651760" cy="256032"/>
          </a:xfrm>
          <a:prstGeom prst="rect">
            <a:avLst/>
          </a:prstGeom>
          <a:noFill/>
          <a:ln/>
        </p:spPr>
        <p:txBody>
          <a:bodyPr wrap="square" lIns="0" tIns="0" rIns="0" bIns="0" rtlCol="0" anchor="ctr"/>
          <a:lstStyle/>
          <a:p>
            <a:pPr marL="0" indent="0">
              <a:buNone/>
            </a:pPr>
            <a:r>
              <a:rPr lang="en-US" sz="1300" b="1" dirty="0">
                <a:solidFill>
                  <a:srgbClr val="E8A020"/>
                </a:solidFill>
                <a:latin typeface="Georgia" pitchFamily="34" charset="0"/>
                <a:ea typeface="Georgia" pitchFamily="34" charset="-122"/>
                <a:cs typeface="Georgia" pitchFamily="34" charset="-120"/>
              </a:rPr>
              <a:t>~90-95 min</a:t>
            </a:r>
            <a:endParaRPr lang="en-US" sz="1300" dirty="0"/>
          </a:p>
        </p:txBody>
      </p:sp>
      <p:sp>
        <p:nvSpPr>
          <p:cNvPr id="9" name="Text 6"/>
          <p:cNvSpPr/>
          <p:nvPr/>
        </p:nvSpPr>
        <p:spPr>
          <a:xfrm>
            <a:off x="6172200" y="1764792"/>
            <a:ext cx="2651760" cy="502920"/>
          </a:xfrm>
          <a:prstGeom prst="rect">
            <a:avLst/>
          </a:prstGeom>
          <a:noFill/>
          <a:ln/>
        </p:spPr>
        <p:txBody>
          <a:bodyPr wrap="square" lIns="0" tIns="0" rIns="0" bIns="0" rtlCol="0" anchor="ctr"/>
          <a:lstStyle/>
          <a:p>
            <a:pPr marL="0" indent="0">
              <a:buNone/>
            </a:pPr>
            <a:r>
              <a:rPr lang="en-US" sz="950" dirty="0">
                <a:solidFill>
                  <a:srgbClr val="8FA3BF"/>
                </a:solidFill>
                <a:latin typeface="Calibri" pitchFamily="34" charset="0"/>
                <a:ea typeface="Calibri" pitchFamily="34" charset="-122"/>
                <a:cs typeface="Calibri" pitchFamily="34" charset="-120"/>
              </a:rPr>
              <a:t>Median runtime has barely shifted in 70 years — the industry has a deeply established sense of what a film should feel like.</a:t>
            </a:r>
            <a:endParaRPr lang="en-US" sz="950" dirty="0"/>
          </a:p>
        </p:txBody>
      </p:sp>
      <p:sp>
        <p:nvSpPr>
          <p:cNvPr id="10" name="Shape 7"/>
          <p:cNvSpPr/>
          <p:nvPr/>
        </p:nvSpPr>
        <p:spPr>
          <a:xfrm>
            <a:off x="6035040" y="2496312"/>
            <a:ext cx="2880360" cy="960120"/>
          </a:xfrm>
          <a:prstGeom prst="rect">
            <a:avLst/>
          </a:prstGeom>
          <a:solidFill>
            <a:srgbClr val="162033"/>
          </a:solidFill>
          <a:ln w="12700">
            <a:solidFill>
              <a:srgbClr val="2A4060"/>
            </a:solidFill>
            <a:prstDash val="solid"/>
          </a:ln>
        </p:spPr>
        <p:txBody>
          <a:bodyPr/>
          <a:lstStyle/>
          <a:p>
            <a:endParaRPr lang="en-US"/>
          </a:p>
        </p:txBody>
      </p:sp>
      <p:sp>
        <p:nvSpPr>
          <p:cNvPr id="11" name="Shape 8"/>
          <p:cNvSpPr/>
          <p:nvPr/>
        </p:nvSpPr>
        <p:spPr>
          <a:xfrm>
            <a:off x="6035040" y="2496312"/>
            <a:ext cx="64008" cy="960120"/>
          </a:xfrm>
          <a:prstGeom prst="rect">
            <a:avLst/>
          </a:prstGeom>
          <a:solidFill>
            <a:srgbClr val="E8A020"/>
          </a:solidFill>
          <a:ln w="12700">
            <a:solidFill>
              <a:srgbClr val="E8A020"/>
            </a:solidFill>
            <a:prstDash val="solid"/>
          </a:ln>
        </p:spPr>
        <p:txBody>
          <a:bodyPr/>
          <a:lstStyle/>
          <a:p>
            <a:endParaRPr lang="en-US"/>
          </a:p>
        </p:txBody>
      </p:sp>
      <p:sp>
        <p:nvSpPr>
          <p:cNvPr id="12" name="Text 9"/>
          <p:cNvSpPr/>
          <p:nvPr/>
        </p:nvSpPr>
        <p:spPr>
          <a:xfrm>
            <a:off x="6172200" y="2560320"/>
            <a:ext cx="2651760" cy="256032"/>
          </a:xfrm>
          <a:prstGeom prst="rect">
            <a:avLst/>
          </a:prstGeom>
          <a:noFill/>
          <a:ln/>
        </p:spPr>
        <p:txBody>
          <a:bodyPr wrap="square" lIns="0" tIns="0" rIns="0" bIns="0" rtlCol="0" anchor="ctr"/>
          <a:lstStyle/>
          <a:p>
            <a:pPr marL="0" indent="0">
              <a:buNone/>
            </a:pPr>
            <a:r>
              <a:rPr lang="en-US" sz="1300" b="1" dirty="0">
                <a:solidFill>
                  <a:srgbClr val="E8A020"/>
                </a:solidFill>
                <a:latin typeface="Georgia" pitchFamily="34" charset="0"/>
                <a:ea typeface="Georgia" pitchFamily="34" charset="-122"/>
                <a:cs typeface="Georgia" pitchFamily="34" charset="-120"/>
              </a:rPr>
              <a:t>Wider spread</a:t>
            </a:r>
            <a:endParaRPr lang="en-US" sz="1300" dirty="0"/>
          </a:p>
        </p:txBody>
      </p:sp>
      <p:sp>
        <p:nvSpPr>
          <p:cNvPr id="13" name="Text 10"/>
          <p:cNvSpPr/>
          <p:nvPr/>
        </p:nvSpPr>
        <p:spPr>
          <a:xfrm>
            <a:off x="6172200" y="2843784"/>
            <a:ext cx="2651760" cy="502920"/>
          </a:xfrm>
          <a:prstGeom prst="rect">
            <a:avLst/>
          </a:prstGeom>
          <a:noFill/>
          <a:ln/>
        </p:spPr>
        <p:txBody>
          <a:bodyPr wrap="square" lIns="0" tIns="0" rIns="0" bIns="0" rtlCol="0" anchor="ctr"/>
          <a:lstStyle/>
          <a:p>
            <a:pPr marL="0" indent="0">
              <a:buNone/>
            </a:pPr>
            <a:r>
              <a:rPr lang="en-US" sz="950" dirty="0">
                <a:solidFill>
                  <a:srgbClr val="8FA3BF"/>
                </a:solidFill>
                <a:latin typeface="Calibri" pitchFamily="34" charset="0"/>
                <a:ea typeface="Calibri" pitchFamily="34" charset="-122"/>
                <a:cs typeface="Calibri" pitchFamily="34" charset="-120"/>
              </a:rPr>
              <a:t>The IQR band has gradually broadened — audiences today accept a wider range of film lengths than in the 1950s.</a:t>
            </a:r>
            <a:endParaRPr lang="en-US" sz="950" dirty="0"/>
          </a:p>
        </p:txBody>
      </p:sp>
      <p:sp>
        <p:nvSpPr>
          <p:cNvPr id="14" name="Shape 11"/>
          <p:cNvSpPr/>
          <p:nvPr/>
        </p:nvSpPr>
        <p:spPr>
          <a:xfrm>
            <a:off x="6035040" y="3575304"/>
            <a:ext cx="2880360" cy="960120"/>
          </a:xfrm>
          <a:prstGeom prst="rect">
            <a:avLst/>
          </a:prstGeom>
          <a:solidFill>
            <a:srgbClr val="162033"/>
          </a:solidFill>
          <a:ln w="12700">
            <a:solidFill>
              <a:srgbClr val="2A4060"/>
            </a:solidFill>
            <a:prstDash val="solid"/>
          </a:ln>
        </p:spPr>
        <p:txBody>
          <a:bodyPr/>
          <a:lstStyle/>
          <a:p>
            <a:endParaRPr lang="en-US"/>
          </a:p>
        </p:txBody>
      </p:sp>
      <p:sp>
        <p:nvSpPr>
          <p:cNvPr id="15" name="Shape 12"/>
          <p:cNvSpPr/>
          <p:nvPr/>
        </p:nvSpPr>
        <p:spPr>
          <a:xfrm>
            <a:off x="6035040" y="3575304"/>
            <a:ext cx="64008" cy="960120"/>
          </a:xfrm>
          <a:prstGeom prst="rect">
            <a:avLst/>
          </a:prstGeom>
          <a:solidFill>
            <a:srgbClr val="E8A020"/>
          </a:solidFill>
          <a:ln w="12700">
            <a:solidFill>
              <a:srgbClr val="E8A020"/>
            </a:solidFill>
            <a:prstDash val="solid"/>
          </a:ln>
        </p:spPr>
        <p:txBody>
          <a:bodyPr/>
          <a:lstStyle/>
          <a:p>
            <a:endParaRPr lang="en-US"/>
          </a:p>
        </p:txBody>
      </p:sp>
      <p:sp>
        <p:nvSpPr>
          <p:cNvPr id="16" name="Text 13"/>
          <p:cNvSpPr/>
          <p:nvPr/>
        </p:nvSpPr>
        <p:spPr>
          <a:xfrm>
            <a:off x="6172200" y="3639312"/>
            <a:ext cx="2651760" cy="256032"/>
          </a:xfrm>
          <a:prstGeom prst="rect">
            <a:avLst/>
          </a:prstGeom>
          <a:noFill/>
          <a:ln/>
        </p:spPr>
        <p:txBody>
          <a:bodyPr wrap="square" lIns="0" tIns="0" rIns="0" bIns="0" rtlCol="0" anchor="ctr"/>
          <a:lstStyle/>
          <a:p>
            <a:pPr marL="0" indent="0">
              <a:buNone/>
            </a:pPr>
            <a:r>
              <a:rPr lang="en-US" sz="1300" b="1" dirty="0">
                <a:solidFill>
                  <a:srgbClr val="E8A020"/>
                </a:solidFill>
                <a:latin typeface="Georgia" pitchFamily="34" charset="0"/>
                <a:ea typeface="Georgia" pitchFamily="34" charset="-122"/>
                <a:cs typeface="Georgia" pitchFamily="34" charset="-120"/>
              </a:rPr>
              <a:t>Minor shifts only</a:t>
            </a:r>
            <a:endParaRPr lang="en-US" sz="1300" dirty="0"/>
          </a:p>
        </p:txBody>
      </p:sp>
      <p:sp>
        <p:nvSpPr>
          <p:cNvPr id="17" name="Text 14"/>
          <p:cNvSpPr/>
          <p:nvPr/>
        </p:nvSpPr>
        <p:spPr>
          <a:xfrm>
            <a:off x="6172200" y="3922776"/>
            <a:ext cx="2651760" cy="502920"/>
          </a:xfrm>
          <a:prstGeom prst="rect">
            <a:avLst/>
          </a:prstGeom>
          <a:noFill/>
          <a:ln/>
        </p:spPr>
        <p:txBody>
          <a:bodyPr wrap="square" lIns="0" tIns="0" rIns="0" bIns="0" rtlCol="0" anchor="ctr"/>
          <a:lstStyle/>
          <a:p>
            <a:pPr marL="0" indent="0">
              <a:buNone/>
            </a:pPr>
            <a:r>
              <a:rPr lang="en-US" sz="950" dirty="0">
                <a:solidFill>
                  <a:srgbClr val="8FA3BF"/>
                </a:solidFill>
                <a:latin typeface="Calibri" pitchFamily="34" charset="0"/>
                <a:ea typeface="Calibri" pitchFamily="34" charset="-122"/>
                <a:cs typeface="Calibri" pitchFamily="34" charset="-120"/>
              </a:rPr>
              <a:t>The changes are real but small. Nothing has fundamentally disrupted how long films are made.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E4A"/>
          </a:solidFill>
          <a:ln w="12700">
            <a:solidFill>
              <a:srgbClr val="1C2E4A"/>
            </a:solidFill>
            <a:prstDash val="solid"/>
          </a:ln>
        </p:spPr>
        <p:txBody>
          <a:bodyPr/>
          <a:lstStyle/>
          <a:p>
            <a:endParaRPr lang="en-US"/>
          </a:p>
        </p:txBody>
      </p:sp>
      <p:sp>
        <p:nvSpPr>
          <p:cNvPr id="3" name="Shape 1"/>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274320" y="256032"/>
            <a:ext cx="8229600" cy="50292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OPTIMAL RUNTIME HAS NEVER CHANGED</a:t>
            </a:r>
            <a:endParaRPr lang="en-US" sz="2200" dirty="0"/>
          </a:p>
        </p:txBody>
      </p:sp>
      <p:sp>
        <p:nvSpPr>
          <p:cNvPr id="5" name="Shape 3"/>
          <p:cNvSpPr/>
          <p:nvPr/>
        </p:nvSpPr>
        <p:spPr>
          <a:xfrm>
            <a:off x="1005840"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6" name="Text 4"/>
          <p:cNvSpPr/>
          <p:nvPr/>
        </p:nvSpPr>
        <p:spPr>
          <a:xfrm>
            <a:off x="1005840"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&lt;60</a:t>
            </a:r>
            <a:endParaRPr lang="en-US" sz="1000" dirty="0"/>
          </a:p>
        </p:txBody>
      </p:sp>
      <p:sp>
        <p:nvSpPr>
          <p:cNvPr id="7" name="Shape 5"/>
          <p:cNvSpPr/>
          <p:nvPr/>
        </p:nvSpPr>
        <p:spPr>
          <a:xfrm>
            <a:off x="2084832"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8" name="Text 6"/>
          <p:cNvSpPr/>
          <p:nvPr/>
        </p:nvSpPr>
        <p:spPr>
          <a:xfrm>
            <a:off x="2084832"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60-90</a:t>
            </a:r>
            <a:endParaRPr lang="en-US" sz="1000" dirty="0"/>
          </a:p>
        </p:txBody>
      </p:sp>
      <p:sp>
        <p:nvSpPr>
          <p:cNvPr id="9" name="Shape 7"/>
          <p:cNvSpPr/>
          <p:nvPr/>
        </p:nvSpPr>
        <p:spPr>
          <a:xfrm>
            <a:off x="3163824"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10" name="Text 8"/>
          <p:cNvSpPr/>
          <p:nvPr/>
        </p:nvSpPr>
        <p:spPr>
          <a:xfrm>
            <a:off x="3163824"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90-120</a:t>
            </a:r>
            <a:endParaRPr lang="en-US" sz="1000" dirty="0"/>
          </a:p>
        </p:txBody>
      </p:sp>
      <p:sp>
        <p:nvSpPr>
          <p:cNvPr id="11" name="Shape 9"/>
          <p:cNvSpPr/>
          <p:nvPr/>
        </p:nvSpPr>
        <p:spPr>
          <a:xfrm>
            <a:off x="4242816"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12" name="Text 10"/>
          <p:cNvSpPr/>
          <p:nvPr/>
        </p:nvSpPr>
        <p:spPr>
          <a:xfrm>
            <a:off x="4242816"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120-150</a:t>
            </a:r>
            <a:endParaRPr lang="en-US" sz="1000" dirty="0"/>
          </a:p>
        </p:txBody>
      </p:sp>
      <p:sp>
        <p:nvSpPr>
          <p:cNvPr id="13" name="Shape 11"/>
          <p:cNvSpPr/>
          <p:nvPr/>
        </p:nvSpPr>
        <p:spPr>
          <a:xfrm>
            <a:off x="5321808"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14" name="Text 12"/>
          <p:cNvSpPr/>
          <p:nvPr/>
        </p:nvSpPr>
        <p:spPr>
          <a:xfrm>
            <a:off x="5321808"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150-180</a:t>
            </a:r>
            <a:endParaRPr lang="en-US" sz="1000" dirty="0"/>
          </a:p>
        </p:txBody>
      </p:sp>
      <p:sp>
        <p:nvSpPr>
          <p:cNvPr id="15" name="Shape 13"/>
          <p:cNvSpPr/>
          <p:nvPr/>
        </p:nvSpPr>
        <p:spPr>
          <a:xfrm>
            <a:off x="6400800"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16" name="Text 14"/>
          <p:cNvSpPr/>
          <p:nvPr/>
        </p:nvSpPr>
        <p:spPr>
          <a:xfrm>
            <a:off x="6400800"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&gt;180</a:t>
            </a:r>
            <a:endParaRPr lang="en-US" sz="1000" dirty="0"/>
          </a:p>
        </p:txBody>
      </p:sp>
      <p:sp>
        <p:nvSpPr>
          <p:cNvPr id="17" name="Text 15"/>
          <p:cNvSpPr/>
          <p:nvPr/>
        </p:nvSpPr>
        <p:spPr>
          <a:xfrm>
            <a:off x="201168" y="1143000"/>
            <a:ext cx="777240" cy="320040"/>
          </a:xfrm>
          <a:prstGeom prst="rect">
            <a:avLst/>
          </a:prstGeom>
          <a:noFill/>
          <a:ln/>
        </p:spPr>
        <p:txBody>
          <a:bodyPr wrap="square"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Decade</a:t>
            </a:r>
            <a:endParaRPr lang="en-US" sz="1000" dirty="0"/>
          </a:p>
        </p:txBody>
      </p:sp>
      <p:sp>
        <p:nvSpPr>
          <p:cNvPr id="18" name="Shape 16"/>
          <p:cNvSpPr/>
          <p:nvPr/>
        </p:nvSpPr>
        <p:spPr>
          <a:xfrm>
            <a:off x="201168" y="1463040"/>
            <a:ext cx="777240" cy="420624"/>
          </a:xfrm>
          <a:prstGeom prst="rect">
            <a:avLst/>
          </a:prstGeom>
          <a:solidFill>
            <a:srgbClr val="1C2E4A"/>
          </a:solidFill>
          <a:ln w="6350">
            <a:solidFill>
              <a:srgbClr val="2A4060"/>
            </a:solidFill>
            <a:prstDash val="solid"/>
          </a:ln>
        </p:spPr>
        <p:txBody>
          <a:bodyPr/>
          <a:lstStyle/>
          <a:p>
            <a:endParaRPr lang="en-US"/>
          </a:p>
        </p:txBody>
      </p:sp>
      <p:sp>
        <p:nvSpPr>
          <p:cNvPr id="19" name="Text 17"/>
          <p:cNvSpPr/>
          <p:nvPr/>
        </p:nvSpPr>
        <p:spPr>
          <a:xfrm>
            <a:off x="201168" y="1463040"/>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1950</a:t>
            </a:r>
            <a:endParaRPr lang="en-US" sz="1000" dirty="0"/>
          </a:p>
        </p:txBody>
      </p:sp>
      <p:sp>
        <p:nvSpPr>
          <p:cNvPr id="20" name="Shape 18"/>
          <p:cNvSpPr/>
          <p:nvPr/>
        </p:nvSpPr>
        <p:spPr>
          <a:xfrm>
            <a:off x="1005840" y="1463040"/>
            <a:ext cx="1078992" cy="420624"/>
          </a:xfrm>
          <a:prstGeom prst="rect">
            <a:avLst/>
          </a:prstGeom>
          <a:solidFill>
            <a:srgbClr val="88C69F"/>
          </a:solidFill>
          <a:ln w="6350">
            <a:solidFill>
              <a:srgbClr val="CCCCCC"/>
            </a:solidFill>
            <a:prstDash val="solid"/>
          </a:ln>
        </p:spPr>
        <p:txBody>
          <a:bodyPr/>
          <a:lstStyle/>
          <a:p>
            <a:endParaRPr lang="en-US"/>
          </a:p>
        </p:txBody>
      </p:sp>
      <p:sp>
        <p:nvSpPr>
          <p:cNvPr id="21" name="Text 19"/>
          <p:cNvSpPr/>
          <p:nvPr/>
        </p:nvSpPr>
        <p:spPr>
          <a:xfrm>
            <a:off x="1005840" y="146304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6.0</a:t>
            </a:r>
            <a:endParaRPr lang="en-US" sz="1100" dirty="0"/>
          </a:p>
        </p:txBody>
      </p:sp>
      <p:sp>
        <p:nvSpPr>
          <p:cNvPr id="22" name="Shape 20"/>
          <p:cNvSpPr/>
          <p:nvPr/>
        </p:nvSpPr>
        <p:spPr>
          <a:xfrm>
            <a:off x="2084832" y="1463040"/>
            <a:ext cx="1078992" cy="420624"/>
          </a:xfrm>
          <a:prstGeom prst="rect">
            <a:avLst/>
          </a:prstGeom>
          <a:solidFill>
            <a:srgbClr val="99CEA8"/>
          </a:solidFill>
          <a:ln w="6350">
            <a:solidFill>
              <a:srgbClr val="CCCCCC"/>
            </a:solidFill>
            <a:prstDash val="solid"/>
          </a:ln>
        </p:spPr>
        <p:txBody>
          <a:bodyPr/>
          <a:lstStyle/>
          <a:p>
            <a:endParaRPr lang="en-US"/>
          </a:p>
        </p:txBody>
      </p:sp>
      <p:sp>
        <p:nvSpPr>
          <p:cNvPr id="23" name="Text 21"/>
          <p:cNvSpPr/>
          <p:nvPr/>
        </p:nvSpPr>
        <p:spPr>
          <a:xfrm>
            <a:off x="2084832" y="146304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5.9</a:t>
            </a:r>
            <a:endParaRPr lang="en-US" sz="1100" dirty="0"/>
          </a:p>
        </p:txBody>
      </p:sp>
      <p:sp>
        <p:nvSpPr>
          <p:cNvPr id="24" name="Shape 22"/>
          <p:cNvSpPr/>
          <p:nvPr/>
        </p:nvSpPr>
        <p:spPr>
          <a:xfrm>
            <a:off x="3163824" y="1463040"/>
            <a:ext cx="1078992" cy="420624"/>
          </a:xfrm>
          <a:prstGeom prst="rect">
            <a:avLst/>
          </a:prstGeom>
          <a:solidFill>
            <a:srgbClr val="51A68F"/>
          </a:solidFill>
          <a:ln w="6350">
            <a:solidFill>
              <a:srgbClr val="CCCCCC"/>
            </a:solidFill>
            <a:prstDash val="solid"/>
          </a:ln>
        </p:spPr>
        <p:txBody>
          <a:bodyPr/>
          <a:lstStyle/>
          <a:p>
            <a:endParaRPr lang="en-US"/>
          </a:p>
        </p:txBody>
      </p:sp>
      <p:sp>
        <p:nvSpPr>
          <p:cNvPr id="25" name="Text 23"/>
          <p:cNvSpPr/>
          <p:nvPr/>
        </p:nvSpPr>
        <p:spPr>
          <a:xfrm>
            <a:off x="3163824" y="146304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6.3</a:t>
            </a:r>
            <a:endParaRPr lang="en-US" sz="1100" dirty="0"/>
          </a:p>
        </p:txBody>
      </p:sp>
      <p:sp>
        <p:nvSpPr>
          <p:cNvPr id="26" name="Shape 24"/>
          <p:cNvSpPr/>
          <p:nvPr/>
        </p:nvSpPr>
        <p:spPr>
          <a:xfrm>
            <a:off x="4242816" y="1463040"/>
            <a:ext cx="1078992" cy="420624"/>
          </a:xfrm>
          <a:prstGeom prst="rect">
            <a:avLst/>
          </a:prstGeom>
          <a:solidFill>
            <a:srgbClr val="185B8E"/>
          </a:solidFill>
          <a:ln w="6350">
            <a:solidFill>
              <a:srgbClr val="CCCCCC"/>
            </a:solidFill>
            <a:prstDash val="solid"/>
          </a:ln>
        </p:spPr>
        <p:txBody>
          <a:bodyPr/>
          <a:lstStyle/>
          <a:p>
            <a:endParaRPr lang="en-US"/>
          </a:p>
        </p:txBody>
      </p:sp>
      <p:sp>
        <p:nvSpPr>
          <p:cNvPr id="27" name="Text 25"/>
          <p:cNvSpPr/>
          <p:nvPr/>
        </p:nvSpPr>
        <p:spPr>
          <a:xfrm>
            <a:off x="4242816" y="1463040"/>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6.9</a:t>
            </a:r>
            <a:endParaRPr lang="en-US" sz="1100" dirty="0"/>
          </a:p>
        </p:txBody>
      </p:sp>
      <p:sp>
        <p:nvSpPr>
          <p:cNvPr id="28" name="Shape 26"/>
          <p:cNvSpPr/>
          <p:nvPr/>
        </p:nvSpPr>
        <p:spPr>
          <a:xfrm>
            <a:off x="5321808" y="1463040"/>
            <a:ext cx="1078992" cy="420624"/>
          </a:xfrm>
          <a:prstGeom prst="rect">
            <a:avLst/>
          </a:prstGeom>
          <a:solidFill>
            <a:srgbClr val="144F88"/>
          </a:solidFill>
          <a:ln w="6350">
            <a:solidFill>
              <a:srgbClr val="CCCCCC"/>
            </a:solidFill>
            <a:prstDash val="solid"/>
          </a:ln>
        </p:spPr>
        <p:txBody>
          <a:bodyPr/>
          <a:lstStyle/>
          <a:p>
            <a:endParaRPr lang="en-US"/>
          </a:p>
        </p:txBody>
      </p:sp>
      <p:sp>
        <p:nvSpPr>
          <p:cNvPr id="29" name="Text 27"/>
          <p:cNvSpPr/>
          <p:nvPr/>
        </p:nvSpPr>
        <p:spPr>
          <a:xfrm>
            <a:off x="5321808" y="1463040"/>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7.0</a:t>
            </a:r>
            <a:endParaRPr lang="en-US" sz="1100" dirty="0"/>
          </a:p>
        </p:txBody>
      </p:sp>
      <p:sp>
        <p:nvSpPr>
          <p:cNvPr id="30" name="Shape 28"/>
          <p:cNvSpPr/>
          <p:nvPr/>
        </p:nvSpPr>
        <p:spPr>
          <a:xfrm>
            <a:off x="6400800" y="1463040"/>
            <a:ext cx="1078992" cy="420624"/>
          </a:xfrm>
          <a:prstGeom prst="rect">
            <a:avLst/>
          </a:prstGeom>
          <a:solidFill>
            <a:srgbClr val="0A2765"/>
          </a:solidFill>
          <a:ln w="6350">
            <a:solidFill>
              <a:srgbClr val="CCCCCC"/>
            </a:solidFill>
            <a:prstDash val="solid"/>
          </a:ln>
        </p:spPr>
        <p:txBody>
          <a:bodyPr/>
          <a:lstStyle/>
          <a:p>
            <a:endParaRPr lang="en-US"/>
          </a:p>
        </p:txBody>
      </p:sp>
      <p:sp>
        <p:nvSpPr>
          <p:cNvPr id="31" name="Text 29"/>
          <p:cNvSpPr/>
          <p:nvPr/>
        </p:nvSpPr>
        <p:spPr>
          <a:xfrm>
            <a:off x="6400800" y="1463040"/>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7.4</a:t>
            </a:r>
            <a:endParaRPr lang="en-US" sz="1100" dirty="0"/>
          </a:p>
        </p:txBody>
      </p:sp>
      <p:sp>
        <p:nvSpPr>
          <p:cNvPr id="32" name="Shape 30"/>
          <p:cNvSpPr/>
          <p:nvPr/>
        </p:nvSpPr>
        <p:spPr>
          <a:xfrm>
            <a:off x="201168" y="1883664"/>
            <a:ext cx="777240" cy="420624"/>
          </a:xfrm>
          <a:prstGeom prst="rect">
            <a:avLst/>
          </a:prstGeom>
          <a:solidFill>
            <a:srgbClr val="1C2E4A"/>
          </a:solidFill>
          <a:ln w="6350">
            <a:solidFill>
              <a:srgbClr val="2A4060"/>
            </a:solidFill>
            <a:prstDash val="solid"/>
          </a:ln>
        </p:spPr>
        <p:txBody>
          <a:bodyPr/>
          <a:lstStyle/>
          <a:p>
            <a:endParaRPr lang="en-US"/>
          </a:p>
        </p:txBody>
      </p:sp>
      <p:sp>
        <p:nvSpPr>
          <p:cNvPr id="33" name="Text 31"/>
          <p:cNvSpPr/>
          <p:nvPr/>
        </p:nvSpPr>
        <p:spPr>
          <a:xfrm>
            <a:off x="201168" y="1883664"/>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1960</a:t>
            </a:r>
            <a:endParaRPr lang="en-US" sz="1000" dirty="0"/>
          </a:p>
        </p:txBody>
      </p:sp>
      <p:sp>
        <p:nvSpPr>
          <p:cNvPr id="34" name="Shape 32"/>
          <p:cNvSpPr/>
          <p:nvPr/>
        </p:nvSpPr>
        <p:spPr>
          <a:xfrm>
            <a:off x="1005840" y="1883664"/>
            <a:ext cx="1078992" cy="420624"/>
          </a:xfrm>
          <a:prstGeom prst="rect">
            <a:avLst/>
          </a:prstGeom>
          <a:solidFill>
            <a:srgbClr val="B8DEBD"/>
          </a:solidFill>
          <a:ln w="6350">
            <a:solidFill>
              <a:srgbClr val="CCCCCC"/>
            </a:solidFill>
            <a:prstDash val="solid"/>
          </a:ln>
        </p:spPr>
        <p:txBody>
          <a:bodyPr/>
          <a:lstStyle/>
          <a:p>
            <a:endParaRPr lang="en-US"/>
          </a:p>
        </p:txBody>
      </p:sp>
      <p:sp>
        <p:nvSpPr>
          <p:cNvPr id="35" name="Text 33"/>
          <p:cNvSpPr/>
          <p:nvPr/>
        </p:nvSpPr>
        <p:spPr>
          <a:xfrm>
            <a:off x="1005840" y="188366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5.7</a:t>
            </a:r>
            <a:endParaRPr lang="en-US" sz="1100" dirty="0"/>
          </a:p>
        </p:txBody>
      </p:sp>
      <p:sp>
        <p:nvSpPr>
          <p:cNvPr id="36" name="Shape 34"/>
          <p:cNvSpPr/>
          <p:nvPr/>
        </p:nvSpPr>
        <p:spPr>
          <a:xfrm>
            <a:off x="2084832" y="1883664"/>
            <a:ext cx="1078992" cy="420624"/>
          </a:xfrm>
          <a:prstGeom prst="rect">
            <a:avLst/>
          </a:prstGeom>
          <a:solidFill>
            <a:srgbClr val="A8D6B3"/>
          </a:solidFill>
          <a:ln w="6350">
            <a:solidFill>
              <a:srgbClr val="CCCCCC"/>
            </a:solidFill>
            <a:prstDash val="solid"/>
          </a:ln>
        </p:spPr>
        <p:txBody>
          <a:bodyPr/>
          <a:lstStyle/>
          <a:p>
            <a:endParaRPr lang="en-US"/>
          </a:p>
        </p:txBody>
      </p:sp>
      <p:sp>
        <p:nvSpPr>
          <p:cNvPr id="37" name="Text 35"/>
          <p:cNvSpPr/>
          <p:nvPr/>
        </p:nvSpPr>
        <p:spPr>
          <a:xfrm>
            <a:off x="2084832" y="188366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5.8</a:t>
            </a:r>
            <a:endParaRPr lang="en-US" sz="1100" dirty="0"/>
          </a:p>
        </p:txBody>
      </p:sp>
      <p:sp>
        <p:nvSpPr>
          <p:cNvPr id="38" name="Shape 36"/>
          <p:cNvSpPr/>
          <p:nvPr/>
        </p:nvSpPr>
        <p:spPr>
          <a:xfrm>
            <a:off x="3163824" y="1883664"/>
            <a:ext cx="1078992" cy="420624"/>
          </a:xfrm>
          <a:prstGeom prst="rect">
            <a:avLst/>
          </a:prstGeom>
          <a:solidFill>
            <a:srgbClr val="76BB9A"/>
          </a:solidFill>
          <a:ln w="6350">
            <a:solidFill>
              <a:srgbClr val="CCCCCC"/>
            </a:solidFill>
            <a:prstDash val="solid"/>
          </a:ln>
        </p:spPr>
        <p:txBody>
          <a:bodyPr/>
          <a:lstStyle/>
          <a:p>
            <a:endParaRPr lang="en-US"/>
          </a:p>
        </p:txBody>
      </p:sp>
      <p:sp>
        <p:nvSpPr>
          <p:cNvPr id="39" name="Text 37"/>
          <p:cNvSpPr/>
          <p:nvPr/>
        </p:nvSpPr>
        <p:spPr>
          <a:xfrm>
            <a:off x="3163824" y="188366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6.1</a:t>
            </a:r>
            <a:endParaRPr lang="en-US" sz="1100" dirty="0"/>
          </a:p>
        </p:txBody>
      </p:sp>
      <p:sp>
        <p:nvSpPr>
          <p:cNvPr id="40" name="Shape 38"/>
          <p:cNvSpPr/>
          <p:nvPr/>
        </p:nvSpPr>
        <p:spPr>
          <a:xfrm>
            <a:off x="4242816" y="1883664"/>
            <a:ext cx="1078992" cy="420624"/>
          </a:xfrm>
          <a:prstGeom prst="rect">
            <a:avLst/>
          </a:prstGeom>
          <a:solidFill>
            <a:srgbClr val="1C6793"/>
          </a:solidFill>
          <a:ln w="6350">
            <a:solidFill>
              <a:srgbClr val="CCCCCC"/>
            </a:solidFill>
            <a:prstDash val="solid"/>
          </a:ln>
        </p:spPr>
        <p:txBody>
          <a:bodyPr/>
          <a:lstStyle/>
          <a:p>
            <a:endParaRPr lang="en-US"/>
          </a:p>
        </p:txBody>
      </p:sp>
      <p:sp>
        <p:nvSpPr>
          <p:cNvPr id="41" name="Text 39"/>
          <p:cNvSpPr/>
          <p:nvPr/>
        </p:nvSpPr>
        <p:spPr>
          <a:xfrm>
            <a:off x="4242816" y="1883664"/>
            <a:ext cx="1078992"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6.8</a:t>
            </a:r>
            <a:endParaRPr lang="en-US" sz="1100" dirty="0"/>
          </a:p>
        </p:txBody>
      </p:sp>
      <p:sp>
        <p:nvSpPr>
          <p:cNvPr id="42" name="Shape 40"/>
          <p:cNvSpPr/>
          <p:nvPr/>
        </p:nvSpPr>
        <p:spPr>
          <a:xfrm>
            <a:off x="5321808" y="1883664"/>
            <a:ext cx="1078992" cy="420624"/>
          </a:xfrm>
          <a:prstGeom prst="rect">
            <a:avLst/>
          </a:prstGeom>
          <a:solidFill>
            <a:srgbClr val="104383"/>
          </a:solidFill>
          <a:ln w="6350">
            <a:solidFill>
              <a:srgbClr val="CCCCCC"/>
            </a:solidFill>
            <a:prstDash val="solid"/>
          </a:ln>
        </p:spPr>
        <p:txBody>
          <a:bodyPr/>
          <a:lstStyle/>
          <a:p>
            <a:endParaRPr lang="en-US"/>
          </a:p>
        </p:txBody>
      </p:sp>
      <p:sp>
        <p:nvSpPr>
          <p:cNvPr id="43" name="Text 41"/>
          <p:cNvSpPr/>
          <p:nvPr/>
        </p:nvSpPr>
        <p:spPr>
          <a:xfrm>
            <a:off x="5321808" y="1883664"/>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7.1</a:t>
            </a:r>
            <a:endParaRPr lang="en-US" sz="1100" dirty="0"/>
          </a:p>
        </p:txBody>
      </p:sp>
      <p:sp>
        <p:nvSpPr>
          <p:cNvPr id="44" name="Shape 42"/>
          <p:cNvSpPr/>
          <p:nvPr/>
        </p:nvSpPr>
        <p:spPr>
          <a:xfrm>
            <a:off x="6400800" y="1883664"/>
            <a:ext cx="1078992" cy="420624"/>
          </a:xfrm>
          <a:prstGeom prst="rect">
            <a:avLst/>
          </a:prstGeom>
          <a:solidFill>
            <a:srgbClr val="081E5A"/>
          </a:solidFill>
          <a:ln w="6350">
            <a:solidFill>
              <a:srgbClr val="CCCCCC"/>
            </a:solidFill>
            <a:prstDash val="solid"/>
          </a:ln>
        </p:spPr>
        <p:txBody>
          <a:bodyPr/>
          <a:lstStyle/>
          <a:p>
            <a:endParaRPr lang="en-US"/>
          </a:p>
        </p:txBody>
      </p:sp>
      <p:sp>
        <p:nvSpPr>
          <p:cNvPr id="45" name="Text 43"/>
          <p:cNvSpPr/>
          <p:nvPr/>
        </p:nvSpPr>
        <p:spPr>
          <a:xfrm>
            <a:off x="6400800" y="1883664"/>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7.5</a:t>
            </a:r>
            <a:endParaRPr lang="en-US" sz="1100" dirty="0"/>
          </a:p>
        </p:txBody>
      </p:sp>
      <p:sp>
        <p:nvSpPr>
          <p:cNvPr id="46" name="Shape 44"/>
          <p:cNvSpPr/>
          <p:nvPr/>
        </p:nvSpPr>
        <p:spPr>
          <a:xfrm>
            <a:off x="201168" y="2304288"/>
            <a:ext cx="777240" cy="420624"/>
          </a:xfrm>
          <a:prstGeom prst="rect">
            <a:avLst/>
          </a:prstGeom>
          <a:solidFill>
            <a:srgbClr val="1C2E4A"/>
          </a:solidFill>
          <a:ln w="6350">
            <a:solidFill>
              <a:srgbClr val="2A4060"/>
            </a:solidFill>
            <a:prstDash val="solid"/>
          </a:ln>
        </p:spPr>
        <p:txBody>
          <a:bodyPr/>
          <a:lstStyle/>
          <a:p>
            <a:endParaRPr lang="en-US"/>
          </a:p>
        </p:txBody>
      </p:sp>
      <p:sp>
        <p:nvSpPr>
          <p:cNvPr id="47" name="Text 45"/>
          <p:cNvSpPr/>
          <p:nvPr/>
        </p:nvSpPr>
        <p:spPr>
          <a:xfrm>
            <a:off x="201168" y="2304288"/>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1970</a:t>
            </a:r>
            <a:endParaRPr lang="en-US" sz="1000" dirty="0"/>
          </a:p>
        </p:txBody>
      </p:sp>
      <p:sp>
        <p:nvSpPr>
          <p:cNvPr id="48" name="Shape 46"/>
          <p:cNvSpPr/>
          <p:nvPr/>
        </p:nvSpPr>
        <p:spPr>
          <a:xfrm>
            <a:off x="1005840" y="2304288"/>
            <a:ext cx="1078992" cy="420624"/>
          </a:xfrm>
          <a:prstGeom prst="rect">
            <a:avLst/>
          </a:prstGeom>
          <a:solidFill>
            <a:srgbClr val="88C69F"/>
          </a:solidFill>
          <a:ln w="6350">
            <a:solidFill>
              <a:srgbClr val="CCCCCC"/>
            </a:solidFill>
            <a:prstDash val="solid"/>
          </a:ln>
        </p:spPr>
        <p:txBody>
          <a:bodyPr/>
          <a:lstStyle/>
          <a:p>
            <a:endParaRPr lang="en-US"/>
          </a:p>
        </p:txBody>
      </p:sp>
      <p:sp>
        <p:nvSpPr>
          <p:cNvPr id="49" name="Text 47"/>
          <p:cNvSpPr/>
          <p:nvPr/>
        </p:nvSpPr>
        <p:spPr>
          <a:xfrm>
            <a:off x="1005840" y="230428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6.0</a:t>
            </a:r>
            <a:endParaRPr lang="en-US" sz="1100" dirty="0"/>
          </a:p>
        </p:txBody>
      </p:sp>
      <p:sp>
        <p:nvSpPr>
          <p:cNvPr id="50" name="Shape 48"/>
          <p:cNvSpPr/>
          <p:nvPr/>
        </p:nvSpPr>
        <p:spPr>
          <a:xfrm>
            <a:off x="2084832" y="2304288"/>
            <a:ext cx="1078992" cy="420624"/>
          </a:xfrm>
          <a:prstGeom prst="rect">
            <a:avLst/>
          </a:prstGeom>
          <a:solidFill>
            <a:srgbClr val="C8E6C8"/>
          </a:solidFill>
          <a:ln w="6350">
            <a:solidFill>
              <a:srgbClr val="CCCCCC"/>
            </a:solidFill>
            <a:prstDash val="solid"/>
          </a:ln>
        </p:spPr>
        <p:txBody>
          <a:bodyPr/>
          <a:lstStyle/>
          <a:p>
            <a:endParaRPr lang="en-US"/>
          </a:p>
        </p:txBody>
      </p:sp>
      <p:sp>
        <p:nvSpPr>
          <p:cNvPr id="51" name="Text 49"/>
          <p:cNvSpPr/>
          <p:nvPr/>
        </p:nvSpPr>
        <p:spPr>
          <a:xfrm>
            <a:off x="2084832" y="230428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5.6</a:t>
            </a:r>
            <a:endParaRPr lang="en-US" sz="1100" dirty="0"/>
          </a:p>
        </p:txBody>
      </p:sp>
      <p:sp>
        <p:nvSpPr>
          <p:cNvPr id="52" name="Shape 50"/>
          <p:cNvSpPr/>
          <p:nvPr/>
        </p:nvSpPr>
        <p:spPr>
          <a:xfrm>
            <a:off x="3163824" y="2304288"/>
            <a:ext cx="1078992" cy="420624"/>
          </a:xfrm>
          <a:prstGeom prst="rect">
            <a:avLst/>
          </a:prstGeom>
          <a:solidFill>
            <a:srgbClr val="88C69F"/>
          </a:solidFill>
          <a:ln w="6350">
            <a:solidFill>
              <a:srgbClr val="CCCCCC"/>
            </a:solidFill>
            <a:prstDash val="solid"/>
          </a:ln>
        </p:spPr>
        <p:txBody>
          <a:bodyPr/>
          <a:lstStyle/>
          <a:p>
            <a:endParaRPr lang="en-US"/>
          </a:p>
        </p:txBody>
      </p:sp>
      <p:sp>
        <p:nvSpPr>
          <p:cNvPr id="53" name="Text 51"/>
          <p:cNvSpPr/>
          <p:nvPr/>
        </p:nvSpPr>
        <p:spPr>
          <a:xfrm>
            <a:off x="3163824" y="230428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6.0</a:t>
            </a:r>
            <a:endParaRPr lang="en-US" sz="1100" dirty="0"/>
          </a:p>
        </p:txBody>
      </p:sp>
      <p:sp>
        <p:nvSpPr>
          <p:cNvPr id="54" name="Shape 52"/>
          <p:cNvSpPr/>
          <p:nvPr/>
        </p:nvSpPr>
        <p:spPr>
          <a:xfrm>
            <a:off x="4242816" y="2304288"/>
            <a:ext cx="1078992" cy="420624"/>
          </a:xfrm>
          <a:prstGeom prst="rect">
            <a:avLst/>
          </a:prstGeom>
          <a:solidFill>
            <a:srgbClr val="1C6793"/>
          </a:solidFill>
          <a:ln w="6350">
            <a:solidFill>
              <a:srgbClr val="CCCCCC"/>
            </a:solidFill>
            <a:prstDash val="solid"/>
          </a:ln>
        </p:spPr>
        <p:txBody>
          <a:bodyPr/>
          <a:lstStyle/>
          <a:p>
            <a:endParaRPr lang="en-US"/>
          </a:p>
        </p:txBody>
      </p:sp>
      <p:sp>
        <p:nvSpPr>
          <p:cNvPr id="55" name="Text 53"/>
          <p:cNvSpPr/>
          <p:nvPr/>
        </p:nvSpPr>
        <p:spPr>
          <a:xfrm>
            <a:off x="4242816" y="2304288"/>
            <a:ext cx="1078992"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6.8</a:t>
            </a:r>
            <a:endParaRPr lang="en-US" sz="1100" dirty="0"/>
          </a:p>
        </p:txBody>
      </p:sp>
      <p:sp>
        <p:nvSpPr>
          <p:cNvPr id="56" name="Shape 54"/>
          <p:cNvSpPr/>
          <p:nvPr/>
        </p:nvSpPr>
        <p:spPr>
          <a:xfrm>
            <a:off x="5321808" y="2304288"/>
            <a:ext cx="1078992" cy="420624"/>
          </a:xfrm>
          <a:prstGeom prst="rect">
            <a:avLst/>
          </a:prstGeom>
          <a:solidFill>
            <a:srgbClr val="104383"/>
          </a:solidFill>
          <a:ln w="6350">
            <a:solidFill>
              <a:srgbClr val="CCCCCC"/>
            </a:solidFill>
            <a:prstDash val="solid"/>
          </a:ln>
        </p:spPr>
        <p:txBody>
          <a:bodyPr/>
          <a:lstStyle/>
          <a:p>
            <a:endParaRPr lang="en-US"/>
          </a:p>
        </p:txBody>
      </p:sp>
      <p:sp>
        <p:nvSpPr>
          <p:cNvPr id="57" name="Text 55"/>
          <p:cNvSpPr/>
          <p:nvPr/>
        </p:nvSpPr>
        <p:spPr>
          <a:xfrm>
            <a:off x="5321808" y="2304288"/>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7.1</a:t>
            </a:r>
            <a:endParaRPr lang="en-US" sz="1100" dirty="0"/>
          </a:p>
        </p:txBody>
      </p:sp>
      <p:sp>
        <p:nvSpPr>
          <p:cNvPr id="58" name="Shape 56"/>
          <p:cNvSpPr/>
          <p:nvPr/>
        </p:nvSpPr>
        <p:spPr>
          <a:xfrm>
            <a:off x="6400800" y="2304288"/>
            <a:ext cx="1078992" cy="420624"/>
          </a:xfrm>
          <a:prstGeom prst="rect">
            <a:avLst/>
          </a:prstGeom>
          <a:solidFill>
            <a:srgbClr val="0C306F"/>
          </a:solidFill>
          <a:ln w="6350">
            <a:solidFill>
              <a:srgbClr val="CCCCCC"/>
            </a:solidFill>
            <a:prstDash val="solid"/>
          </a:ln>
        </p:spPr>
        <p:txBody>
          <a:bodyPr/>
          <a:lstStyle/>
          <a:p>
            <a:endParaRPr lang="en-US"/>
          </a:p>
        </p:txBody>
      </p:sp>
      <p:sp>
        <p:nvSpPr>
          <p:cNvPr id="59" name="Text 57"/>
          <p:cNvSpPr/>
          <p:nvPr/>
        </p:nvSpPr>
        <p:spPr>
          <a:xfrm>
            <a:off x="6400800" y="2304288"/>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7.3</a:t>
            </a:r>
            <a:endParaRPr lang="en-US" sz="1100" dirty="0"/>
          </a:p>
        </p:txBody>
      </p:sp>
      <p:sp>
        <p:nvSpPr>
          <p:cNvPr id="60" name="Shape 58"/>
          <p:cNvSpPr/>
          <p:nvPr/>
        </p:nvSpPr>
        <p:spPr>
          <a:xfrm>
            <a:off x="201168" y="2724912"/>
            <a:ext cx="777240" cy="420624"/>
          </a:xfrm>
          <a:prstGeom prst="rect">
            <a:avLst/>
          </a:prstGeom>
          <a:solidFill>
            <a:srgbClr val="1C2E4A"/>
          </a:solidFill>
          <a:ln w="6350">
            <a:solidFill>
              <a:srgbClr val="2A4060"/>
            </a:solidFill>
            <a:prstDash val="solid"/>
          </a:ln>
        </p:spPr>
        <p:txBody>
          <a:bodyPr/>
          <a:lstStyle/>
          <a:p>
            <a:endParaRPr lang="en-US"/>
          </a:p>
        </p:txBody>
      </p:sp>
      <p:sp>
        <p:nvSpPr>
          <p:cNvPr id="61" name="Text 59"/>
          <p:cNvSpPr/>
          <p:nvPr/>
        </p:nvSpPr>
        <p:spPr>
          <a:xfrm>
            <a:off x="201168" y="2724912"/>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1980</a:t>
            </a:r>
            <a:endParaRPr lang="en-US" sz="1000" dirty="0"/>
          </a:p>
        </p:txBody>
      </p:sp>
      <p:sp>
        <p:nvSpPr>
          <p:cNvPr id="62" name="Shape 60"/>
          <p:cNvSpPr/>
          <p:nvPr/>
        </p:nvSpPr>
        <p:spPr>
          <a:xfrm>
            <a:off x="1005840" y="2724912"/>
            <a:ext cx="1078992" cy="420624"/>
          </a:xfrm>
          <a:prstGeom prst="rect">
            <a:avLst/>
          </a:prstGeom>
          <a:solidFill>
            <a:srgbClr val="1C6793"/>
          </a:solidFill>
          <a:ln w="6350">
            <a:solidFill>
              <a:srgbClr val="CCCCCC"/>
            </a:solidFill>
            <a:prstDash val="solid"/>
          </a:ln>
        </p:spPr>
        <p:txBody>
          <a:bodyPr/>
          <a:lstStyle/>
          <a:p>
            <a:endParaRPr lang="en-US"/>
          </a:p>
        </p:txBody>
      </p:sp>
      <p:sp>
        <p:nvSpPr>
          <p:cNvPr id="63" name="Text 61"/>
          <p:cNvSpPr/>
          <p:nvPr/>
        </p:nvSpPr>
        <p:spPr>
          <a:xfrm>
            <a:off x="1005840" y="2724912"/>
            <a:ext cx="1078992"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6.8</a:t>
            </a:r>
            <a:endParaRPr lang="en-US" sz="1100" dirty="0"/>
          </a:p>
        </p:txBody>
      </p:sp>
      <p:sp>
        <p:nvSpPr>
          <p:cNvPr id="64" name="Shape 62"/>
          <p:cNvSpPr/>
          <p:nvPr/>
        </p:nvSpPr>
        <p:spPr>
          <a:xfrm>
            <a:off x="2084832" y="2724912"/>
            <a:ext cx="1078992" cy="420624"/>
          </a:xfrm>
          <a:prstGeom prst="rect">
            <a:avLst/>
          </a:prstGeom>
          <a:solidFill>
            <a:srgbClr val="B8DEBD"/>
          </a:solidFill>
          <a:ln w="6350">
            <a:solidFill>
              <a:srgbClr val="CCCCCC"/>
            </a:solidFill>
            <a:prstDash val="solid"/>
          </a:ln>
        </p:spPr>
        <p:txBody>
          <a:bodyPr/>
          <a:lstStyle/>
          <a:p>
            <a:endParaRPr lang="en-US"/>
          </a:p>
        </p:txBody>
      </p:sp>
      <p:sp>
        <p:nvSpPr>
          <p:cNvPr id="65" name="Text 63"/>
          <p:cNvSpPr/>
          <p:nvPr/>
        </p:nvSpPr>
        <p:spPr>
          <a:xfrm>
            <a:off x="2084832" y="2724912"/>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5.7</a:t>
            </a:r>
            <a:endParaRPr lang="en-US" sz="1100" dirty="0"/>
          </a:p>
        </p:txBody>
      </p:sp>
      <p:sp>
        <p:nvSpPr>
          <p:cNvPr id="66" name="Shape 64"/>
          <p:cNvSpPr/>
          <p:nvPr/>
        </p:nvSpPr>
        <p:spPr>
          <a:xfrm>
            <a:off x="3163824" y="2724912"/>
            <a:ext cx="1078992" cy="420624"/>
          </a:xfrm>
          <a:prstGeom prst="rect">
            <a:avLst/>
          </a:prstGeom>
          <a:solidFill>
            <a:srgbClr val="88C69F"/>
          </a:solidFill>
          <a:ln w="6350">
            <a:solidFill>
              <a:srgbClr val="CCCCCC"/>
            </a:solidFill>
            <a:prstDash val="solid"/>
          </a:ln>
        </p:spPr>
        <p:txBody>
          <a:bodyPr/>
          <a:lstStyle/>
          <a:p>
            <a:endParaRPr lang="en-US"/>
          </a:p>
        </p:txBody>
      </p:sp>
      <p:sp>
        <p:nvSpPr>
          <p:cNvPr id="67" name="Text 65"/>
          <p:cNvSpPr/>
          <p:nvPr/>
        </p:nvSpPr>
        <p:spPr>
          <a:xfrm>
            <a:off x="3163824" y="2724912"/>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6.0</a:t>
            </a:r>
            <a:endParaRPr lang="en-US" sz="1100" dirty="0"/>
          </a:p>
        </p:txBody>
      </p:sp>
      <p:sp>
        <p:nvSpPr>
          <p:cNvPr id="68" name="Shape 66"/>
          <p:cNvSpPr/>
          <p:nvPr/>
        </p:nvSpPr>
        <p:spPr>
          <a:xfrm>
            <a:off x="4242816" y="2724912"/>
            <a:ext cx="1078992" cy="420624"/>
          </a:xfrm>
          <a:prstGeom prst="rect">
            <a:avLst/>
          </a:prstGeom>
          <a:solidFill>
            <a:srgbClr val="2D8092"/>
          </a:solidFill>
          <a:ln w="6350">
            <a:solidFill>
              <a:srgbClr val="CCCCCC"/>
            </a:solidFill>
            <a:prstDash val="solid"/>
          </a:ln>
        </p:spPr>
        <p:txBody>
          <a:bodyPr/>
          <a:lstStyle/>
          <a:p>
            <a:endParaRPr lang="en-US"/>
          </a:p>
        </p:txBody>
      </p:sp>
      <p:sp>
        <p:nvSpPr>
          <p:cNvPr id="69" name="Text 67"/>
          <p:cNvSpPr/>
          <p:nvPr/>
        </p:nvSpPr>
        <p:spPr>
          <a:xfrm>
            <a:off x="4242816" y="2724912"/>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6.6</a:t>
            </a:r>
            <a:endParaRPr lang="en-US" sz="1100" dirty="0"/>
          </a:p>
        </p:txBody>
      </p:sp>
      <p:sp>
        <p:nvSpPr>
          <p:cNvPr id="70" name="Shape 68"/>
          <p:cNvSpPr/>
          <p:nvPr/>
        </p:nvSpPr>
        <p:spPr>
          <a:xfrm>
            <a:off x="5321808" y="2724912"/>
            <a:ext cx="1078992" cy="420624"/>
          </a:xfrm>
          <a:prstGeom prst="rect">
            <a:avLst/>
          </a:prstGeom>
          <a:solidFill>
            <a:srgbClr val="227395"/>
          </a:solidFill>
          <a:ln w="6350">
            <a:solidFill>
              <a:srgbClr val="CCCCCC"/>
            </a:solidFill>
            <a:prstDash val="solid"/>
          </a:ln>
        </p:spPr>
        <p:txBody>
          <a:bodyPr/>
          <a:lstStyle/>
          <a:p>
            <a:endParaRPr lang="en-US"/>
          </a:p>
        </p:txBody>
      </p:sp>
      <p:sp>
        <p:nvSpPr>
          <p:cNvPr id="71" name="Text 69"/>
          <p:cNvSpPr/>
          <p:nvPr/>
        </p:nvSpPr>
        <p:spPr>
          <a:xfrm>
            <a:off x="5321808" y="2724912"/>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6.7</a:t>
            </a:r>
            <a:endParaRPr lang="en-US" sz="1100" dirty="0"/>
          </a:p>
        </p:txBody>
      </p:sp>
      <p:sp>
        <p:nvSpPr>
          <p:cNvPr id="72" name="Shape 70"/>
          <p:cNvSpPr/>
          <p:nvPr/>
        </p:nvSpPr>
        <p:spPr>
          <a:xfrm>
            <a:off x="6400800" y="2724912"/>
            <a:ext cx="1078992" cy="420624"/>
          </a:xfrm>
          <a:prstGeom prst="rect">
            <a:avLst/>
          </a:prstGeom>
          <a:solidFill>
            <a:srgbClr val="104383"/>
          </a:solidFill>
          <a:ln w="6350">
            <a:solidFill>
              <a:srgbClr val="CCCCCC"/>
            </a:solidFill>
            <a:prstDash val="solid"/>
          </a:ln>
        </p:spPr>
        <p:txBody>
          <a:bodyPr/>
          <a:lstStyle/>
          <a:p>
            <a:endParaRPr lang="en-US"/>
          </a:p>
        </p:txBody>
      </p:sp>
      <p:sp>
        <p:nvSpPr>
          <p:cNvPr id="73" name="Text 71"/>
          <p:cNvSpPr/>
          <p:nvPr/>
        </p:nvSpPr>
        <p:spPr>
          <a:xfrm>
            <a:off x="6400800" y="2724912"/>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7.1</a:t>
            </a:r>
            <a:endParaRPr lang="en-US" sz="1100" dirty="0"/>
          </a:p>
        </p:txBody>
      </p:sp>
      <p:sp>
        <p:nvSpPr>
          <p:cNvPr id="74" name="Shape 72"/>
          <p:cNvSpPr/>
          <p:nvPr/>
        </p:nvSpPr>
        <p:spPr>
          <a:xfrm>
            <a:off x="201168" y="3145536"/>
            <a:ext cx="777240" cy="420624"/>
          </a:xfrm>
          <a:prstGeom prst="rect">
            <a:avLst/>
          </a:prstGeom>
          <a:solidFill>
            <a:srgbClr val="1C2E4A"/>
          </a:solidFill>
          <a:ln w="6350">
            <a:solidFill>
              <a:srgbClr val="2A4060"/>
            </a:solidFill>
            <a:prstDash val="solid"/>
          </a:ln>
        </p:spPr>
        <p:txBody>
          <a:bodyPr/>
          <a:lstStyle/>
          <a:p>
            <a:endParaRPr lang="en-US"/>
          </a:p>
        </p:txBody>
      </p:sp>
      <p:sp>
        <p:nvSpPr>
          <p:cNvPr id="75" name="Text 73"/>
          <p:cNvSpPr/>
          <p:nvPr/>
        </p:nvSpPr>
        <p:spPr>
          <a:xfrm>
            <a:off x="201168" y="3145536"/>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1990</a:t>
            </a:r>
            <a:endParaRPr lang="en-US" sz="1000" dirty="0"/>
          </a:p>
        </p:txBody>
      </p:sp>
      <p:sp>
        <p:nvSpPr>
          <p:cNvPr id="76" name="Shape 74"/>
          <p:cNvSpPr/>
          <p:nvPr/>
        </p:nvSpPr>
        <p:spPr>
          <a:xfrm>
            <a:off x="1005840" y="3145536"/>
            <a:ext cx="1078992" cy="420624"/>
          </a:xfrm>
          <a:prstGeom prst="rect">
            <a:avLst/>
          </a:prstGeom>
          <a:solidFill>
            <a:srgbClr val="227395"/>
          </a:solidFill>
          <a:ln w="6350">
            <a:solidFill>
              <a:srgbClr val="CCCCCC"/>
            </a:solidFill>
            <a:prstDash val="solid"/>
          </a:ln>
        </p:spPr>
        <p:txBody>
          <a:bodyPr/>
          <a:lstStyle/>
          <a:p>
            <a:endParaRPr lang="en-US"/>
          </a:p>
        </p:txBody>
      </p:sp>
      <p:sp>
        <p:nvSpPr>
          <p:cNvPr id="77" name="Text 75"/>
          <p:cNvSpPr/>
          <p:nvPr/>
        </p:nvSpPr>
        <p:spPr>
          <a:xfrm>
            <a:off x="1005840" y="3145536"/>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6.7</a:t>
            </a:r>
            <a:endParaRPr lang="en-US" sz="1100" dirty="0"/>
          </a:p>
        </p:txBody>
      </p:sp>
      <p:sp>
        <p:nvSpPr>
          <p:cNvPr id="78" name="Shape 76"/>
          <p:cNvSpPr/>
          <p:nvPr/>
        </p:nvSpPr>
        <p:spPr>
          <a:xfrm>
            <a:off x="2084832" y="3145536"/>
            <a:ext cx="1078992" cy="420624"/>
          </a:xfrm>
          <a:prstGeom prst="rect">
            <a:avLst/>
          </a:prstGeom>
          <a:solidFill>
            <a:srgbClr val="A8D6B3"/>
          </a:solidFill>
          <a:ln w="6350">
            <a:solidFill>
              <a:srgbClr val="CCCCCC"/>
            </a:solidFill>
            <a:prstDash val="solid"/>
          </a:ln>
        </p:spPr>
        <p:txBody>
          <a:bodyPr/>
          <a:lstStyle/>
          <a:p>
            <a:endParaRPr lang="en-US"/>
          </a:p>
        </p:txBody>
      </p:sp>
      <p:sp>
        <p:nvSpPr>
          <p:cNvPr id="79" name="Text 77"/>
          <p:cNvSpPr/>
          <p:nvPr/>
        </p:nvSpPr>
        <p:spPr>
          <a:xfrm>
            <a:off x="2084832" y="3145536"/>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5.8</a:t>
            </a:r>
            <a:endParaRPr lang="en-US" sz="1100" dirty="0"/>
          </a:p>
        </p:txBody>
      </p:sp>
      <p:sp>
        <p:nvSpPr>
          <p:cNvPr id="80" name="Shape 78"/>
          <p:cNvSpPr/>
          <p:nvPr/>
        </p:nvSpPr>
        <p:spPr>
          <a:xfrm>
            <a:off x="3163824" y="3145536"/>
            <a:ext cx="1078992" cy="420624"/>
          </a:xfrm>
          <a:prstGeom prst="rect">
            <a:avLst/>
          </a:prstGeom>
          <a:solidFill>
            <a:srgbClr val="88C69F"/>
          </a:solidFill>
          <a:ln w="6350">
            <a:solidFill>
              <a:srgbClr val="CCCCCC"/>
            </a:solidFill>
            <a:prstDash val="solid"/>
          </a:ln>
        </p:spPr>
        <p:txBody>
          <a:bodyPr/>
          <a:lstStyle/>
          <a:p>
            <a:endParaRPr lang="en-US"/>
          </a:p>
        </p:txBody>
      </p:sp>
      <p:sp>
        <p:nvSpPr>
          <p:cNvPr id="81" name="Text 79"/>
          <p:cNvSpPr/>
          <p:nvPr/>
        </p:nvSpPr>
        <p:spPr>
          <a:xfrm>
            <a:off x="3163824" y="3145536"/>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6.0</a:t>
            </a:r>
            <a:endParaRPr lang="en-US" sz="1100" dirty="0"/>
          </a:p>
        </p:txBody>
      </p:sp>
      <p:sp>
        <p:nvSpPr>
          <p:cNvPr id="82" name="Shape 80"/>
          <p:cNvSpPr/>
          <p:nvPr/>
        </p:nvSpPr>
        <p:spPr>
          <a:xfrm>
            <a:off x="4242816" y="3145536"/>
            <a:ext cx="1078992" cy="420624"/>
          </a:xfrm>
          <a:prstGeom prst="rect">
            <a:avLst/>
          </a:prstGeom>
          <a:solidFill>
            <a:srgbClr val="429B8D"/>
          </a:solidFill>
          <a:ln w="6350">
            <a:solidFill>
              <a:srgbClr val="CCCCCC"/>
            </a:solidFill>
            <a:prstDash val="solid"/>
          </a:ln>
        </p:spPr>
        <p:txBody>
          <a:bodyPr/>
          <a:lstStyle/>
          <a:p>
            <a:endParaRPr lang="en-US"/>
          </a:p>
        </p:txBody>
      </p:sp>
      <p:sp>
        <p:nvSpPr>
          <p:cNvPr id="83" name="Text 81"/>
          <p:cNvSpPr/>
          <p:nvPr/>
        </p:nvSpPr>
        <p:spPr>
          <a:xfrm>
            <a:off x="4242816" y="3145536"/>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6.4</a:t>
            </a:r>
            <a:endParaRPr lang="en-US" sz="1100" dirty="0"/>
          </a:p>
        </p:txBody>
      </p:sp>
      <p:sp>
        <p:nvSpPr>
          <p:cNvPr id="84" name="Shape 82"/>
          <p:cNvSpPr/>
          <p:nvPr/>
        </p:nvSpPr>
        <p:spPr>
          <a:xfrm>
            <a:off x="5321808" y="3145536"/>
            <a:ext cx="1078992" cy="420624"/>
          </a:xfrm>
          <a:prstGeom prst="rect">
            <a:avLst/>
          </a:prstGeom>
          <a:solidFill>
            <a:srgbClr val="429B8D"/>
          </a:solidFill>
          <a:ln w="6350">
            <a:solidFill>
              <a:srgbClr val="CCCCCC"/>
            </a:solidFill>
            <a:prstDash val="solid"/>
          </a:ln>
        </p:spPr>
        <p:txBody>
          <a:bodyPr/>
          <a:lstStyle/>
          <a:p>
            <a:endParaRPr lang="en-US"/>
          </a:p>
        </p:txBody>
      </p:sp>
      <p:sp>
        <p:nvSpPr>
          <p:cNvPr id="85" name="Text 83"/>
          <p:cNvSpPr/>
          <p:nvPr/>
        </p:nvSpPr>
        <p:spPr>
          <a:xfrm>
            <a:off x="5321808" y="3145536"/>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6.4</a:t>
            </a:r>
            <a:endParaRPr lang="en-US" sz="1100" dirty="0"/>
          </a:p>
        </p:txBody>
      </p:sp>
      <p:sp>
        <p:nvSpPr>
          <p:cNvPr id="86" name="Shape 84"/>
          <p:cNvSpPr/>
          <p:nvPr/>
        </p:nvSpPr>
        <p:spPr>
          <a:xfrm>
            <a:off x="6400800" y="3145536"/>
            <a:ext cx="1078992" cy="420624"/>
          </a:xfrm>
          <a:prstGeom prst="rect">
            <a:avLst/>
          </a:prstGeom>
          <a:solidFill>
            <a:srgbClr val="144F88"/>
          </a:solidFill>
          <a:ln w="6350">
            <a:solidFill>
              <a:srgbClr val="CCCCCC"/>
            </a:solidFill>
            <a:prstDash val="solid"/>
          </a:ln>
        </p:spPr>
        <p:txBody>
          <a:bodyPr/>
          <a:lstStyle/>
          <a:p>
            <a:endParaRPr lang="en-US"/>
          </a:p>
        </p:txBody>
      </p:sp>
      <p:sp>
        <p:nvSpPr>
          <p:cNvPr id="87" name="Text 85"/>
          <p:cNvSpPr/>
          <p:nvPr/>
        </p:nvSpPr>
        <p:spPr>
          <a:xfrm>
            <a:off x="6400800" y="3145536"/>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7.0</a:t>
            </a:r>
            <a:endParaRPr lang="en-US" sz="1100" dirty="0"/>
          </a:p>
        </p:txBody>
      </p:sp>
      <p:sp>
        <p:nvSpPr>
          <p:cNvPr id="88" name="Shape 86"/>
          <p:cNvSpPr/>
          <p:nvPr/>
        </p:nvSpPr>
        <p:spPr>
          <a:xfrm>
            <a:off x="201168" y="3566160"/>
            <a:ext cx="777240" cy="420624"/>
          </a:xfrm>
          <a:prstGeom prst="rect">
            <a:avLst/>
          </a:prstGeom>
          <a:solidFill>
            <a:srgbClr val="1C2E4A"/>
          </a:solidFill>
          <a:ln w="6350">
            <a:solidFill>
              <a:srgbClr val="2A4060"/>
            </a:solidFill>
            <a:prstDash val="solid"/>
          </a:ln>
        </p:spPr>
        <p:txBody>
          <a:bodyPr/>
          <a:lstStyle/>
          <a:p>
            <a:endParaRPr lang="en-US"/>
          </a:p>
        </p:txBody>
      </p:sp>
      <p:sp>
        <p:nvSpPr>
          <p:cNvPr id="89" name="Text 87"/>
          <p:cNvSpPr/>
          <p:nvPr/>
        </p:nvSpPr>
        <p:spPr>
          <a:xfrm>
            <a:off x="201168" y="3566160"/>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2000</a:t>
            </a:r>
            <a:endParaRPr lang="en-US" sz="1000" dirty="0"/>
          </a:p>
        </p:txBody>
      </p:sp>
      <p:sp>
        <p:nvSpPr>
          <p:cNvPr id="90" name="Shape 88"/>
          <p:cNvSpPr/>
          <p:nvPr/>
        </p:nvSpPr>
        <p:spPr>
          <a:xfrm>
            <a:off x="1005840" y="3566160"/>
            <a:ext cx="1078992" cy="420624"/>
          </a:xfrm>
          <a:prstGeom prst="rect">
            <a:avLst/>
          </a:prstGeom>
          <a:solidFill>
            <a:srgbClr val="185B8E"/>
          </a:solidFill>
          <a:ln w="6350">
            <a:solidFill>
              <a:srgbClr val="CCCCCC"/>
            </a:solidFill>
            <a:prstDash val="solid"/>
          </a:ln>
        </p:spPr>
        <p:txBody>
          <a:bodyPr/>
          <a:lstStyle/>
          <a:p>
            <a:endParaRPr lang="en-US"/>
          </a:p>
        </p:txBody>
      </p:sp>
      <p:sp>
        <p:nvSpPr>
          <p:cNvPr id="91" name="Text 89"/>
          <p:cNvSpPr/>
          <p:nvPr/>
        </p:nvSpPr>
        <p:spPr>
          <a:xfrm>
            <a:off x="1005840" y="3566160"/>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6.9</a:t>
            </a:r>
            <a:endParaRPr lang="en-US" sz="1100" dirty="0"/>
          </a:p>
        </p:txBody>
      </p:sp>
      <p:sp>
        <p:nvSpPr>
          <p:cNvPr id="92" name="Shape 90"/>
          <p:cNvSpPr/>
          <p:nvPr/>
        </p:nvSpPr>
        <p:spPr>
          <a:xfrm>
            <a:off x="2084832" y="3566160"/>
            <a:ext cx="1078992" cy="420624"/>
          </a:xfrm>
          <a:prstGeom prst="rect">
            <a:avLst/>
          </a:prstGeom>
          <a:solidFill>
            <a:srgbClr val="76BB9A"/>
          </a:solidFill>
          <a:ln w="6350">
            <a:solidFill>
              <a:srgbClr val="CCCCCC"/>
            </a:solidFill>
            <a:prstDash val="solid"/>
          </a:ln>
        </p:spPr>
        <p:txBody>
          <a:bodyPr/>
          <a:lstStyle/>
          <a:p>
            <a:endParaRPr lang="en-US"/>
          </a:p>
        </p:txBody>
      </p:sp>
      <p:sp>
        <p:nvSpPr>
          <p:cNvPr id="93" name="Text 91"/>
          <p:cNvSpPr/>
          <p:nvPr/>
        </p:nvSpPr>
        <p:spPr>
          <a:xfrm>
            <a:off x="2084832" y="356616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6.1</a:t>
            </a:r>
            <a:endParaRPr lang="en-US" sz="1100" dirty="0"/>
          </a:p>
        </p:txBody>
      </p:sp>
      <p:sp>
        <p:nvSpPr>
          <p:cNvPr id="94" name="Shape 92"/>
          <p:cNvSpPr/>
          <p:nvPr/>
        </p:nvSpPr>
        <p:spPr>
          <a:xfrm>
            <a:off x="3163824" y="3566160"/>
            <a:ext cx="1078992" cy="420624"/>
          </a:xfrm>
          <a:prstGeom prst="rect">
            <a:avLst/>
          </a:prstGeom>
          <a:solidFill>
            <a:srgbClr val="76BB9A"/>
          </a:solidFill>
          <a:ln w="6350">
            <a:solidFill>
              <a:srgbClr val="CCCCCC"/>
            </a:solidFill>
            <a:prstDash val="solid"/>
          </a:ln>
        </p:spPr>
        <p:txBody>
          <a:bodyPr/>
          <a:lstStyle/>
          <a:p>
            <a:endParaRPr lang="en-US"/>
          </a:p>
        </p:txBody>
      </p:sp>
      <p:sp>
        <p:nvSpPr>
          <p:cNvPr id="95" name="Text 93"/>
          <p:cNvSpPr/>
          <p:nvPr/>
        </p:nvSpPr>
        <p:spPr>
          <a:xfrm>
            <a:off x="3163824" y="356616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6.1</a:t>
            </a:r>
            <a:endParaRPr lang="en-US" sz="1100" dirty="0"/>
          </a:p>
        </p:txBody>
      </p:sp>
      <p:sp>
        <p:nvSpPr>
          <p:cNvPr id="96" name="Shape 94"/>
          <p:cNvSpPr/>
          <p:nvPr/>
        </p:nvSpPr>
        <p:spPr>
          <a:xfrm>
            <a:off x="4242816" y="3566160"/>
            <a:ext cx="1078992" cy="420624"/>
          </a:xfrm>
          <a:prstGeom prst="rect">
            <a:avLst/>
          </a:prstGeom>
          <a:solidFill>
            <a:srgbClr val="51A68F"/>
          </a:solidFill>
          <a:ln w="6350">
            <a:solidFill>
              <a:srgbClr val="CCCCCC"/>
            </a:solidFill>
            <a:prstDash val="solid"/>
          </a:ln>
        </p:spPr>
        <p:txBody>
          <a:bodyPr/>
          <a:lstStyle/>
          <a:p>
            <a:endParaRPr lang="en-US"/>
          </a:p>
        </p:txBody>
      </p:sp>
      <p:sp>
        <p:nvSpPr>
          <p:cNvPr id="97" name="Text 95"/>
          <p:cNvSpPr/>
          <p:nvPr/>
        </p:nvSpPr>
        <p:spPr>
          <a:xfrm>
            <a:off x="4242816" y="356616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6.3</a:t>
            </a:r>
            <a:endParaRPr lang="en-US" sz="1100" dirty="0"/>
          </a:p>
        </p:txBody>
      </p:sp>
      <p:sp>
        <p:nvSpPr>
          <p:cNvPr id="98" name="Shape 96"/>
          <p:cNvSpPr/>
          <p:nvPr/>
        </p:nvSpPr>
        <p:spPr>
          <a:xfrm>
            <a:off x="5321808" y="3566160"/>
            <a:ext cx="1078992" cy="420624"/>
          </a:xfrm>
          <a:prstGeom prst="rect">
            <a:avLst/>
          </a:prstGeom>
          <a:solidFill>
            <a:srgbClr val="429B8D"/>
          </a:solidFill>
          <a:ln w="6350">
            <a:solidFill>
              <a:srgbClr val="CCCCCC"/>
            </a:solidFill>
            <a:prstDash val="solid"/>
          </a:ln>
        </p:spPr>
        <p:txBody>
          <a:bodyPr/>
          <a:lstStyle/>
          <a:p>
            <a:endParaRPr lang="en-US"/>
          </a:p>
        </p:txBody>
      </p:sp>
      <p:sp>
        <p:nvSpPr>
          <p:cNvPr id="99" name="Text 97"/>
          <p:cNvSpPr/>
          <p:nvPr/>
        </p:nvSpPr>
        <p:spPr>
          <a:xfrm>
            <a:off x="5321808" y="356616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6.4</a:t>
            </a:r>
            <a:endParaRPr lang="en-US" sz="1100" dirty="0"/>
          </a:p>
        </p:txBody>
      </p:sp>
      <p:sp>
        <p:nvSpPr>
          <p:cNvPr id="100" name="Shape 98"/>
          <p:cNvSpPr/>
          <p:nvPr/>
        </p:nvSpPr>
        <p:spPr>
          <a:xfrm>
            <a:off x="6400800" y="3566160"/>
            <a:ext cx="1078992" cy="420624"/>
          </a:xfrm>
          <a:prstGeom prst="rect">
            <a:avLst/>
          </a:prstGeom>
          <a:solidFill>
            <a:srgbClr val="144F88"/>
          </a:solidFill>
          <a:ln w="6350">
            <a:solidFill>
              <a:srgbClr val="CCCCCC"/>
            </a:solidFill>
            <a:prstDash val="solid"/>
          </a:ln>
        </p:spPr>
        <p:txBody>
          <a:bodyPr/>
          <a:lstStyle/>
          <a:p>
            <a:endParaRPr lang="en-US"/>
          </a:p>
        </p:txBody>
      </p:sp>
      <p:sp>
        <p:nvSpPr>
          <p:cNvPr id="101" name="Text 99"/>
          <p:cNvSpPr/>
          <p:nvPr/>
        </p:nvSpPr>
        <p:spPr>
          <a:xfrm>
            <a:off x="6400800" y="3566160"/>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7.0</a:t>
            </a:r>
            <a:endParaRPr lang="en-US" sz="1100" dirty="0"/>
          </a:p>
        </p:txBody>
      </p:sp>
      <p:sp>
        <p:nvSpPr>
          <p:cNvPr id="102" name="Shape 100"/>
          <p:cNvSpPr/>
          <p:nvPr/>
        </p:nvSpPr>
        <p:spPr>
          <a:xfrm>
            <a:off x="201168" y="3986784"/>
            <a:ext cx="777240" cy="420624"/>
          </a:xfrm>
          <a:prstGeom prst="rect">
            <a:avLst/>
          </a:prstGeom>
          <a:solidFill>
            <a:srgbClr val="1C2E4A"/>
          </a:solidFill>
          <a:ln w="6350">
            <a:solidFill>
              <a:srgbClr val="2A4060"/>
            </a:solidFill>
            <a:prstDash val="solid"/>
          </a:ln>
        </p:spPr>
        <p:txBody>
          <a:bodyPr/>
          <a:lstStyle/>
          <a:p>
            <a:endParaRPr lang="en-US"/>
          </a:p>
        </p:txBody>
      </p:sp>
      <p:sp>
        <p:nvSpPr>
          <p:cNvPr id="103" name="Text 101"/>
          <p:cNvSpPr/>
          <p:nvPr/>
        </p:nvSpPr>
        <p:spPr>
          <a:xfrm>
            <a:off x="201168" y="3986784"/>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2010</a:t>
            </a:r>
            <a:endParaRPr lang="en-US" sz="1000" dirty="0"/>
          </a:p>
        </p:txBody>
      </p:sp>
      <p:sp>
        <p:nvSpPr>
          <p:cNvPr id="104" name="Shape 102"/>
          <p:cNvSpPr/>
          <p:nvPr/>
        </p:nvSpPr>
        <p:spPr>
          <a:xfrm>
            <a:off x="1005840" y="3986784"/>
            <a:ext cx="1078992" cy="420624"/>
          </a:xfrm>
          <a:prstGeom prst="rect">
            <a:avLst/>
          </a:prstGeom>
          <a:solidFill>
            <a:srgbClr val="185B8E"/>
          </a:solidFill>
          <a:ln w="6350">
            <a:solidFill>
              <a:srgbClr val="CCCCCC"/>
            </a:solidFill>
            <a:prstDash val="solid"/>
          </a:ln>
        </p:spPr>
        <p:txBody>
          <a:bodyPr/>
          <a:lstStyle/>
          <a:p>
            <a:endParaRPr lang="en-US"/>
          </a:p>
        </p:txBody>
      </p:sp>
      <p:sp>
        <p:nvSpPr>
          <p:cNvPr id="105" name="Text 103"/>
          <p:cNvSpPr/>
          <p:nvPr/>
        </p:nvSpPr>
        <p:spPr>
          <a:xfrm>
            <a:off x="1005840" y="3986784"/>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6.9</a:t>
            </a:r>
            <a:endParaRPr lang="en-US" sz="1100" dirty="0"/>
          </a:p>
        </p:txBody>
      </p:sp>
      <p:sp>
        <p:nvSpPr>
          <p:cNvPr id="106" name="Shape 104"/>
          <p:cNvSpPr/>
          <p:nvPr/>
        </p:nvSpPr>
        <p:spPr>
          <a:xfrm>
            <a:off x="2084832" y="3986784"/>
            <a:ext cx="1078992" cy="420624"/>
          </a:xfrm>
          <a:prstGeom prst="rect">
            <a:avLst/>
          </a:prstGeom>
          <a:solidFill>
            <a:srgbClr val="76BB9A"/>
          </a:solidFill>
          <a:ln w="6350">
            <a:solidFill>
              <a:srgbClr val="CCCCCC"/>
            </a:solidFill>
            <a:prstDash val="solid"/>
          </a:ln>
        </p:spPr>
        <p:txBody>
          <a:bodyPr/>
          <a:lstStyle/>
          <a:p>
            <a:endParaRPr lang="en-US"/>
          </a:p>
        </p:txBody>
      </p:sp>
      <p:sp>
        <p:nvSpPr>
          <p:cNvPr id="107" name="Text 105"/>
          <p:cNvSpPr/>
          <p:nvPr/>
        </p:nvSpPr>
        <p:spPr>
          <a:xfrm>
            <a:off x="2084832" y="398678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6.1</a:t>
            </a:r>
            <a:endParaRPr lang="en-US" sz="1100" dirty="0"/>
          </a:p>
        </p:txBody>
      </p:sp>
      <p:sp>
        <p:nvSpPr>
          <p:cNvPr id="108" name="Shape 106"/>
          <p:cNvSpPr/>
          <p:nvPr/>
        </p:nvSpPr>
        <p:spPr>
          <a:xfrm>
            <a:off x="3163824" y="3986784"/>
            <a:ext cx="1078992" cy="420624"/>
          </a:xfrm>
          <a:prstGeom prst="rect">
            <a:avLst/>
          </a:prstGeom>
          <a:solidFill>
            <a:srgbClr val="76BB9A"/>
          </a:solidFill>
          <a:ln w="6350">
            <a:solidFill>
              <a:srgbClr val="CCCCCC"/>
            </a:solidFill>
            <a:prstDash val="solid"/>
          </a:ln>
        </p:spPr>
        <p:txBody>
          <a:bodyPr/>
          <a:lstStyle/>
          <a:p>
            <a:endParaRPr lang="en-US"/>
          </a:p>
        </p:txBody>
      </p:sp>
      <p:sp>
        <p:nvSpPr>
          <p:cNvPr id="109" name="Text 107"/>
          <p:cNvSpPr/>
          <p:nvPr/>
        </p:nvSpPr>
        <p:spPr>
          <a:xfrm>
            <a:off x="3163824" y="398678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6.1</a:t>
            </a:r>
            <a:endParaRPr lang="en-US" sz="1100" dirty="0"/>
          </a:p>
        </p:txBody>
      </p:sp>
      <p:sp>
        <p:nvSpPr>
          <p:cNvPr id="110" name="Shape 108"/>
          <p:cNvSpPr/>
          <p:nvPr/>
        </p:nvSpPr>
        <p:spPr>
          <a:xfrm>
            <a:off x="4242816" y="3986784"/>
            <a:ext cx="1078992" cy="420624"/>
          </a:xfrm>
          <a:prstGeom prst="rect">
            <a:avLst/>
          </a:prstGeom>
          <a:solidFill>
            <a:srgbClr val="51A68F"/>
          </a:solidFill>
          <a:ln w="6350">
            <a:solidFill>
              <a:srgbClr val="CCCCCC"/>
            </a:solidFill>
            <a:prstDash val="solid"/>
          </a:ln>
        </p:spPr>
        <p:txBody>
          <a:bodyPr/>
          <a:lstStyle/>
          <a:p>
            <a:endParaRPr lang="en-US"/>
          </a:p>
        </p:txBody>
      </p:sp>
      <p:sp>
        <p:nvSpPr>
          <p:cNvPr id="111" name="Text 109"/>
          <p:cNvSpPr/>
          <p:nvPr/>
        </p:nvSpPr>
        <p:spPr>
          <a:xfrm>
            <a:off x="4242816" y="398678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6.3</a:t>
            </a:r>
            <a:endParaRPr lang="en-US" sz="1100" dirty="0"/>
          </a:p>
        </p:txBody>
      </p:sp>
      <p:sp>
        <p:nvSpPr>
          <p:cNvPr id="112" name="Shape 110"/>
          <p:cNvSpPr/>
          <p:nvPr/>
        </p:nvSpPr>
        <p:spPr>
          <a:xfrm>
            <a:off x="5321808" y="3986784"/>
            <a:ext cx="1078992" cy="420624"/>
          </a:xfrm>
          <a:prstGeom prst="rect">
            <a:avLst/>
          </a:prstGeom>
          <a:solidFill>
            <a:srgbClr val="378E90"/>
          </a:solidFill>
          <a:ln w="6350">
            <a:solidFill>
              <a:srgbClr val="CCCCCC"/>
            </a:solidFill>
            <a:prstDash val="solid"/>
          </a:ln>
        </p:spPr>
        <p:txBody>
          <a:bodyPr/>
          <a:lstStyle/>
          <a:p>
            <a:endParaRPr lang="en-US"/>
          </a:p>
        </p:txBody>
      </p:sp>
      <p:sp>
        <p:nvSpPr>
          <p:cNvPr id="113" name="Text 111"/>
          <p:cNvSpPr/>
          <p:nvPr/>
        </p:nvSpPr>
        <p:spPr>
          <a:xfrm>
            <a:off x="5321808" y="398678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6.5</a:t>
            </a:r>
            <a:endParaRPr lang="en-US" sz="1100" dirty="0"/>
          </a:p>
        </p:txBody>
      </p:sp>
      <p:sp>
        <p:nvSpPr>
          <p:cNvPr id="114" name="Shape 112"/>
          <p:cNvSpPr/>
          <p:nvPr/>
        </p:nvSpPr>
        <p:spPr>
          <a:xfrm>
            <a:off x="6400800" y="3986784"/>
            <a:ext cx="1078992" cy="420624"/>
          </a:xfrm>
          <a:prstGeom prst="rect">
            <a:avLst/>
          </a:prstGeom>
          <a:solidFill>
            <a:srgbClr val="104383"/>
          </a:solidFill>
          <a:ln w="6350">
            <a:solidFill>
              <a:srgbClr val="CCCCCC"/>
            </a:solidFill>
            <a:prstDash val="solid"/>
          </a:ln>
        </p:spPr>
        <p:txBody>
          <a:bodyPr/>
          <a:lstStyle/>
          <a:p>
            <a:endParaRPr lang="en-US"/>
          </a:p>
        </p:txBody>
      </p:sp>
      <p:sp>
        <p:nvSpPr>
          <p:cNvPr id="115" name="Text 113"/>
          <p:cNvSpPr/>
          <p:nvPr/>
        </p:nvSpPr>
        <p:spPr>
          <a:xfrm>
            <a:off x="6400800" y="3986784"/>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7.1</a:t>
            </a:r>
            <a:endParaRPr lang="en-US" sz="1100" dirty="0"/>
          </a:p>
        </p:txBody>
      </p:sp>
      <p:sp>
        <p:nvSpPr>
          <p:cNvPr id="116" name="Shape 114"/>
          <p:cNvSpPr/>
          <p:nvPr/>
        </p:nvSpPr>
        <p:spPr>
          <a:xfrm>
            <a:off x="201168" y="4407408"/>
            <a:ext cx="777240" cy="420624"/>
          </a:xfrm>
          <a:prstGeom prst="rect">
            <a:avLst/>
          </a:prstGeom>
          <a:solidFill>
            <a:srgbClr val="1C2E4A"/>
          </a:solidFill>
          <a:ln w="6350">
            <a:solidFill>
              <a:srgbClr val="2A4060"/>
            </a:solidFill>
            <a:prstDash val="solid"/>
          </a:ln>
        </p:spPr>
        <p:txBody>
          <a:bodyPr/>
          <a:lstStyle/>
          <a:p>
            <a:endParaRPr lang="en-US"/>
          </a:p>
        </p:txBody>
      </p:sp>
      <p:sp>
        <p:nvSpPr>
          <p:cNvPr id="117" name="Text 115"/>
          <p:cNvSpPr/>
          <p:nvPr/>
        </p:nvSpPr>
        <p:spPr>
          <a:xfrm>
            <a:off x="201168" y="4407408"/>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2020</a:t>
            </a:r>
            <a:endParaRPr lang="en-US" sz="1000" dirty="0"/>
          </a:p>
        </p:txBody>
      </p:sp>
      <p:sp>
        <p:nvSpPr>
          <p:cNvPr id="118" name="Shape 116"/>
          <p:cNvSpPr/>
          <p:nvPr/>
        </p:nvSpPr>
        <p:spPr>
          <a:xfrm>
            <a:off x="1005840" y="4407408"/>
            <a:ext cx="1078992" cy="420624"/>
          </a:xfrm>
          <a:prstGeom prst="rect">
            <a:avLst/>
          </a:prstGeom>
          <a:solidFill>
            <a:srgbClr val="378E90"/>
          </a:solidFill>
          <a:ln w="6350">
            <a:solidFill>
              <a:srgbClr val="CCCCCC"/>
            </a:solidFill>
            <a:prstDash val="solid"/>
          </a:ln>
        </p:spPr>
        <p:txBody>
          <a:bodyPr/>
          <a:lstStyle/>
          <a:p>
            <a:endParaRPr lang="en-US"/>
          </a:p>
        </p:txBody>
      </p:sp>
      <p:sp>
        <p:nvSpPr>
          <p:cNvPr id="119" name="Text 117"/>
          <p:cNvSpPr/>
          <p:nvPr/>
        </p:nvSpPr>
        <p:spPr>
          <a:xfrm>
            <a:off x="1005840" y="440740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6.5</a:t>
            </a:r>
            <a:endParaRPr lang="en-US" sz="1100" dirty="0"/>
          </a:p>
        </p:txBody>
      </p:sp>
      <p:sp>
        <p:nvSpPr>
          <p:cNvPr id="120" name="Shape 118"/>
          <p:cNvSpPr/>
          <p:nvPr/>
        </p:nvSpPr>
        <p:spPr>
          <a:xfrm>
            <a:off x="2084832" y="4407408"/>
            <a:ext cx="1078992" cy="420624"/>
          </a:xfrm>
          <a:prstGeom prst="rect">
            <a:avLst/>
          </a:prstGeom>
          <a:solidFill>
            <a:srgbClr val="76BB9A"/>
          </a:solidFill>
          <a:ln w="6350">
            <a:solidFill>
              <a:srgbClr val="CCCCCC"/>
            </a:solidFill>
            <a:prstDash val="solid"/>
          </a:ln>
        </p:spPr>
        <p:txBody>
          <a:bodyPr/>
          <a:lstStyle/>
          <a:p>
            <a:endParaRPr lang="en-US"/>
          </a:p>
        </p:txBody>
      </p:sp>
      <p:sp>
        <p:nvSpPr>
          <p:cNvPr id="121" name="Text 119"/>
          <p:cNvSpPr/>
          <p:nvPr/>
        </p:nvSpPr>
        <p:spPr>
          <a:xfrm>
            <a:off x="2084832" y="440740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6.1</a:t>
            </a:r>
            <a:endParaRPr lang="en-US" sz="1100" dirty="0"/>
          </a:p>
        </p:txBody>
      </p:sp>
      <p:sp>
        <p:nvSpPr>
          <p:cNvPr id="122" name="Shape 120"/>
          <p:cNvSpPr/>
          <p:nvPr/>
        </p:nvSpPr>
        <p:spPr>
          <a:xfrm>
            <a:off x="3163824" y="4407408"/>
            <a:ext cx="1078992" cy="420624"/>
          </a:xfrm>
          <a:prstGeom prst="rect">
            <a:avLst/>
          </a:prstGeom>
          <a:solidFill>
            <a:srgbClr val="63B194"/>
          </a:solidFill>
          <a:ln w="6350">
            <a:solidFill>
              <a:srgbClr val="CCCCCC"/>
            </a:solidFill>
            <a:prstDash val="solid"/>
          </a:ln>
        </p:spPr>
        <p:txBody>
          <a:bodyPr/>
          <a:lstStyle/>
          <a:p>
            <a:endParaRPr lang="en-US"/>
          </a:p>
        </p:txBody>
      </p:sp>
      <p:sp>
        <p:nvSpPr>
          <p:cNvPr id="123" name="Text 121"/>
          <p:cNvSpPr/>
          <p:nvPr/>
        </p:nvSpPr>
        <p:spPr>
          <a:xfrm>
            <a:off x="3163824" y="440740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6.2</a:t>
            </a:r>
            <a:endParaRPr lang="en-US" sz="1100" dirty="0"/>
          </a:p>
        </p:txBody>
      </p:sp>
      <p:sp>
        <p:nvSpPr>
          <p:cNvPr id="124" name="Shape 122"/>
          <p:cNvSpPr/>
          <p:nvPr/>
        </p:nvSpPr>
        <p:spPr>
          <a:xfrm>
            <a:off x="4242816" y="4407408"/>
            <a:ext cx="1078992" cy="420624"/>
          </a:xfrm>
          <a:prstGeom prst="rect">
            <a:avLst/>
          </a:prstGeom>
          <a:solidFill>
            <a:srgbClr val="378E90"/>
          </a:solidFill>
          <a:ln w="6350">
            <a:solidFill>
              <a:srgbClr val="CCCCCC"/>
            </a:solidFill>
            <a:prstDash val="solid"/>
          </a:ln>
        </p:spPr>
        <p:txBody>
          <a:bodyPr/>
          <a:lstStyle/>
          <a:p>
            <a:endParaRPr lang="en-US"/>
          </a:p>
        </p:txBody>
      </p:sp>
      <p:sp>
        <p:nvSpPr>
          <p:cNvPr id="125" name="Text 123"/>
          <p:cNvSpPr/>
          <p:nvPr/>
        </p:nvSpPr>
        <p:spPr>
          <a:xfrm>
            <a:off x="4242816" y="440740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6.5</a:t>
            </a:r>
            <a:endParaRPr lang="en-US" sz="1100" dirty="0"/>
          </a:p>
        </p:txBody>
      </p:sp>
      <p:sp>
        <p:nvSpPr>
          <p:cNvPr id="126" name="Shape 124"/>
          <p:cNvSpPr/>
          <p:nvPr/>
        </p:nvSpPr>
        <p:spPr>
          <a:xfrm>
            <a:off x="5321808" y="4407408"/>
            <a:ext cx="1078992" cy="420624"/>
          </a:xfrm>
          <a:prstGeom prst="rect">
            <a:avLst/>
          </a:prstGeom>
          <a:solidFill>
            <a:srgbClr val="1C6793"/>
          </a:solidFill>
          <a:ln w="6350">
            <a:solidFill>
              <a:srgbClr val="CCCCCC"/>
            </a:solidFill>
            <a:prstDash val="solid"/>
          </a:ln>
        </p:spPr>
        <p:txBody>
          <a:bodyPr/>
          <a:lstStyle/>
          <a:p>
            <a:endParaRPr lang="en-US"/>
          </a:p>
        </p:txBody>
      </p:sp>
      <p:sp>
        <p:nvSpPr>
          <p:cNvPr id="127" name="Text 125"/>
          <p:cNvSpPr/>
          <p:nvPr/>
        </p:nvSpPr>
        <p:spPr>
          <a:xfrm>
            <a:off x="5321808" y="4407408"/>
            <a:ext cx="1078992"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6.8</a:t>
            </a:r>
            <a:endParaRPr lang="en-US" sz="1100" dirty="0"/>
          </a:p>
        </p:txBody>
      </p:sp>
      <p:sp>
        <p:nvSpPr>
          <p:cNvPr id="128" name="Shape 126"/>
          <p:cNvSpPr/>
          <p:nvPr/>
        </p:nvSpPr>
        <p:spPr>
          <a:xfrm>
            <a:off x="6400800" y="4407408"/>
            <a:ext cx="1078992" cy="420624"/>
          </a:xfrm>
          <a:prstGeom prst="rect">
            <a:avLst/>
          </a:prstGeom>
          <a:solidFill>
            <a:srgbClr val="144F88"/>
          </a:solidFill>
          <a:ln w="6350">
            <a:solidFill>
              <a:srgbClr val="CCCCCC"/>
            </a:solidFill>
            <a:prstDash val="solid"/>
          </a:ln>
        </p:spPr>
        <p:txBody>
          <a:bodyPr/>
          <a:lstStyle/>
          <a:p>
            <a:endParaRPr lang="en-US"/>
          </a:p>
        </p:txBody>
      </p:sp>
      <p:sp>
        <p:nvSpPr>
          <p:cNvPr id="129" name="Text 127"/>
          <p:cNvSpPr/>
          <p:nvPr/>
        </p:nvSpPr>
        <p:spPr>
          <a:xfrm>
            <a:off x="6400800" y="4407408"/>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7.0</a:t>
            </a:r>
            <a:endParaRPr lang="en-US" sz="1100" dirty="0"/>
          </a:p>
        </p:txBody>
      </p:sp>
      <p:sp>
        <p:nvSpPr>
          <p:cNvPr id="130" name="Text 128"/>
          <p:cNvSpPr/>
          <p:nvPr/>
        </p:nvSpPr>
        <p:spPr>
          <a:xfrm>
            <a:off x="192024" y="4887468"/>
            <a:ext cx="731520" cy="228600"/>
          </a:xfrm>
          <a:prstGeom prst="rect">
            <a:avLst/>
          </a:prstGeom>
          <a:noFill/>
          <a:ln/>
        </p:spPr>
        <p:txBody>
          <a:bodyPr wrap="square" rtlCol="0" anchor="ctr"/>
          <a:lstStyle/>
          <a:p>
            <a:pPr marL="0" indent="0">
              <a:buNone/>
            </a:pPr>
            <a:r>
              <a:rPr lang="en-US" sz="900" dirty="0">
                <a:solidFill>
                  <a:srgbClr val="4A6080"/>
                </a:solidFill>
                <a:latin typeface="Calibri" pitchFamily="34" charset="0"/>
                <a:ea typeface="Calibri" pitchFamily="34" charset="-122"/>
                <a:cs typeface="Calibri" pitchFamily="34" charset="-120"/>
              </a:rPr>
              <a:t>Lower</a:t>
            </a:r>
            <a:endParaRPr lang="en-US" sz="900" dirty="0"/>
          </a:p>
        </p:txBody>
      </p:sp>
      <p:sp>
        <p:nvSpPr>
          <p:cNvPr id="131" name="Shape 129"/>
          <p:cNvSpPr/>
          <p:nvPr/>
        </p:nvSpPr>
        <p:spPr>
          <a:xfrm>
            <a:off x="978408" y="4887468"/>
            <a:ext cx="374904" cy="164592"/>
          </a:xfrm>
          <a:prstGeom prst="rect">
            <a:avLst/>
          </a:prstGeom>
          <a:solidFill>
            <a:srgbClr val="C8E6C3"/>
          </a:solidFill>
          <a:ln w="12700">
            <a:solidFill>
              <a:srgbClr val="C8E6C3"/>
            </a:solidFill>
            <a:prstDash val="solid"/>
          </a:ln>
        </p:spPr>
        <p:txBody>
          <a:bodyPr/>
          <a:lstStyle/>
          <a:p>
            <a:endParaRPr lang="en-US"/>
          </a:p>
        </p:txBody>
      </p:sp>
      <p:sp>
        <p:nvSpPr>
          <p:cNvPr id="132" name="Shape 130"/>
          <p:cNvSpPr/>
          <p:nvPr/>
        </p:nvSpPr>
        <p:spPr>
          <a:xfrm>
            <a:off x="1357884" y="4887468"/>
            <a:ext cx="374904" cy="164592"/>
          </a:xfrm>
          <a:prstGeom prst="rect">
            <a:avLst/>
          </a:prstGeom>
          <a:solidFill>
            <a:srgbClr val="8EC6A0"/>
          </a:solidFill>
          <a:ln w="12700">
            <a:solidFill>
              <a:srgbClr val="8EC6A0"/>
            </a:solidFill>
            <a:prstDash val="solid"/>
          </a:ln>
        </p:spPr>
        <p:txBody>
          <a:bodyPr/>
          <a:lstStyle/>
          <a:p>
            <a:endParaRPr lang="en-US"/>
          </a:p>
        </p:txBody>
      </p:sp>
      <p:sp>
        <p:nvSpPr>
          <p:cNvPr id="133" name="Shape 131"/>
          <p:cNvSpPr/>
          <p:nvPr/>
        </p:nvSpPr>
        <p:spPr>
          <a:xfrm>
            <a:off x="1709928" y="4887468"/>
            <a:ext cx="374904" cy="164592"/>
          </a:xfrm>
          <a:prstGeom prst="rect">
            <a:avLst/>
          </a:prstGeom>
          <a:solidFill>
            <a:srgbClr val="46A98A"/>
          </a:solidFill>
          <a:ln w="12700">
            <a:solidFill>
              <a:srgbClr val="46A98A"/>
            </a:solidFill>
            <a:prstDash val="solid"/>
          </a:ln>
        </p:spPr>
        <p:txBody>
          <a:bodyPr/>
          <a:lstStyle/>
          <a:p>
            <a:endParaRPr lang="en-US"/>
          </a:p>
        </p:txBody>
      </p:sp>
      <p:sp>
        <p:nvSpPr>
          <p:cNvPr id="134" name="Shape 132"/>
          <p:cNvSpPr/>
          <p:nvPr/>
        </p:nvSpPr>
        <p:spPr>
          <a:xfrm>
            <a:off x="2084832" y="4887468"/>
            <a:ext cx="374904" cy="164592"/>
          </a:xfrm>
          <a:prstGeom prst="rect">
            <a:avLst/>
          </a:prstGeom>
          <a:solidFill>
            <a:srgbClr val="1E6E96"/>
          </a:solidFill>
          <a:ln w="12700">
            <a:solidFill>
              <a:srgbClr val="1E6E96"/>
            </a:solidFill>
            <a:prstDash val="solid"/>
          </a:ln>
        </p:spPr>
        <p:txBody>
          <a:bodyPr/>
          <a:lstStyle/>
          <a:p>
            <a:endParaRPr lang="en-US"/>
          </a:p>
        </p:txBody>
      </p:sp>
      <p:sp>
        <p:nvSpPr>
          <p:cNvPr id="135" name="Shape 133"/>
          <p:cNvSpPr/>
          <p:nvPr/>
        </p:nvSpPr>
        <p:spPr>
          <a:xfrm>
            <a:off x="2436876" y="4887468"/>
            <a:ext cx="374904" cy="164592"/>
          </a:xfrm>
          <a:prstGeom prst="rect">
            <a:avLst/>
          </a:prstGeom>
          <a:solidFill>
            <a:srgbClr val="0F4180"/>
          </a:solidFill>
          <a:ln w="12700">
            <a:solidFill>
              <a:srgbClr val="0F4180"/>
            </a:solidFill>
            <a:prstDash val="solid"/>
          </a:ln>
        </p:spPr>
        <p:txBody>
          <a:bodyPr/>
          <a:lstStyle/>
          <a:p>
            <a:endParaRPr lang="en-US"/>
          </a:p>
        </p:txBody>
      </p:sp>
      <p:sp>
        <p:nvSpPr>
          <p:cNvPr id="136" name="Shape 134"/>
          <p:cNvSpPr/>
          <p:nvPr/>
        </p:nvSpPr>
        <p:spPr>
          <a:xfrm>
            <a:off x="2788920" y="4887468"/>
            <a:ext cx="374904" cy="164592"/>
          </a:xfrm>
          <a:prstGeom prst="rect">
            <a:avLst/>
          </a:prstGeom>
          <a:solidFill>
            <a:srgbClr val="08195A"/>
          </a:solidFill>
          <a:ln w="12700">
            <a:solidFill>
              <a:srgbClr val="08195A"/>
            </a:solidFill>
            <a:prstDash val="solid"/>
          </a:ln>
        </p:spPr>
        <p:txBody>
          <a:bodyPr/>
          <a:lstStyle/>
          <a:p>
            <a:endParaRPr lang="en-US"/>
          </a:p>
        </p:txBody>
      </p:sp>
      <p:sp>
        <p:nvSpPr>
          <p:cNvPr id="137" name="Text 135"/>
          <p:cNvSpPr/>
          <p:nvPr/>
        </p:nvSpPr>
        <p:spPr>
          <a:xfrm>
            <a:off x="3163824" y="4887468"/>
            <a:ext cx="1097280" cy="228600"/>
          </a:xfrm>
          <a:prstGeom prst="rect">
            <a:avLst/>
          </a:prstGeom>
          <a:noFill/>
          <a:ln/>
        </p:spPr>
        <p:txBody>
          <a:bodyPr wrap="square" rtlCol="0" anchor="ctr"/>
          <a:lstStyle/>
          <a:p>
            <a:pPr marL="0" indent="0">
              <a:buNone/>
            </a:pPr>
            <a:r>
              <a:rPr lang="en-US" sz="900" dirty="0">
                <a:solidFill>
                  <a:srgbClr val="4A6080"/>
                </a:solidFill>
                <a:latin typeface="Calibri" pitchFamily="34" charset="0"/>
                <a:ea typeface="Calibri" pitchFamily="34" charset="-122"/>
                <a:cs typeface="Calibri" pitchFamily="34" charset="-120"/>
              </a:rPr>
              <a:t>Higher rating</a:t>
            </a:r>
            <a:endParaRPr lang="en-US" sz="900" dirty="0"/>
          </a:p>
        </p:txBody>
      </p:sp>
      <p:sp>
        <p:nvSpPr>
          <p:cNvPr id="138" name="Shape 136"/>
          <p:cNvSpPr/>
          <p:nvPr/>
        </p:nvSpPr>
        <p:spPr>
          <a:xfrm>
            <a:off x="7588849" y="1261872"/>
            <a:ext cx="1463040" cy="3520440"/>
          </a:xfrm>
          <a:prstGeom prst="rect">
            <a:avLst/>
          </a:prstGeom>
          <a:solidFill>
            <a:srgbClr val="FFFFFF"/>
          </a:solidFill>
          <a:ln w="12700">
            <a:solidFill>
              <a:srgbClr val="D0DCF0"/>
            </a:solidFill>
            <a:prstDash val="solid"/>
          </a:ln>
        </p:spPr>
        <p:txBody>
          <a:bodyPr/>
          <a:lstStyle/>
          <a:p>
            <a:endParaRPr lang="en-US"/>
          </a:p>
        </p:txBody>
      </p:sp>
      <p:sp>
        <p:nvSpPr>
          <p:cNvPr id="139" name="Shape 137"/>
          <p:cNvSpPr/>
          <p:nvPr/>
        </p:nvSpPr>
        <p:spPr>
          <a:xfrm>
            <a:off x="7546904" y="1261872"/>
            <a:ext cx="64008" cy="3520440"/>
          </a:xfrm>
          <a:prstGeom prst="rect">
            <a:avLst/>
          </a:prstGeom>
          <a:solidFill>
            <a:srgbClr val="27AE60"/>
          </a:solidFill>
          <a:ln w="12700">
            <a:solidFill>
              <a:srgbClr val="27AE60"/>
            </a:solidFill>
            <a:prstDash val="solid"/>
          </a:ln>
        </p:spPr>
        <p:txBody>
          <a:bodyPr/>
          <a:lstStyle/>
          <a:p>
            <a:endParaRPr lang="en-US"/>
          </a:p>
        </p:txBody>
      </p:sp>
      <p:sp>
        <p:nvSpPr>
          <p:cNvPr id="140" name="Text 138"/>
          <p:cNvSpPr/>
          <p:nvPr/>
        </p:nvSpPr>
        <p:spPr>
          <a:xfrm>
            <a:off x="7680960" y="1312672"/>
            <a:ext cx="1261872" cy="292608"/>
          </a:xfrm>
          <a:prstGeom prst="rect">
            <a:avLst/>
          </a:prstGeom>
          <a:noFill/>
          <a:ln/>
        </p:spPr>
        <p:txBody>
          <a:bodyPr wrap="square" lIns="0" tIns="0" rIns="0" bIns="0" rtlCol="0" anchor="ctr"/>
          <a:lstStyle/>
          <a:p>
            <a:pPr marL="0" indent="0">
              <a:buNone/>
            </a:pPr>
            <a:r>
              <a:rPr lang="en-US" sz="1200" b="1" dirty="0">
                <a:solidFill>
                  <a:srgbClr val="1C2E4A"/>
                </a:solidFill>
                <a:latin typeface="Georgia" pitchFamily="34" charset="0"/>
                <a:ea typeface="Georgia" pitchFamily="34" charset="-122"/>
                <a:cs typeface="Georgia" pitchFamily="34" charset="-120"/>
              </a:rPr>
              <a:t>&gt;180 min</a:t>
            </a:r>
            <a:endParaRPr lang="en-US" sz="1200" dirty="0"/>
          </a:p>
        </p:txBody>
      </p:sp>
      <p:sp>
        <p:nvSpPr>
          <p:cNvPr id="141" name="Text 139"/>
          <p:cNvSpPr/>
          <p:nvPr/>
        </p:nvSpPr>
        <p:spPr>
          <a:xfrm>
            <a:off x="7680960" y="1563624"/>
            <a:ext cx="1261872" cy="640080"/>
          </a:xfrm>
          <a:prstGeom prst="rect">
            <a:avLst/>
          </a:prstGeom>
          <a:noFill/>
          <a:ln/>
        </p:spPr>
        <p:txBody>
          <a:bodyPr wrap="square" lIns="0" tIns="0" rIns="0" bIns="0" rtlCol="0" anchor="ctr"/>
          <a:lstStyle/>
          <a:p>
            <a:pPr marL="0" indent="0">
              <a:buNone/>
            </a:pPr>
            <a:r>
              <a:rPr lang="en-US" sz="900" dirty="0">
                <a:solidFill>
                  <a:srgbClr val="4A6080"/>
                </a:solidFill>
                <a:latin typeface="Calibri" pitchFamily="34" charset="0"/>
                <a:ea typeface="Calibri" pitchFamily="34" charset="-122"/>
                <a:cs typeface="Calibri" pitchFamily="34" charset="-120"/>
              </a:rPr>
              <a:t>Highest rated group in every decade since 1950, across every era of filmmaking.</a:t>
            </a:r>
            <a:endParaRPr lang="en-US" sz="900" dirty="0"/>
          </a:p>
        </p:txBody>
      </p:sp>
      <p:sp>
        <p:nvSpPr>
          <p:cNvPr id="142" name="Shape 140"/>
          <p:cNvSpPr/>
          <p:nvPr/>
        </p:nvSpPr>
        <p:spPr>
          <a:xfrm>
            <a:off x="7662672" y="2286000"/>
            <a:ext cx="1097280" cy="36576"/>
          </a:xfrm>
          <a:prstGeom prst="rect">
            <a:avLst/>
          </a:prstGeom>
          <a:solidFill>
            <a:srgbClr val="D0DCF0"/>
          </a:solidFill>
          <a:ln w="12700">
            <a:solidFill>
              <a:srgbClr val="D0DCF0"/>
            </a:solidFill>
            <a:prstDash val="solid"/>
          </a:ln>
        </p:spPr>
        <p:txBody>
          <a:bodyPr/>
          <a:lstStyle/>
          <a:p>
            <a:endParaRPr lang="en-US"/>
          </a:p>
        </p:txBody>
      </p:sp>
      <p:sp>
        <p:nvSpPr>
          <p:cNvPr id="143" name="Text 141"/>
          <p:cNvSpPr/>
          <p:nvPr/>
        </p:nvSpPr>
        <p:spPr>
          <a:xfrm>
            <a:off x="7680960" y="2368296"/>
            <a:ext cx="1261872" cy="292608"/>
          </a:xfrm>
          <a:prstGeom prst="rect">
            <a:avLst/>
          </a:prstGeom>
          <a:noFill/>
          <a:ln/>
        </p:spPr>
        <p:txBody>
          <a:bodyPr wrap="square" lIns="0" tIns="0" rIns="0" bIns="0" rtlCol="0" anchor="ctr"/>
          <a:lstStyle/>
          <a:p>
            <a:pPr marL="0" indent="0">
              <a:buNone/>
            </a:pPr>
            <a:r>
              <a:rPr lang="en-US" sz="1200" b="1" dirty="0">
                <a:solidFill>
                  <a:srgbClr val="1C2E4A"/>
                </a:solidFill>
                <a:latin typeface="Georgia" pitchFamily="34" charset="0"/>
                <a:ea typeface="Georgia" pitchFamily="34" charset="-122"/>
                <a:cs typeface="Georgia" pitchFamily="34" charset="-120"/>
              </a:rPr>
              <a:t>60-90 min</a:t>
            </a:r>
            <a:endParaRPr lang="en-US" sz="1200" dirty="0"/>
          </a:p>
        </p:txBody>
      </p:sp>
      <p:sp>
        <p:nvSpPr>
          <p:cNvPr id="144" name="Text 142"/>
          <p:cNvSpPr/>
          <p:nvPr/>
        </p:nvSpPr>
        <p:spPr>
          <a:xfrm>
            <a:off x="7680960" y="2615184"/>
            <a:ext cx="1261872" cy="640080"/>
          </a:xfrm>
          <a:prstGeom prst="rect">
            <a:avLst/>
          </a:prstGeom>
          <a:noFill/>
          <a:ln/>
        </p:spPr>
        <p:txBody>
          <a:bodyPr wrap="square" lIns="0" tIns="0" rIns="0" bIns="0" rtlCol="0" anchor="ctr"/>
          <a:lstStyle/>
          <a:p>
            <a:pPr marL="0" indent="0">
              <a:buNone/>
            </a:pPr>
            <a:r>
              <a:rPr lang="en-US" sz="900" dirty="0">
                <a:solidFill>
                  <a:srgbClr val="4A6080"/>
                </a:solidFill>
                <a:latin typeface="Calibri" pitchFamily="34" charset="0"/>
                <a:ea typeface="Calibri" pitchFamily="34" charset="-122"/>
                <a:cs typeface="Calibri" pitchFamily="34" charset="-120"/>
              </a:rPr>
              <a:t>Lowest rated group in every decade since 1950, regardless of when the film was made.</a:t>
            </a:r>
            <a:endParaRPr lang="en-US" sz="900" dirty="0"/>
          </a:p>
        </p:txBody>
      </p:sp>
      <p:sp>
        <p:nvSpPr>
          <p:cNvPr id="145" name="Shape 143"/>
          <p:cNvSpPr/>
          <p:nvPr/>
        </p:nvSpPr>
        <p:spPr>
          <a:xfrm>
            <a:off x="7672832" y="3348736"/>
            <a:ext cx="1097280" cy="36576"/>
          </a:xfrm>
          <a:prstGeom prst="rect">
            <a:avLst/>
          </a:prstGeom>
          <a:solidFill>
            <a:srgbClr val="D0DCF0"/>
          </a:solidFill>
          <a:ln w="12700">
            <a:solidFill>
              <a:srgbClr val="D0DCF0"/>
            </a:solidFill>
            <a:prstDash val="solid"/>
          </a:ln>
        </p:spPr>
        <p:txBody>
          <a:bodyPr/>
          <a:lstStyle/>
          <a:p>
            <a:endParaRPr lang="en-US"/>
          </a:p>
        </p:txBody>
      </p:sp>
      <p:sp>
        <p:nvSpPr>
          <p:cNvPr id="146" name="Text 144"/>
          <p:cNvSpPr/>
          <p:nvPr/>
        </p:nvSpPr>
        <p:spPr>
          <a:xfrm>
            <a:off x="7680960" y="3566160"/>
            <a:ext cx="1261872" cy="822960"/>
          </a:xfrm>
          <a:prstGeom prst="rect">
            <a:avLst/>
          </a:prstGeom>
          <a:noFill/>
          <a:ln/>
        </p:spPr>
        <p:txBody>
          <a:bodyPr wrap="square" lIns="0" tIns="0" rIns="0" bIns="0" rtlCol="0" anchor="ctr"/>
          <a:lstStyle/>
          <a:p>
            <a:pPr marL="0" indent="0">
              <a:buNone/>
            </a:pPr>
            <a:r>
              <a:rPr lang="en-US" sz="900" i="1" dirty="0">
                <a:solidFill>
                  <a:srgbClr val="4A6080"/>
                </a:solidFill>
                <a:latin typeface="Calibri" pitchFamily="34" charset="0"/>
                <a:ea typeface="Calibri" pitchFamily="34" charset="-122"/>
                <a:cs typeface="Calibri" pitchFamily="34" charset="-120"/>
              </a:rPr>
              <a:t>The ranking hasn't shifted in 70 years. </a:t>
            </a:r>
          </a:p>
          <a:p>
            <a:pPr marL="0" indent="0">
              <a:buNone/>
            </a:pPr>
            <a:endParaRPr lang="en-US" sz="900" i="1" dirty="0">
              <a:solidFill>
                <a:srgbClr val="4A6080"/>
              </a:solidFill>
              <a:latin typeface="Calibri" pitchFamily="34" charset="0"/>
              <a:ea typeface="Calibri" pitchFamily="34" charset="-122"/>
              <a:cs typeface="Calibri" pitchFamily="34" charset="-120"/>
            </a:endParaRPr>
          </a:p>
          <a:p>
            <a:pPr marL="0" indent="0">
              <a:buNone/>
            </a:pPr>
            <a:r>
              <a:rPr lang="en-US" sz="900" i="1" dirty="0">
                <a:solidFill>
                  <a:srgbClr val="4A6080"/>
                </a:solidFill>
                <a:latin typeface="Calibri" pitchFamily="34" charset="0"/>
                <a:ea typeface="Calibri" pitchFamily="34" charset="-122"/>
                <a:cs typeface="Calibri" pitchFamily="34" charset="-120"/>
              </a:rPr>
              <a:t>Whether that reflects audience preference or viewing habits, the pattern is consistent.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E4A"/>
          </a:solidFill>
          <a:ln w="12700">
            <a:solidFill>
              <a:srgbClr val="1C2E4A"/>
            </a:solidFill>
            <a:prstDash val="solid"/>
          </a:ln>
        </p:spPr>
        <p:txBody>
          <a:bodyPr/>
          <a:lstStyle/>
          <a:p>
            <a:endParaRPr lang="en-US"/>
          </a:p>
        </p:txBody>
      </p:sp>
      <p:sp>
        <p:nvSpPr>
          <p:cNvPr id="3" name="Shape 1"/>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274320" y="256032"/>
            <a:ext cx="8412480" cy="50292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ROBUSTNESS CHECK: POPULAR MOVIES BY DECADE</a:t>
            </a:r>
            <a:endParaRPr lang="en-US" sz="2000" dirty="0"/>
          </a:p>
        </p:txBody>
      </p:sp>
      <p:sp>
        <p:nvSpPr>
          <p:cNvPr id="5" name="Shape 3"/>
          <p:cNvSpPr/>
          <p:nvPr/>
        </p:nvSpPr>
        <p:spPr>
          <a:xfrm>
            <a:off x="1005840"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6" name="Text 4"/>
          <p:cNvSpPr/>
          <p:nvPr/>
        </p:nvSpPr>
        <p:spPr>
          <a:xfrm>
            <a:off x="1005840"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&lt;60</a:t>
            </a:r>
            <a:endParaRPr lang="en-US" sz="1000" dirty="0"/>
          </a:p>
        </p:txBody>
      </p:sp>
      <p:sp>
        <p:nvSpPr>
          <p:cNvPr id="7" name="Shape 5"/>
          <p:cNvSpPr/>
          <p:nvPr/>
        </p:nvSpPr>
        <p:spPr>
          <a:xfrm>
            <a:off x="2084832"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8" name="Text 6"/>
          <p:cNvSpPr/>
          <p:nvPr/>
        </p:nvSpPr>
        <p:spPr>
          <a:xfrm>
            <a:off x="2084832"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60-90</a:t>
            </a:r>
            <a:endParaRPr lang="en-US" sz="1000" dirty="0"/>
          </a:p>
        </p:txBody>
      </p:sp>
      <p:sp>
        <p:nvSpPr>
          <p:cNvPr id="9" name="Shape 7"/>
          <p:cNvSpPr/>
          <p:nvPr/>
        </p:nvSpPr>
        <p:spPr>
          <a:xfrm>
            <a:off x="3163824"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10" name="Text 8"/>
          <p:cNvSpPr/>
          <p:nvPr/>
        </p:nvSpPr>
        <p:spPr>
          <a:xfrm>
            <a:off x="3163824"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90-120</a:t>
            </a:r>
            <a:endParaRPr lang="en-US" sz="1000" dirty="0"/>
          </a:p>
        </p:txBody>
      </p:sp>
      <p:sp>
        <p:nvSpPr>
          <p:cNvPr id="11" name="Shape 9"/>
          <p:cNvSpPr/>
          <p:nvPr/>
        </p:nvSpPr>
        <p:spPr>
          <a:xfrm>
            <a:off x="4242816"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12" name="Text 10"/>
          <p:cNvSpPr/>
          <p:nvPr/>
        </p:nvSpPr>
        <p:spPr>
          <a:xfrm>
            <a:off x="4242816"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120-150</a:t>
            </a:r>
            <a:endParaRPr lang="en-US" sz="1000" dirty="0"/>
          </a:p>
        </p:txBody>
      </p:sp>
      <p:sp>
        <p:nvSpPr>
          <p:cNvPr id="13" name="Shape 11"/>
          <p:cNvSpPr/>
          <p:nvPr/>
        </p:nvSpPr>
        <p:spPr>
          <a:xfrm>
            <a:off x="5321808"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14" name="Text 12"/>
          <p:cNvSpPr/>
          <p:nvPr/>
        </p:nvSpPr>
        <p:spPr>
          <a:xfrm>
            <a:off x="5321808"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150-180</a:t>
            </a:r>
            <a:endParaRPr lang="en-US" sz="1000" dirty="0"/>
          </a:p>
        </p:txBody>
      </p:sp>
      <p:sp>
        <p:nvSpPr>
          <p:cNvPr id="15" name="Shape 13"/>
          <p:cNvSpPr/>
          <p:nvPr/>
        </p:nvSpPr>
        <p:spPr>
          <a:xfrm>
            <a:off x="6400800" y="1143000"/>
            <a:ext cx="1078992" cy="320040"/>
          </a:xfrm>
          <a:prstGeom prst="rect">
            <a:avLst/>
          </a:prstGeom>
          <a:solidFill>
            <a:srgbClr val="1C2E4A"/>
          </a:solidFill>
          <a:ln w="12700">
            <a:solidFill>
              <a:srgbClr val="1C2E4A"/>
            </a:solidFill>
            <a:prstDash val="solid"/>
          </a:ln>
        </p:spPr>
        <p:txBody>
          <a:bodyPr/>
          <a:lstStyle/>
          <a:p>
            <a:endParaRPr lang="en-US"/>
          </a:p>
        </p:txBody>
      </p:sp>
      <p:sp>
        <p:nvSpPr>
          <p:cNvPr id="16" name="Text 14"/>
          <p:cNvSpPr/>
          <p:nvPr/>
        </p:nvSpPr>
        <p:spPr>
          <a:xfrm>
            <a:off x="6400800" y="1143000"/>
            <a:ext cx="1078992" cy="320040"/>
          </a:xfrm>
          <a:prstGeom prst="rect">
            <a:avLst/>
          </a:prstGeom>
          <a:noFill/>
          <a:ln/>
        </p:spPr>
        <p:txBody>
          <a:bodyPr wrap="square" lIns="0" tIns="0" rIns="0" bIns="0"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&gt;180</a:t>
            </a:r>
            <a:endParaRPr lang="en-US" sz="1000" dirty="0"/>
          </a:p>
        </p:txBody>
      </p:sp>
      <p:sp>
        <p:nvSpPr>
          <p:cNvPr id="17" name="Text 15"/>
          <p:cNvSpPr/>
          <p:nvPr/>
        </p:nvSpPr>
        <p:spPr>
          <a:xfrm>
            <a:off x="201168" y="1143000"/>
            <a:ext cx="777240" cy="320040"/>
          </a:xfrm>
          <a:prstGeom prst="rect">
            <a:avLst/>
          </a:prstGeom>
          <a:noFill/>
          <a:ln/>
        </p:spPr>
        <p:txBody>
          <a:bodyPr wrap="square" rtlCol="0" anchor="ctr"/>
          <a:lstStyle/>
          <a:p>
            <a:pPr marL="0" indent="0" algn="ctr">
              <a:buNone/>
            </a:pPr>
            <a:r>
              <a:rPr lang="en-US" sz="1000" b="1" dirty="0">
                <a:solidFill>
                  <a:srgbClr val="E8A020"/>
                </a:solidFill>
                <a:latin typeface="Calibri" pitchFamily="34" charset="0"/>
                <a:ea typeface="Calibri" pitchFamily="34" charset="-122"/>
                <a:cs typeface="Calibri" pitchFamily="34" charset="-120"/>
              </a:rPr>
              <a:t>Decade</a:t>
            </a:r>
            <a:endParaRPr lang="en-US" sz="1000" dirty="0"/>
          </a:p>
        </p:txBody>
      </p:sp>
      <p:sp>
        <p:nvSpPr>
          <p:cNvPr id="18" name="Shape 16"/>
          <p:cNvSpPr/>
          <p:nvPr/>
        </p:nvSpPr>
        <p:spPr>
          <a:xfrm>
            <a:off x="201168" y="1463040"/>
            <a:ext cx="777240" cy="420624"/>
          </a:xfrm>
          <a:prstGeom prst="rect">
            <a:avLst/>
          </a:prstGeom>
          <a:solidFill>
            <a:srgbClr val="1C2E4A"/>
          </a:solidFill>
          <a:ln w="6350">
            <a:solidFill>
              <a:srgbClr val="2A4060"/>
            </a:solidFill>
            <a:prstDash val="solid"/>
          </a:ln>
        </p:spPr>
        <p:txBody>
          <a:bodyPr/>
          <a:lstStyle/>
          <a:p>
            <a:endParaRPr lang="en-US"/>
          </a:p>
        </p:txBody>
      </p:sp>
      <p:sp>
        <p:nvSpPr>
          <p:cNvPr id="19" name="Text 17"/>
          <p:cNvSpPr/>
          <p:nvPr/>
        </p:nvSpPr>
        <p:spPr>
          <a:xfrm>
            <a:off x="201168" y="1463040"/>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1950</a:t>
            </a:r>
            <a:endParaRPr lang="en-US" sz="1000" dirty="0"/>
          </a:p>
        </p:txBody>
      </p:sp>
      <p:sp>
        <p:nvSpPr>
          <p:cNvPr id="20" name="Shape 18"/>
          <p:cNvSpPr/>
          <p:nvPr/>
        </p:nvSpPr>
        <p:spPr>
          <a:xfrm>
            <a:off x="1005840" y="1463040"/>
            <a:ext cx="1078992" cy="420624"/>
          </a:xfrm>
          <a:prstGeom prst="rect">
            <a:avLst/>
          </a:prstGeom>
          <a:solidFill>
            <a:srgbClr val="0C3473"/>
          </a:solidFill>
          <a:ln w="6350">
            <a:solidFill>
              <a:srgbClr val="CCCCCC"/>
            </a:solidFill>
            <a:prstDash val="solid"/>
          </a:ln>
        </p:spPr>
        <p:txBody>
          <a:bodyPr/>
          <a:lstStyle/>
          <a:p>
            <a:endParaRPr lang="en-US"/>
          </a:p>
        </p:txBody>
      </p:sp>
      <p:sp>
        <p:nvSpPr>
          <p:cNvPr id="21" name="Text 19"/>
          <p:cNvSpPr/>
          <p:nvPr/>
        </p:nvSpPr>
        <p:spPr>
          <a:xfrm>
            <a:off x="1005840" y="1463040"/>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7.6</a:t>
            </a:r>
            <a:endParaRPr lang="en-US" sz="1100" dirty="0"/>
          </a:p>
        </p:txBody>
      </p:sp>
      <p:sp>
        <p:nvSpPr>
          <p:cNvPr id="22" name="Shape 20"/>
          <p:cNvSpPr/>
          <p:nvPr/>
        </p:nvSpPr>
        <p:spPr>
          <a:xfrm>
            <a:off x="2084832" y="1463040"/>
            <a:ext cx="1078992" cy="420624"/>
          </a:xfrm>
          <a:prstGeom prst="rect">
            <a:avLst/>
          </a:prstGeom>
          <a:solidFill>
            <a:srgbClr val="6CB697"/>
          </a:solidFill>
          <a:ln w="6350">
            <a:solidFill>
              <a:srgbClr val="CCCCCC"/>
            </a:solidFill>
            <a:prstDash val="solid"/>
          </a:ln>
        </p:spPr>
        <p:txBody>
          <a:bodyPr/>
          <a:lstStyle/>
          <a:p>
            <a:endParaRPr lang="en-US"/>
          </a:p>
        </p:txBody>
      </p:sp>
      <p:sp>
        <p:nvSpPr>
          <p:cNvPr id="23" name="Text 21"/>
          <p:cNvSpPr/>
          <p:nvPr/>
        </p:nvSpPr>
        <p:spPr>
          <a:xfrm>
            <a:off x="2084832" y="146304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6.2</a:t>
            </a:r>
            <a:endParaRPr lang="en-US" sz="1100" dirty="0"/>
          </a:p>
        </p:txBody>
      </p:sp>
      <p:sp>
        <p:nvSpPr>
          <p:cNvPr id="24" name="Shape 22"/>
          <p:cNvSpPr/>
          <p:nvPr/>
        </p:nvSpPr>
        <p:spPr>
          <a:xfrm>
            <a:off x="3163824" y="1463040"/>
            <a:ext cx="1078992" cy="420624"/>
          </a:xfrm>
          <a:prstGeom prst="rect">
            <a:avLst/>
          </a:prstGeom>
          <a:solidFill>
            <a:srgbClr val="217295"/>
          </a:solidFill>
          <a:ln w="6350">
            <a:solidFill>
              <a:srgbClr val="CCCCCC"/>
            </a:solidFill>
            <a:prstDash val="solid"/>
          </a:ln>
        </p:spPr>
        <p:txBody>
          <a:bodyPr/>
          <a:lstStyle/>
          <a:p>
            <a:endParaRPr lang="en-US"/>
          </a:p>
        </p:txBody>
      </p:sp>
      <p:sp>
        <p:nvSpPr>
          <p:cNvPr id="25" name="Text 23"/>
          <p:cNvSpPr/>
          <p:nvPr/>
        </p:nvSpPr>
        <p:spPr>
          <a:xfrm>
            <a:off x="3163824" y="146304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6.9</a:t>
            </a:r>
            <a:endParaRPr lang="en-US" sz="1100" dirty="0"/>
          </a:p>
        </p:txBody>
      </p:sp>
      <p:sp>
        <p:nvSpPr>
          <p:cNvPr id="26" name="Shape 24"/>
          <p:cNvSpPr/>
          <p:nvPr/>
        </p:nvSpPr>
        <p:spPr>
          <a:xfrm>
            <a:off x="4242816" y="1463040"/>
            <a:ext cx="1078992" cy="420624"/>
          </a:xfrm>
          <a:prstGeom prst="rect">
            <a:avLst/>
          </a:prstGeom>
          <a:solidFill>
            <a:srgbClr val="16568B"/>
          </a:solidFill>
          <a:ln w="6350">
            <a:solidFill>
              <a:srgbClr val="CCCCCC"/>
            </a:solidFill>
            <a:prstDash val="solid"/>
          </a:ln>
        </p:spPr>
        <p:txBody>
          <a:bodyPr/>
          <a:lstStyle/>
          <a:p>
            <a:endParaRPr lang="en-US"/>
          </a:p>
        </p:txBody>
      </p:sp>
      <p:sp>
        <p:nvSpPr>
          <p:cNvPr id="27" name="Text 25"/>
          <p:cNvSpPr/>
          <p:nvPr/>
        </p:nvSpPr>
        <p:spPr>
          <a:xfrm>
            <a:off x="4242816" y="1463040"/>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7.2</a:t>
            </a:r>
            <a:endParaRPr lang="en-US" sz="1100" dirty="0"/>
          </a:p>
        </p:txBody>
      </p:sp>
      <p:sp>
        <p:nvSpPr>
          <p:cNvPr id="28" name="Shape 26"/>
          <p:cNvSpPr/>
          <p:nvPr/>
        </p:nvSpPr>
        <p:spPr>
          <a:xfrm>
            <a:off x="5321808" y="1463040"/>
            <a:ext cx="1078992" cy="420624"/>
          </a:xfrm>
          <a:prstGeom prst="rect">
            <a:avLst/>
          </a:prstGeom>
          <a:solidFill>
            <a:srgbClr val="104383"/>
          </a:solidFill>
          <a:ln w="6350">
            <a:solidFill>
              <a:srgbClr val="CCCCCC"/>
            </a:solidFill>
            <a:prstDash val="solid"/>
          </a:ln>
        </p:spPr>
        <p:txBody>
          <a:bodyPr/>
          <a:lstStyle/>
          <a:p>
            <a:endParaRPr lang="en-US"/>
          </a:p>
        </p:txBody>
      </p:sp>
      <p:sp>
        <p:nvSpPr>
          <p:cNvPr id="29" name="Text 27"/>
          <p:cNvSpPr/>
          <p:nvPr/>
        </p:nvSpPr>
        <p:spPr>
          <a:xfrm>
            <a:off x="5321808" y="1463040"/>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7.4</a:t>
            </a:r>
            <a:endParaRPr lang="en-US" sz="1100" dirty="0"/>
          </a:p>
        </p:txBody>
      </p:sp>
      <p:sp>
        <p:nvSpPr>
          <p:cNvPr id="30" name="Shape 28"/>
          <p:cNvSpPr/>
          <p:nvPr/>
        </p:nvSpPr>
        <p:spPr>
          <a:xfrm>
            <a:off x="6400800" y="1463040"/>
            <a:ext cx="1078992" cy="420624"/>
          </a:xfrm>
          <a:prstGeom prst="rect">
            <a:avLst/>
          </a:prstGeom>
          <a:solidFill>
            <a:srgbClr val="081E5A"/>
          </a:solidFill>
          <a:ln w="6350">
            <a:solidFill>
              <a:srgbClr val="CCCCCC"/>
            </a:solidFill>
            <a:prstDash val="solid"/>
          </a:ln>
        </p:spPr>
        <p:txBody>
          <a:bodyPr/>
          <a:lstStyle/>
          <a:p>
            <a:endParaRPr lang="en-US"/>
          </a:p>
        </p:txBody>
      </p:sp>
      <p:sp>
        <p:nvSpPr>
          <p:cNvPr id="31" name="Text 29"/>
          <p:cNvSpPr/>
          <p:nvPr/>
        </p:nvSpPr>
        <p:spPr>
          <a:xfrm>
            <a:off x="6400800" y="1463040"/>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7.9</a:t>
            </a:r>
            <a:endParaRPr lang="en-US" sz="1100" dirty="0"/>
          </a:p>
        </p:txBody>
      </p:sp>
      <p:sp>
        <p:nvSpPr>
          <p:cNvPr id="32" name="Shape 30"/>
          <p:cNvSpPr/>
          <p:nvPr/>
        </p:nvSpPr>
        <p:spPr>
          <a:xfrm>
            <a:off x="201168" y="1883664"/>
            <a:ext cx="777240" cy="420624"/>
          </a:xfrm>
          <a:prstGeom prst="rect">
            <a:avLst/>
          </a:prstGeom>
          <a:solidFill>
            <a:srgbClr val="1C2E4A"/>
          </a:solidFill>
          <a:ln w="6350">
            <a:solidFill>
              <a:srgbClr val="2A4060"/>
            </a:solidFill>
            <a:prstDash val="solid"/>
          </a:ln>
        </p:spPr>
        <p:txBody>
          <a:bodyPr/>
          <a:lstStyle/>
          <a:p>
            <a:endParaRPr lang="en-US"/>
          </a:p>
        </p:txBody>
      </p:sp>
      <p:sp>
        <p:nvSpPr>
          <p:cNvPr id="33" name="Text 31"/>
          <p:cNvSpPr/>
          <p:nvPr/>
        </p:nvSpPr>
        <p:spPr>
          <a:xfrm>
            <a:off x="201168" y="1883664"/>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1960</a:t>
            </a:r>
            <a:endParaRPr lang="en-US" sz="1000" dirty="0"/>
          </a:p>
        </p:txBody>
      </p:sp>
      <p:sp>
        <p:nvSpPr>
          <p:cNvPr id="34" name="Shape 32"/>
          <p:cNvSpPr/>
          <p:nvPr/>
        </p:nvSpPr>
        <p:spPr>
          <a:xfrm>
            <a:off x="1005840" y="1883664"/>
            <a:ext cx="1078992" cy="420624"/>
          </a:xfrm>
          <a:prstGeom prst="rect">
            <a:avLst/>
          </a:prstGeom>
          <a:solidFill>
            <a:srgbClr val="96CDA7"/>
          </a:solidFill>
          <a:ln w="6350">
            <a:solidFill>
              <a:srgbClr val="CCCCCC"/>
            </a:solidFill>
            <a:prstDash val="solid"/>
          </a:ln>
        </p:spPr>
        <p:txBody>
          <a:bodyPr/>
          <a:lstStyle/>
          <a:p>
            <a:endParaRPr lang="en-US"/>
          </a:p>
        </p:txBody>
      </p:sp>
      <p:sp>
        <p:nvSpPr>
          <p:cNvPr id="35" name="Text 33"/>
          <p:cNvSpPr/>
          <p:nvPr/>
        </p:nvSpPr>
        <p:spPr>
          <a:xfrm>
            <a:off x="1005840" y="188366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5.9</a:t>
            </a:r>
            <a:endParaRPr lang="en-US" sz="1100" dirty="0"/>
          </a:p>
        </p:txBody>
      </p:sp>
      <p:sp>
        <p:nvSpPr>
          <p:cNvPr id="36" name="Shape 34"/>
          <p:cNvSpPr/>
          <p:nvPr/>
        </p:nvSpPr>
        <p:spPr>
          <a:xfrm>
            <a:off x="2084832" y="1883664"/>
            <a:ext cx="1078992" cy="420624"/>
          </a:xfrm>
          <a:prstGeom prst="rect">
            <a:avLst/>
          </a:prstGeom>
          <a:solidFill>
            <a:srgbClr val="7BBE9B"/>
          </a:solidFill>
          <a:ln w="6350">
            <a:solidFill>
              <a:srgbClr val="CCCCCC"/>
            </a:solidFill>
            <a:prstDash val="solid"/>
          </a:ln>
        </p:spPr>
        <p:txBody>
          <a:bodyPr/>
          <a:lstStyle/>
          <a:p>
            <a:endParaRPr lang="en-US"/>
          </a:p>
        </p:txBody>
      </p:sp>
      <p:sp>
        <p:nvSpPr>
          <p:cNvPr id="37" name="Text 35"/>
          <p:cNvSpPr/>
          <p:nvPr/>
        </p:nvSpPr>
        <p:spPr>
          <a:xfrm>
            <a:off x="2084832" y="188366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6.1</a:t>
            </a:r>
            <a:endParaRPr lang="en-US" sz="1100" dirty="0"/>
          </a:p>
        </p:txBody>
      </p:sp>
      <p:sp>
        <p:nvSpPr>
          <p:cNvPr id="38" name="Shape 36"/>
          <p:cNvSpPr/>
          <p:nvPr/>
        </p:nvSpPr>
        <p:spPr>
          <a:xfrm>
            <a:off x="3163824" y="1883664"/>
            <a:ext cx="1078992" cy="420624"/>
          </a:xfrm>
          <a:prstGeom prst="rect">
            <a:avLst/>
          </a:prstGeom>
          <a:solidFill>
            <a:srgbClr val="328791"/>
          </a:solidFill>
          <a:ln w="6350">
            <a:solidFill>
              <a:srgbClr val="CCCCCC"/>
            </a:solidFill>
            <a:prstDash val="solid"/>
          </a:ln>
        </p:spPr>
        <p:txBody>
          <a:bodyPr/>
          <a:lstStyle/>
          <a:p>
            <a:endParaRPr lang="en-US"/>
          </a:p>
        </p:txBody>
      </p:sp>
      <p:sp>
        <p:nvSpPr>
          <p:cNvPr id="39" name="Text 37"/>
          <p:cNvSpPr/>
          <p:nvPr/>
        </p:nvSpPr>
        <p:spPr>
          <a:xfrm>
            <a:off x="3163824" y="188366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6.7</a:t>
            </a:r>
            <a:endParaRPr lang="en-US" sz="1100" dirty="0"/>
          </a:p>
        </p:txBody>
      </p:sp>
      <p:sp>
        <p:nvSpPr>
          <p:cNvPr id="40" name="Shape 38"/>
          <p:cNvSpPr/>
          <p:nvPr/>
        </p:nvSpPr>
        <p:spPr>
          <a:xfrm>
            <a:off x="4242816" y="1883664"/>
            <a:ext cx="1078992" cy="420624"/>
          </a:xfrm>
          <a:prstGeom prst="rect">
            <a:avLst/>
          </a:prstGeom>
          <a:solidFill>
            <a:srgbClr val="195F8F"/>
          </a:solidFill>
          <a:ln w="6350">
            <a:solidFill>
              <a:srgbClr val="CCCCCC"/>
            </a:solidFill>
            <a:prstDash val="solid"/>
          </a:ln>
        </p:spPr>
        <p:txBody>
          <a:bodyPr/>
          <a:lstStyle/>
          <a:p>
            <a:endParaRPr lang="en-US"/>
          </a:p>
        </p:txBody>
      </p:sp>
      <p:sp>
        <p:nvSpPr>
          <p:cNvPr id="41" name="Text 39"/>
          <p:cNvSpPr/>
          <p:nvPr/>
        </p:nvSpPr>
        <p:spPr>
          <a:xfrm>
            <a:off x="4242816" y="1883664"/>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7.1</a:t>
            </a:r>
            <a:endParaRPr lang="en-US" sz="1100" dirty="0"/>
          </a:p>
        </p:txBody>
      </p:sp>
      <p:sp>
        <p:nvSpPr>
          <p:cNvPr id="42" name="Shape 40"/>
          <p:cNvSpPr/>
          <p:nvPr/>
        </p:nvSpPr>
        <p:spPr>
          <a:xfrm>
            <a:off x="5321808" y="1883664"/>
            <a:ext cx="1078992" cy="420624"/>
          </a:xfrm>
          <a:prstGeom prst="rect">
            <a:avLst/>
          </a:prstGeom>
          <a:solidFill>
            <a:srgbClr val="134C87"/>
          </a:solidFill>
          <a:ln w="6350">
            <a:solidFill>
              <a:srgbClr val="CCCCCC"/>
            </a:solidFill>
            <a:prstDash val="solid"/>
          </a:ln>
        </p:spPr>
        <p:txBody>
          <a:bodyPr/>
          <a:lstStyle/>
          <a:p>
            <a:endParaRPr lang="en-US"/>
          </a:p>
        </p:txBody>
      </p:sp>
      <p:sp>
        <p:nvSpPr>
          <p:cNvPr id="43" name="Text 41"/>
          <p:cNvSpPr/>
          <p:nvPr/>
        </p:nvSpPr>
        <p:spPr>
          <a:xfrm>
            <a:off x="5321808" y="1883664"/>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7.3</a:t>
            </a:r>
            <a:endParaRPr lang="en-US" sz="1100" dirty="0"/>
          </a:p>
        </p:txBody>
      </p:sp>
      <p:sp>
        <p:nvSpPr>
          <p:cNvPr id="44" name="Shape 42"/>
          <p:cNvSpPr/>
          <p:nvPr/>
        </p:nvSpPr>
        <p:spPr>
          <a:xfrm>
            <a:off x="6400800" y="1883664"/>
            <a:ext cx="1078992" cy="420624"/>
          </a:xfrm>
          <a:prstGeom prst="rect">
            <a:avLst/>
          </a:prstGeom>
          <a:solidFill>
            <a:srgbClr val="0C3473"/>
          </a:solidFill>
          <a:ln w="6350">
            <a:solidFill>
              <a:srgbClr val="CCCCCC"/>
            </a:solidFill>
            <a:prstDash val="solid"/>
          </a:ln>
        </p:spPr>
        <p:txBody>
          <a:bodyPr/>
          <a:lstStyle/>
          <a:p>
            <a:endParaRPr lang="en-US"/>
          </a:p>
        </p:txBody>
      </p:sp>
      <p:sp>
        <p:nvSpPr>
          <p:cNvPr id="45" name="Text 43"/>
          <p:cNvSpPr/>
          <p:nvPr/>
        </p:nvSpPr>
        <p:spPr>
          <a:xfrm>
            <a:off x="6400800" y="1883664"/>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7.6</a:t>
            </a:r>
            <a:endParaRPr lang="en-US" sz="1100" dirty="0"/>
          </a:p>
        </p:txBody>
      </p:sp>
      <p:sp>
        <p:nvSpPr>
          <p:cNvPr id="46" name="Shape 44"/>
          <p:cNvSpPr/>
          <p:nvPr/>
        </p:nvSpPr>
        <p:spPr>
          <a:xfrm>
            <a:off x="201168" y="2304288"/>
            <a:ext cx="777240" cy="420624"/>
          </a:xfrm>
          <a:prstGeom prst="rect">
            <a:avLst/>
          </a:prstGeom>
          <a:solidFill>
            <a:srgbClr val="1C2E4A"/>
          </a:solidFill>
          <a:ln w="6350">
            <a:solidFill>
              <a:srgbClr val="2A4060"/>
            </a:solidFill>
            <a:prstDash val="solid"/>
          </a:ln>
        </p:spPr>
        <p:txBody>
          <a:bodyPr/>
          <a:lstStyle/>
          <a:p>
            <a:endParaRPr lang="en-US"/>
          </a:p>
        </p:txBody>
      </p:sp>
      <p:sp>
        <p:nvSpPr>
          <p:cNvPr id="47" name="Text 45"/>
          <p:cNvSpPr/>
          <p:nvPr/>
        </p:nvSpPr>
        <p:spPr>
          <a:xfrm>
            <a:off x="201168" y="2304288"/>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1970</a:t>
            </a:r>
            <a:endParaRPr lang="en-US" sz="1000" dirty="0"/>
          </a:p>
        </p:txBody>
      </p:sp>
      <p:sp>
        <p:nvSpPr>
          <p:cNvPr id="48" name="Shape 46"/>
          <p:cNvSpPr/>
          <p:nvPr/>
        </p:nvSpPr>
        <p:spPr>
          <a:xfrm>
            <a:off x="1005840" y="2304288"/>
            <a:ext cx="1078992" cy="420624"/>
          </a:xfrm>
          <a:prstGeom prst="rect">
            <a:avLst/>
          </a:prstGeom>
          <a:solidFill>
            <a:srgbClr val="EEEEEE"/>
          </a:solidFill>
          <a:ln w="6350">
            <a:solidFill>
              <a:srgbClr val="CCCCCC"/>
            </a:solidFill>
            <a:prstDash val="solid"/>
          </a:ln>
        </p:spPr>
        <p:txBody>
          <a:bodyPr/>
          <a:lstStyle/>
          <a:p>
            <a:endParaRPr lang="en-US"/>
          </a:p>
        </p:txBody>
      </p:sp>
      <p:sp>
        <p:nvSpPr>
          <p:cNvPr id="49" name="Text 47"/>
          <p:cNvSpPr/>
          <p:nvPr/>
        </p:nvSpPr>
        <p:spPr>
          <a:xfrm>
            <a:off x="1005840" y="2304288"/>
            <a:ext cx="1078992" cy="42062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N/A</a:t>
            </a:r>
            <a:endParaRPr lang="en-US" sz="1100" dirty="0"/>
          </a:p>
        </p:txBody>
      </p:sp>
      <p:sp>
        <p:nvSpPr>
          <p:cNvPr id="50" name="Shape 48"/>
          <p:cNvSpPr/>
          <p:nvPr/>
        </p:nvSpPr>
        <p:spPr>
          <a:xfrm>
            <a:off x="2084832" y="2304288"/>
            <a:ext cx="1078992" cy="420624"/>
          </a:xfrm>
          <a:prstGeom prst="rect">
            <a:avLst/>
          </a:prstGeom>
          <a:solidFill>
            <a:srgbClr val="89C69F"/>
          </a:solidFill>
          <a:ln w="6350">
            <a:solidFill>
              <a:srgbClr val="CCCCCC"/>
            </a:solidFill>
            <a:prstDash val="solid"/>
          </a:ln>
        </p:spPr>
        <p:txBody>
          <a:bodyPr/>
          <a:lstStyle/>
          <a:p>
            <a:endParaRPr lang="en-US"/>
          </a:p>
        </p:txBody>
      </p:sp>
      <p:sp>
        <p:nvSpPr>
          <p:cNvPr id="51" name="Text 49"/>
          <p:cNvSpPr/>
          <p:nvPr/>
        </p:nvSpPr>
        <p:spPr>
          <a:xfrm>
            <a:off x="2084832" y="230428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6.0</a:t>
            </a:r>
            <a:endParaRPr lang="en-US" sz="1100" dirty="0"/>
          </a:p>
        </p:txBody>
      </p:sp>
      <p:sp>
        <p:nvSpPr>
          <p:cNvPr id="52" name="Shape 50"/>
          <p:cNvSpPr/>
          <p:nvPr/>
        </p:nvSpPr>
        <p:spPr>
          <a:xfrm>
            <a:off x="3163824" y="2304288"/>
            <a:ext cx="1078992" cy="420624"/>
          </a:xfrm>
          <a:prstGeom prst="rect">
            <a:avLst/>
          </a:prstGeom>
          <a:solidFill>
            <a:srgbClr val="439C8D"/>
          </a:solidFill>
          <a:ln w="6350">
            <a:solidFill>
              <a:srgbClr val="CCCCCC"/>
            </a:solidFill>
            <a:prstDash val="solid"/>
          </a:ln>
        </p:spPr>
        <p:txBody>
          <a:bodyPr/>
          <a:lstStyle/>
          <a:p>
            <a:endParaRPr lang="en-US"/>
          </a:p>
        </p:txBody>
      </p:sp>
      <p:sp>
        <p:nvSpPr>
          <p:cNvPr id="53" name="Text 51"/>
          <p:cNvSpPr/>
          <p:nvPr/>
        </p:nvSpPr>
        <p:spPr>
          <a:xfrm>
            <a:off x="3163824" y="230428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6.5</a:t>
            </a:r>
            <a:endParaRPr lang="en-US" sz="1100" dirty="0"/>
          </a:p>
        </p:txBody>
      </p:sp>
      <p:sp>
        <p:nvSpPr>
          <p:cNvPr id="54" name="Shape 52"/>
          <p:cNvSpPr/>
          <p:nvPr/>
        </p:nvSpPr>
        <p:spPr>
          <a:xfrm>
            <a:off x="4242816" y="2304288"/>
            <a:ext cx="1078992" cy="420624"/>
          </a:xfrm>
          <a:prstGeom prst="rect">
            <a:avLst/>
          </a:prstGeom>
          <a:solidFill>
            <a:srgbClr val="195F8F"/>
          </a:solidFill>
          <a:ln w="6350">
            <a:solidFill>
              <a:srgbClr val="CCCCCC"/>
            </a:solidFill>
            <a:prstDash val="solid"/>
          </a:ln>
        </p:spPr>
        <p:txBody>
          <a:bodyPr/>
          <a:lstStyle/>
          <a:p>
            <a:endParaRPr lang="en-US"/>
          </a:p>
        </p:txBody>
      </p:sp>
      <p:sp>
        <p:nvSpPr>
          <p:cNvPr id="55" name="Text 53"/>
          <p:cNvSpPr/>
          <p:nvPr/>
        </p:nvSpPr>
        <p:spPr>
          <a:xfrm>
            <a:off x="4242816" y="2304288"/>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7.1</a:t>
            </a:r>
            <a:endParaRPr lang="en-US" sz="1100" dirty="0"/>
          </a:p>
        </p:txBody>
      </p:sp>
      <p:sp>
        <p:nvSpPr>
          <p:cNvPr id="56" name="Shape 54"/>
          <p:cNvSpPr/>
          <p:nvPr/>
        </p:nvSpPr>
        <p:spPr>
          <a:xfrm>
            <a:off x="5321808" y="2304288"/>
            <a:ext cx="1078992" cy="420624"/>
          </a:xfrm>
          <a:prstGeom prst="rect">
            <a:avLst/>
          </a:prstGeom>
          <a:solidFill>
            <a:srgbClr val="134C87"/>
          </a:solidFill>
          <a:ln w="6350">
            <a:solidFill>
              <a:srgbClr val="CCCCCC"/>
            </a:solidFill>
            <a:prstDash val="solid"/>
          </a:ln>
        </p:spPr>
        <p:txBody>
          <a:bodyPr/>
          <a:lstStyle/>
          <a:p>
            <a:endParaRPr lang="en-US"/>
          </a:p>
        </p:txBody>
      </p:sp>
      <p:sp>
        <p:nvSpPr>
          <p:cNvPr id="57" name="Text 55"/>
          <p:cNvSpPr/>
          <p:nvPr/>
        </p:nvSpPr>
        <p:spPr>
          <a:xfrm>
            <a:off x="5321808" y="2304288"/>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7.3</a:t>
            </a:r>
            <a:endParaRPr lang="en-US" sz="1100" dirty="0"/>
          </a:p>
        </p:txBody>
      </p:sp>
      <p:sp>
        <p:nvSpPr>
          <p:cNvPr id="58" name="Shape 56"/>
          <p:cNvSpPr/>
          <p:nvPr/>
        </p:nvSpPr>
        <p:spPr>
          <a:xfrm>
            <a:off x="6400800" y="2304288"/>
            <a:ext cx="1078992" cy="420624"/>
          </a:xfrm>
          <a:prstGeom prst="rect">
            <a:avLst/>
          </a:prstGeom>
          <a:solidFill>
            <a:srgbClr val="081E5A"/>
          </a:solidFill>
          <a:ln w="6350">
            <a:solidFill>
              <a:srgbClr val="CCCCCC"/>
            </a:solidFill>
            <a:prstDash val="solid"/>
          </a:ln>
        </p:spPr>
        <p:txBody>
          <a:bodyPr/>
          <a:lstStyle/>
          <a:p>
            <a:endParaRPr lang="en-US"/>
          </a:p>
        </p:txBody>
      </p:sp>
      <p:sp>
        <p:nvSpPr>
          <p:cNvPr id="59" name="Text 57"/>
          <p:cNvSpPr/>
          <p:nvPr/>
        </p:nvSpPr>
        <p:spPr>
          <a:xfrm>
            <a:off x="6400800" y="2304288"/>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7.9</a:t>
            </a:r>
            <a:endParaRPr lang="en-US" sz="1100" dirty="0"/>
          </a:p>
        </p:txBody>
      </p:sp>
      <p:sp>
        <p:nvSpPr>
          <p:cNvPr id="60" name="Shape 58"/>
          <p:cNvSpPr/>
          <p:nvPr/>
        </p:nvSpPr>
        <p:spPr>
          <a:xfrm>
            <a:off x="201168" y="2724912"/>
            <a:ext cx="777240" cy="420624"/>
          </a:xfrm>
          <a:prstGeom prst="rect">
            <a:avLst/>
          </a:prstGeom>
          <a:solidFill>
            <a:srgbClr val="1C2E4A"/>
          </a:solidFill>
          <a:ln w="6350">
            <a:solidFill>
              <a:srgbClr val="2A4060"/>
            </a:solidFill>
            <a:prstDash val="solid"/>
          </a:ln>
        </p:spPr>
        <p:txBody>
          <a:bodyPr/>
          <a:lstStyle/>
          <a:p>
            <a:endParaRPr lang="en-US"/>
          </a:p>
        </p:txBody>
      </p:sp>
      <p:sp>
        <p:nvSpPr>
          <p:cNvPr id="61" name="Text 59"/>
          <p:cNvSpPr/>
          <p:nvPr/>
        </p:nvSpPr>
        <p:spPr>
          <a:xfrm>
            <a:off x="201168" y="2724912"/>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1980</a:t>
            </a:r>
            <a:endParaRPr lang="en-US" sz="1000" dirty="0"/>
          </a:p>
        </p:txBody>
      </p:sp>
      <p:sp>
        <p:nvSpPr>
          <p:cNvPr id="62" name="Shape 60"/>
          <p:cNvSpPr/>
          <p:nvPr/>
        </p:nvSpPr>
        <p:spPr>
          <a:xfrm>
            <a:off x="1005840" y="2724912"/>
            <a:ext cx="1078992" cy="420624"/>
          </a:xfrm>
          <a:prstGeom prst="rect">
            <a:avLst/>
          </a:prstGeom>
          <a:solidFill>
            <a:srgbClr val="0B2D6B"/>
          </a:solidFill>
          <a:ln w="6350">
            <a:solidFill>
              <a:srgbClr val="CCCCCC"/>
            </a:solidFill>
            <a:prstDash val="solid"/>
          </a:ln>
        </p:spPr>
        <p:txBody>
          <a:bodyPr/>
          <a:lstStyle/>
          <a:p>
            <a:endParaRPr lang="en-US"/>
          </a:p>
        </p:txBody>
      </p:sp>
      <p:sp>
        <p:nvSpPr>
          <p:cNvPr id="63" name="Text 61"/>
          <p:cNvSpPr/>
          <p:nvPr/>
        </p:nvSpPr>
        <p:spPr>
          <a:xfrm>
            <a:off x="1005840" y="2724912"/>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7.7</a:t>
            </a:r>
            <a:endParaRPr lang="en-US" sz="1100" dirty="0"/>
          </a:p>
        </p:txBody>
      </p:sp>
      <p:sp>
        <p:nvSpPr>
          <p:cNvPr id="64" name="Shape 62"/>
          <p:cNvSpPr/>
          <p:nvPr/>
        </p:nvSpPr>
        <p:spPr>
          <a:xfrm>
            <a:off x="2084832" y="2724912"/>
            <a:ext cx="1078992" cy="420624"/>
          </a:xfrm>
          <a:prstGeom prst="rect">
            <a:avLst/>
          </a:prstGeom>
          <a:solidFill>
            <a:srgbClr val="A3D3AF"/>
          </a:solidFill>
          <a:ln w="6350">
            <a:solidFill>
              <a:srgbClr val="CCCCCC"/>
            </a:solidFill>
            <a:prstDash val="solid"/>
          </a:ln>
        </p:spPr>
        <p:txBody>
          <a:bodyPr/>
          <a:lstStyle/>
          <a:p>
            <a:endParaRPr lang="en-US"/>
          </a:p>
        </p:txBody>
      </p:sp>
      <p:sp>
        <p:nvSpPr>
          <p:cNvPr id="65" name="Text 63"/>
          <p:cNvSpPr/>
          <p:nvPr/>
        </p:nvSpPr>
        <p:spPr>
          <a:xfrm>
            <a:off x="2084832" y="2724912"/>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5.8</a:t>
            </a:r>
            <a:endParaRPr lang="en-US" sz="1100" dirty="0"/>
          </a:p>
        </p:txBody>
      </p:sp>
      <p:sp>
        <p:nvSpPr>
          <p:cNvPr id="66" name="Shape 64"/>
          <p:cNvSpPr/>
          <p:nvPr/>
        </p:nvSpPr>
        <p:spPr>
          <a:xfrm>
            <a:off x="3163824" y="2724912"/>
            <a:ext cx="1078992" cy="420624"/>
          </a:xfrm>
          <a:prstGeom prst="rect">
            <a:avLst/>
          </a:prstGeom>
          <a:solidFill>
            <a:srgbClr val="6CB697"/>
          </a:solidFill>
          <a:ln w="6350">
            <a:solidFill>
              <a:srgbClr val="CCCCCC"/>
            </a:solidFill>
            <a:prstDash val="solid"/>
          </a:ln>
        </p:spPr>
        <p:txBody>
          <a:bodyPr/>
          <a:lstStyle/>
          <a:p>
            <a:endParaRPr lang="en-US"/>
          </a:p>
        </p:txBody>
      </p:sp>
      <p:sp>
        <p:nvSpPr>
          <p:cNvPr id="67" name="Text 65"/>
          <p:cNvSpPr/>
          <p:nvPr/>
        </p:nvSpPr>
        <p:spPr>
          <a:xfrm>
            <a:off x="3163824" y="2724912"/>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6.2</a:t>
            </a:r>
            <a:endParaRPr lang="en-US" sz="1100" dirty="0"/>
          </a:p>
        </p:txBody>
      </p:sp>
      <p:sp>
        <p:nvSpPr>
          <p:cNvPr id="68" name="Shape 66"/>
          <p:cNvSpPr/>
          <p:nvPr/>
        </p:nvSpPr>
        <p:spPr>
          <a:xfrm>
            <a:off x="4242816" y="2724912"/>
            <a:ext cx="1078992" cy="420624"/>
          </a:xfrm>
          <a:prstGeom prst="rect">
            <a:avLst/>
          </a:prstGeom>
          <a:solidFill>
            <a:srgbClr val="16568B"/>
          </a:solidFill>
          <a:ln w="6350">
            <a:solidFill>
              <a:srgbClr val="CCCCCC"/>
            </a:solidFill>
            <a:prstDash val="solid"/>
          </a:ln>
        </p:spPr>
        <p:txBody>
          <a:bodyPr/>
          <a:lstStyle/>
          <a:p>
            <a:endParaRPr lang="en-US"/>
          </a:p>
        </p:txBody>
      </p:sp>
      <p:sp>
        <p:nvSpPr>
          <p:cNvPr id="69" name="Text 67"/>
          <p:cNvSpPr/>
          <p:nvPr/>
        </p:nvSpPr>
        <p:spPr>
          <a:xfrm>
            <a:off x="4242816" y="2724912"/>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7.2</a:t>
            </a:r>
            <a:endParaRPr lang="en-US" sz="1100" dirty="0"/>
          </a:p>
        </p:txBody>
      </p:sp>
      <p:sp>
        <p:nvSpPr>
          <p:cNvPr id="70" name="Shape 68"/>
          <p:cNvSpPr/>
          <p:nvPr/>
        </p:nvSpPr>
        <p:spPr>
          <a:xfrm>
            <a:off x="5321808" y="2724912"/>
            <a:ext cx="1078992" cy="420624"/>
          </a:xfrm>
          <a:prstGeom prst="rect">
            <a:avLst/>
          </a:prstGeom>
          <a:solidFill>
            <a:srgbClr val="104383"/>
          </a:solidFill>
          <a:ln w="6350">
            <a:solidFill>
              <a:srgbClr val="CCCCCC"/>
            </a:solidFill>
            <a:prstDash val="solid"/>
          </a:ln>
        </p:spPr>
        <p:txBody>
          <a:bodyPr/>
          <a:lstStyle/>
          <a:p>
            <a:endParaRPr lang="en-US"/>
          </a:p>
        </p:txBody>
      </p:sp>
      <p:sp>
        <p:nvSpPr>
          <p:cNvPr id="71" name="Text 69"/>
          <p:cNvSpPr/>
          <p:nvPr/>
        </p:nvSpPr>
        <p:spPr>
          <a:xfrm>
            <a:off x="5321808" y="2724912"/>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7.4</a:t>
            </a:r>
            <a:endParaRPr lang="en-US" sz="1100" dirty="0"/>
          </a:p>
        </p:txBody>
      </p:sp>
      <p:sp>
        <p:nvSpPr>
          <p:cNvPr id="72" name="Shape 70"/>
          <p:cNvSpPr/>
          <p:nvPr/>
        </p:nvSpPr>
        <p:spPr>
          <a:xfrm>
            <a:off x="6400800" y="2724912"/>
            <a:ext cx="1078992" cy="420624"/>
          </a:xfrm>
          <a:prstGeom prst="rect">
            <a:avLst/>
          </a:prstGeom>
          <a:solidFill>
            <a:srgbClr val="134C87"/>
          </a:solidFill>
          <a:ln w="6350">
            <a:solidFill>
              <a:srgbClr val="CCCCCC"/>
            </a:solidFill>
            <a:prstDash val="solid"/>
          </a:ln>
        </p:spPr>
        <p:txBody>
          <a:bodyPr/>
          <a:lstStyle/>
          <a:p>
            <a:endParaRPr lang="en-US"/>
          </a:p>
        </p:txBody>
      </p:sp>
      <p:sp>
        <p:nvSpPr>
          <p:cNvPr id="73" name="Text 71"/>
          <p:cNvSpPr/>
          <p:nvPr/>
        </p:nvSpPr>
        <p:spPr>
          <a:xfrm>
            <a:off x="6400800" y="2724912"/>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7.3</a:t>
            </a:r>
            <a:endParaRPr lang="en-US" sz="1100" dirty="0"/>
          </a:p>
        </p:txBody>
      </p:sp>
      <p:sp>
        <p:nvSpPr>
          <p:cNvPr id="74" name="Shape 72"/>
          <p:cNvSpPr/>
          <p:nvPr/>
        </p:nvSpPr>
        <p:spPr>
          <a:xfrm>
            <a:off x="201168" y="3145536"/>
            <a:ext cx="777240" cy="420624"/>
          </a:xfrm>
          <a:prstGeom prst="rect">
            <a:avLst/>
          </a:prstGeom>
          <a:solidFill>
            <a:srgbClr val="1C2E4A"/>
          </a:solidFill>
          <a:ln w="6350">
            <a:solidFill>
              <a:srgbClr val="2A4060"/>
            </a:solidFill>
            <a:prstDash val="solid"/>
          </a:ln>
        </p:spPr>
        <p:txBody>
          <a:bodyPr/>
          <a:lstStyle/>
          <a:p>
            <a:endParaRPr lang="en-US"/>
          </a:p>
        </p:txBody>
      </p:sp>
      <p:sp>
        <p:nvSpPr>
          <p:cNvPr id="75" name="Text 73"/>
          <p:cNvSpPr/>
          <p:nvPr/>
        </p:nvSpPr>
        <p:spPr>
          <a:xfrm>
            <a:off x="201168" y="3145536"/>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1990</a:t>
            </a:r>
            <a:endParaRPr lang="en-US" sz="1000" dirty="0"/>
          </a:p>
        </p:txBody>
      </p:sp>
      <p:sp>
        <p:nvSpPr>
          <p:cNvPr id="76" name="Shape 74"/>
          <p:cNvSpPr/>
          <p:nvPr/>
        </p:nvSpPr>
        <p:spPr>
          <a:xfrm>
            <a:off x="1005840" y="3145536"/>
            <a:ext cx="1078992" cy="420624"/>
          </a:xfrm>
          <a:prstGeom prst="rect">
            <a:avLst/>
          </a:prstGeom>
          <a:solidFill>
            <a:srgbClr val="16568B"/>
          </a:solidFill>
          <a:ln w="6350">
            <a:solidFill>
              <a:srgbClr val="CCCCCC"/>
            </a:solidFill>
            <a:prstDash val="solid"/>
          </a:ln>
        </p:spPr>
        <p:txBody>
          <a:bodyPr/>
          <a:lstStyle/>
          <a:p>
            <a:endParaRPr lang="en-US"/>
          </a:p>
        </p:txBody>
      </p:sp>
      <p:sp>
        <p:nvSpPr>
          <p:cNvPr id="77" name="Text 75"/>
          <p:cNvSpPr/>
          <p:nvPr/>
        </p:nvSpPr>
        <p:spPr>
          <a:xfrm>
            <a:off x="1005840" y="3145536"/>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7.2</a:t>
            </a:r>
            <a:endParaRPr lang="en-US" sz="1100" dirty="0"/>
          </a:p>
        </p:txBody>
      </p:sp>
      <p:sp>
        <p:nvSpPr>
          <p:cNvPr id="78" name="Shape 76"/>
          <p:cNvSpPr/>
          <p:nvPr/>
        </p:nvSpPr>
        <p:spPr>
          <a:xfrm>
            <a:off x="2084832" y="3145536"/>
            <a:ext cx="1078992" cy="420624"/>
          </a:xfrm>
          <a:prstGeom prst="rect">
            <a:avLst/>
          </a:prstGeom>
          <a:solidFill>
            <a:srgbClr val="A3D3AF"/>
          </a:solidFill>
          <a:ln w="6350">
            <a:solidFill>
              <a:srgbClr val="CCCCCC"/>
            </a:solidFill>
            <a:prstDash val="solid"/>
          </a:ln>
        </p:spPr>
        <p:txBody>
          <a:bodyPr/>
          <a:lstStyle/>
          <a:p>
            <a:endParaRPr lang="en-US"/>
          </a:p>
        </p:txBody>
      </p:sp>
      <p:sp>
        <p:nvSpPr>
          <p:cNvPr id="79" name="Text 77"/>
          <p:cNvSpPr/>
          <p:nvPr/>
        </p:nvSpPr>
        <p:spPr>
          <a:xfrm>
            <a:off x="2084832" y="3145536"/>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5.8</a:t>
            </a:r>
            <a:endParaRPr lang="en-US" sz="1100" dirty="0"/>
          </a:p>
        </p:txBody>
      </p:sp>
      <p:sp>
        <p:nvSpPr>
          <p:cNvPr id="80" name="Shape 78"/>
          <p:cNvSpPr/>
          <p:nvPr/>
        </p:nvSpPr>
        <p:spPr>
          <a:xfrm>
            <a:off x="3163824" y="3145536"/>
            <a:ext cx="1078992" cy="420624"/>
          </a:xfrm>
          <a:prstGeom prst="rect">
            <a:avLst/>
          </a:prstGeom>
          <a:solidFill>
            <a:srgbClr val="6CB697"/>
          </a:solidFill>
          <a:ln w="6350">
            <a:solidFill>
              <a:srgbClr val="CCCCCC"/>
            </a:solidFill>
            <a:prstDash val="solid"/>
          </a:ln>
        </p:spPr>
        <p:txBody>
          <a:bodyPr/>
          <a:lstStyle/>
          <a:p>
            <a:endParaRPr lang="en-US"/>
          </a:p>
        </p:txBody>
      </p:sp>
      <p:sp>
        <p:nvSpPr>
          <p:cNvPr id="81" name="Text 79"/>
          <p:cNvSpPr/>
          <p:nvPr/>
        </p:nvSpPr>
        <p:spPr>
          <a:xfrm>
            <a:off x="3163824" y="3145536"/>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6.2</a:t>
            </a:r>
            <a:endParaRPr lang="en-US" sz="1100" dirty="0"/>
          </a:p>
        </p:txBody>
      </p:sp>
      <p:sp>
        <p:nvSpPr>
          <p:cNvPr id="82" name="Shape 80"/>
          <p:cNvSpPr/>
          <p:nvPr/>
        </p:nvSpPr>
        <p:spPr>
          <a:xfrm>
            <a:off x="4242816" y="3145536"/>
            <a:ext cx="1078992" cy="420624"/>
          </a:xfrm>
          <a:prstGeom prst="rect">
            <a:avLst/>
          </a:prstGeom>
          <a:solidFill>
            <a:srgbClr val="1C6894"/>
          </a:solidFill>
          <a:ln w="6350">
            <a:solidFill>
              <a:srgbClr val="CCCCCC"/>
            </a:solidFill>
            <a:prstDash val="solid"/>
          </a:ln>
        </p:spPr>
        <p:txBody>
          <a:bodyPr/>
          <a:lstStyle/>
          <a:p>
            <a:endParaRPr lang="en-US"/>
          </a:p>
        </p:txBody>
      </p:sp>
      <p:sp>
        <p:nvSpPr>
          <p:cNvPr id="83" name="Text 81"/>
          <p:cNvSpPr/>
          <p:nvPr/>
        </p:nvSpPr>
        <p:spPr>
          <a:xfrm>
            <a:off x="4242816" y="3145536"/>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7.0</a:t>
            </a:r>
            <a:endParaRPr lang="en-US" sz="1100" dirty="0"/>
          </a:p>
        </p:txBody>
      </p:sp>
      <p:sp>
        <p:nvSpPr>
          <p:cNvPr id="84" name="Shape 82"/>
          <p:cNvSpPr/>
          <p:nvPr/>
        </p:nvSpPr>
        <p:spPr>
          <a:xfrm>
            <a:off x="5321808" y="3145536"/>
            <a:ext cx="1078992" cy="420624"/>
          </a:xfrm>
          <a:prstGeom prst="rect">
            <a:avLst/>
          </a:prstGeom>
          <a:solidFill>
            <a:srgbClr val="217295"/>
          </a:solidFill>
          <a:ln w="6350">
            <a:solidFill>
              <a:srgbClr val="CCCCCC"/>
            </a:solidFill>
            <a:prstDash val="solid"/>
          </a:ln>
        </p:spPr>
        <p:txBody>
          <a:bodyPr/>
          <a:lstStyle/>
          <a:p>
            <a:endParaRPr lang="en-US"/>
          </a:p>
        </p:txBody>
      </p:sp>
      <p:sp>
        <p:nvSpPr>
          <p:cNvPr id="85" name="Text 83"/>
          <p:cNvSpPr/>
          <p:nvPr/>
        </p:nvSpPr>
        <p:spPr>
          <a:xfrm>
            <a:off x="5321808" y="3145536"/>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6.9</a:t>
            </a:r>
            <a:endParaRPr lang="en-US" sz="1100" dirty="0"/>
          </a:p>
        </p:txBody>
      </p:sp>
      <p:sp>
        <p:nvSpPr>
          <p:cNvPr id="86" name="Shape 84"/>
          <p:cNvSpPr/>
          <p:nvPr/>
        </p:nvSpPr>
        <p:spPr>
          <a:xfrm>
            <a:off x="6400800" y="3145536"/>
            <a:ext cx="1078992" cy="420624"/>
          </a:xfrm>
          <a:prstGeom prst="rect">
            <a:avLst/>
          </a:prstGeom>
          <a:solidFill>
            <a:srgbClr val="134C87"/>
          </a:solidFill>
          <a:ln w="6350">
            <a:solidFill>
              <a:srgbClr val="CCCCCC"/>
            </a:solidFill>
            <a:prstDash val="solid"/>
          </a:ln>
        </p:spPr>
        <p:txBody>
          <a:bodyPr/>
          <a:lstStyle/>
          <a:p>
            <a:endParaRPr lang="en-US"/>
          </a:p>
        </p:txBody>
      </p:sp>
      <p:sp>
        <p:nvSpPr>
          <p:cNvPr id="87" name="Text 85"/>
          <p:cNvSpPr/>
          <p:nvPr/>
        </p:nvSpPr>
        <p:spPr>
          <a:xfrm>
            <a:off x="6400800" y="3145536"/>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7.3</a:t>
            </a:r>
            <a:endParaRPr lang="en-US" sz="1100" dirty="0"/>
          </a:p>
        </p:txBody>
      </p:sp>
      <p:sp>
        <p:nvSpPr>
          <p:cNvPr id="88" name="Shape 86"/>
          <p:cNvSpPr/>
          <p:nvPr/>
        </p:nvSpPr>
        <p:spPr>
          <a:xfrm>
            <a:off x="201168" y="3566160"/>
            <a:ext cx="777240" cy="420624"/>
          </a:xfrm>
          <a:prstGeom prst="rect">
            <a:avLst/>
          </a:prstGeom>
          <a:solidFill>
            <a:srgbClr val="1C2E4A"/>
          </a:solidFill>
          <a:ln w="6350">
            <a:solidFill>
              <a:srgbClr val="2A4060"/>
            </a:solidFill>
            <a:prstDash val="solid"/>
          </a:ln>
        </p:spPr>
        <p:txBody>
          <a:bodyPr/>
          <a:lstStyle/>
          <a:p>
            <a:endParaRPr lang="en-US"/>
          </a:p>
        </p:txBody>
      </p:sp>
      <p:sp>
        <p:nvSpPr>
          <p:cNvPr id="89" name="Text 87"/>
          <p:cNvSpPr/>
          <p:nvPr/>
        </p:nvSpPr>
        <p:spPr>
          <a:xfrm>
            <a:off x="201168" y="3566160"/>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2000</a:t>
            </a:r>
            <a:endParaRPr lang="en-US" sz="1000" dirty="0"/>
          </a:p>
        </p:txBody>
      </p:sp>
      <p:sp>
        <p:nvSpPr>
          <p:cNvPr id="90" name="Shape 88"/>
          <p:cNvSpPr/>
          <p:nvPr/>
        </p:nvSpPr>
        <p:spPr>
          <a:xfrm>
            <a:off x="1005840" y="3566160"/>
            <a:ext cx="1078992" cy="420624"/>
          </a:xfrm>
          <a:prstGeom prst="rect">
            <a:avLst/>
          </a:prstGeom>
          <a:solidFill>
            <a:srgbClr val="3A918F"/>
          </a:solidFill>
          <a:ln w="6350">
            <a:solidFill>
              <a:srgbClr val="CCCCCC"/>
            </a:solidFill>
            <a:prstDash val="solid"/>
          </a:ln>
        </p:spPr>
        <p:txBody>
          <a:bodyPr/>
          <a:lstStyle/>
          <a:p>
            <a:endParaRPr lang="en-US"/>
          </a:p>
        </p:txBody>
      </p:sp>
      <p:sp>
        <p:nvSpPr>
          <p:cNvPr id="91" name="Text 89"/>
          <p:cNvSpPr/>
          <p:nvPr/>
        </p:nvSpPr>
        <p:spPr>
          <a:xfrm>
            <a:off x="1005840" y="356616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6.6</a:t>
            </a:r>
            <a:endParaRPr lang="en-US" sz="1100" dirty="0"/>
          </a:p>
        </p:txBody>
      </p:sp>
      <p:sp>
        <p:nvSpPr>
          <p:cNvPr id="92" name="Shape 90"/>
          <p:cNvSpPr/>
          <p:nvPr/>
        </p:nvSpPr>
        <p:spPr>
          <a:xfrm>
            <a:off x="2084832" y="3566160"/>
            <a:ext cx="1078992" cy="420624"/>
          </a:xfrm>
          <a:prstGeom prst="rect">
            <a:avLst/>
          </a:prstGeom>
          <a:solidFill>
            <a:srgbClr val="AFDAB7"/>
          </a:solidFill>
          <a:ln w="6350">
            <a:solidFill>
              <a:srgbClr val="CCCCCC"/>
            </a:solidFill>
            <a:prstDash val="solid"/>
          </a:ln>
        </p:spPr>
        <p:txBody>
          <a:bodyPr/>
          <a:lstStyle/>
          <a:p>
            <a:endParaRPr lang="en-US"/>
          </a:p>
        </p:txBody>
      </p:sp>
      <p:sp>
        <p:nvSpPr>
          <p:cNvPr id="93" name="Text 91"/>
          <p:cNvSpPr/>
          <p:nvPr/>
        </p:nvSpPr>
        <p:spPr>
          <a:xfrm>
            <a:off x="2084832" y="356616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5.7</a:t>
            </a:r>
            <a:endParaRPr lang="en-US" sz="1100" dirty="0"/>
          </a:p>
        </p:txBody>
      </p:sp>
      <p:sp>
        <p:nvSpPr>
          <p:cNvPr id="94" name="Shape 92"/>
          <p:cNvSpPr/>
          <p:nvPr/>
        </p:nvSpPr>
        <p:spPr>
          <a:xfrm>
            <a:off x="3163824" y="3566160"/>
            <a:ext cx="1078992" cy="420624"/>
          </a:xfrm>
          <a:prstGeom prst="rect">
            <a:avLst/>
          </a:prstGeom>
          <a:solidFill>
            <a:srgbClr val="6CB697"/>
          </a:solidFill>
          <a:ln w="6350">
            <a:solidFill>
              <a:srgbClr val="CCCCCC"/>
            </a:solidFill>
            <a:prstDash val="solid"/>
          </a:ln>
        </p:spPr>
        <p:txBody>
          <a:bodyPr/>
          <a:lstStyle/>
          <a:p>
            <a:endParaRPr lang="en-US"/>
          </a:p>
        </p:txBody>
      </p:sp>
      <p:sp>
        <p:nvSpPr>
          <p:cNvPr id="95" name="Text 93"/>
          <p:cNvSpPr/>
          <p:nvPr/>
        </p:nvSpPr>
        <p:spPr>
          <a:xfrm>
            <a:off x="3163824" y="356616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6.2</a:t>
            </a:r>
            <a:endParaRPr lang="en-US" sz="1100" dirty="0"/>
          </a:p>
        </p:txBody>
      </p:sp>
      <p:sp>
        <p:nvSpPr>
          <p:cNvPr id="96" name="Shape 94"/>
          <p:cNvSpPr/>
          <p:nvPr/>
        </p:nvSpPr>
        <p:spPr>
          <a:xfrm>
            <a:off x="4242816" y="3566160"/>
            <a:ext cx="1078992" cy="420624"/>
          </a:xfrm>
          <a:prstGeom prst="rect">
            <a:avLst/>
          </a:prstGeom>
          <a:solidFill>
            <a:srgbClr val="328791"/>
          </a:solidFill>
          <a:ln w="6350">
            <a:solidFill>
              <a:srgbClr val="CCCCCC"/>
            </a:solidFill>
            <a:prstDash val="solid"/>
          </a:ln>
        </p:spPr>
        <p:txBody>
          <a:bodyPr/>
          <a:lstStyle/>
          <a:p>
            <a:endParaRPr lang="en-US"/>
          </a:p>
        </p:txBody>
      </p:sp>
      <p:sp>
        <p:nvSpPr>
          <p:cNvPr id="97" name="Text 95"/>
          <p:cNvSpPr/>
          <p:nvPr/>
        </p:nvSpPr>
        <p:spPr>
          <a:xfrm>
            <a:off x="4242816" y="356616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6.7</a:t>
            </a:r>
            <a:endParaRPr lang="en-US" sz="1100" dirty="0"/>
          </a:p>
        </p:txBody>
      </p:sp>
      <p:sp>
        <p:nvSpPr>
          <p:cNvPr id="98" name="Shape 96"/>
          <p:cNvSpPr/>
          <p:nvPr/>
        </p:nvSpPr>
        <p:spPr>
          <a:xfrm>
            <a:off x="5321808" y="3566160"/>
            <a:ext cx="1078992" cy="420624"/>
          </a:xfrm>
          <a:prstGeom prst="rect">
            <a:avLst/>
          </a:prstGeom>
          <a:solidFill>
            <a:srgbClr val="3A918F"/>
          </a:solidFill>
          <a:ln w="6350">
            <a:solidFill>
              <a:srgbClr val="CCCCCC"/>
            </a:solidFill>
            <a:prstDash val="solid"/>
          </a:ln>
        </p:spPr>
        <p:txBody>
          <a:bodyPr/>
          <a:lstStyle/>
          <a:p>
            <a:endParaRPr lang="en-US"/>
          </a:p>
        </p:txBody>
      </p:sp>
      <p:sp>
        <p:nvSpPr>
          <p:cNvPr id="99" name="Text 97"/>
          <p:cNvSpPr/>
          <p:nvPr/>
        </p:nvSpPr>
        <p:spPr>
          <a:xfrm>
            <a:off x="5321808" y="3566160"/>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6.6</a:t>
            </a:r>
            <a:endParaRPr lang="en-US" sz="1100" dirty="0"/>
          </a:p>
        </p:txBody>
      </p:sp>
      <p:sp>
        <p:nvSpPr>
          <p:cNvPr id="100" name="Shape 98"/>
          <p:cNvSpPr/>
          <p:nvPr/>
        </p:nvSpPr>
        <p:spPr>
          <a:xfrm>
            <a:off x="6400800" y="3566160"/>
            <a:ext cx="1078992" cy="420624"/>
          </a:xfrm>
          <a:prstGeom prst="rect">
            <a:avLst/>
          </a:prstGeom>
          <a:solidFill>
            <a:srgbClr val="1C6894"/>
          </a:solidFill>
          <a:ln w="6350">
            <a:solidFill>
              <a:srgbClr val="CCCCCC"/>
            </a:solidFill>
            <a:prstDash val="solid"/>
          </a:ln>
        </p:spPr>
        <p:txBody>
          <a:bodyPr/>
          <a:lstStyle/>
          <a:p>
            <a:endParaRPr lang="en-US"/>
          </a:p>
        </p:txBody>
      </p:sp>
      <p:sp>
        <p:nvSpPr>
          <p:cNvPr id="101" name="Text 99"/>
          <p:cNvSpPr/>
          <p:nvPr/>
        </p:nvSpPr>
        <p:spPr>
          <a:xfrm>
            <a:off x="6400800" y="3566160"/>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7.0</a:t>
            </a:r>
            <a:endParaRPr lang="en-US" sz="1100" dirty="0"/>
          </a:p>
        </p:txBody>
      </p:sp>
      <p:sp>
        <p:nvSpPr>
          <p:cNvPr id="102" name="Shape 100"/>
          <p:cNvSpPr/>
          <p:nvPr/>
        </p:nvSpPr>
        <p:spPr>
          <a:xfrm>
            <a:off x="201168" y="3986784"/>
            <a:ext cx="777240" cy="420624"/>
          </a:xfrm>
          <a:prstGeom prst="rect">
            <a:avLst/>
          </a:prstGeom>
          <a:solidFill>
            <a:srgbClr val="1C2E4A"/>
          </a:solidFill>
          <a:ln w="6350">
            <a:solidFill>
              <a:srgbClr val="2A4060"/>
            </a:solidFill>
            <a:prstDash val="solid"/>
          </a:ln>
        </p:spPr>
        <p:txBody>
          <a:bodyPr/>
          <a:lstStyle/>
          <a:p>
            <a:endParaRPr lang="en-US"/>
          </a:p>
        </p:txBody>
      </p:sp>
      <p:sp>
        <p:nvSpPr>
          <p:cNvPr id="103" name="Text 101"/>
          <p:cNvSpPr/>
          <p:nvPr/>
        </p:nvSpPr>
        <p:spPr>
          <a:xfrm>
            <a:off x="201168" y="3986784"/>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2010</a:t>
            </a:r>
            <a:endParaRPr lang="en-US" sz="1000" dirty="0"/>
          </a:p>
        </p:txBody>
      </p:sp>
      <p:sp>
        <p:nvSpPr>
          <p:cNvPr id="104" name="Shape 102"/>
          <p:cNvSpPr/>
          <p:nvPr/>
        </p:nvSpPr>
        <p:spPr>
          <a:xfrm>
            <a:off x="1005840" y="3986784"/>
            <a:ext cx="1078992" cy="420624"/>
          </a:xfrm>
          <a:prstGeom prst="rect">
            <a:avLst/>
          </a:prstGeom>
          <a:solidFill>
            <a:srgbClr val="439C8D"/>
          </a:solidFill>
          <a:ln w="6350">
            <a:solidFill>
              <a:srgbClr val="CCCCCC"/>
            </a:solidFill>
            <a:prstDash val="solid"/>
          </a:ln>
        </p:spPr>
        <p:txBody>
          <a:bodyPr/>
          <a:lstStyle/>
          <a:p>
            <a:endParaRPr lang="en-US"/>
          </a:p>
        </p:txBody>
      </p:sp>
      <p:sp>
        <p:nvSpPr>
          <p:cNvPr id="105" name="Text 103"/>
          <p:cNvSpPr/>
          <p:nvPr/>
        </p:nvSpPr>
        <p:spPr>
          <a:xfrm>
            <a:off x="1005840" y="398678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6.5</a:t>
            </a:r>
            <a:endParaRPr lang="en-US" sz="1100" dirty="0"/>
          </a:p>
        </p:txBody>
      </p:sp>
      <p:sp>
        <p:nvSpPr>
          <p:cNvPr id="106" name="Shape 104"/>
          <p:cNvSpPr/>
          <p:nvPr/>
        </p:nvSpPr>
        <p:spPr>
          <a:xfrm>
            <a:off x="2084832" y="3986784"/>
            <a:ext cx="1078992" cy="420624"/>
          </a:xfrm>
          <a:prstGeom prst="rect">
            <a:avLst/>
          </a:prstGeom>
          <a:solidFill>
            <a:srgbClr val="C8E6C8"/>
          </a:solidFill>
          <a:ln w="6350">
            <a:solidFill>
              <a:srgbClr val="CCCCCC"/>
            </a:solidFill>
            <a:prstDash val="solid"/>
          </a:ln>
        </p:spPr>
        <p:txBody>
          <a:bodyPr/>
          <a:lstStyle/>
          <a:p>
            <a:endParaRPr lang="en-US"/>
          </a:p>
        </p:txBody>
      </p:sp>
      <p:sp>
        <p:nvSpPr>
          <p:cNvPr id="107" name="Text 105"/>
          <p:cNvSpPr/>
          <p:nvPr/>
        </p:nvSpPr>
        <p:spPr>
          <a:xfrm>
            <a:off x="2084832" y="398678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5.5</a:t>
            </a:r>
            <a:endParaRPr lang="en-US" sz="1100" dirty="0"/>
          </a:p>
        </p:txBody>
      </p:sp>
      <p:sp>
        <p:nvSpPr>
          <p:cNvPr id="108" name="Shape 106"/>
          <p:cNvSpPr/>
          <p:nvPr/>
        </p:nvSpPr>
        <p:spPr>
          <a:xfrm>
            <a:off x="3163824" y="3986784"/>
            <a:ext cx="1078992" cy="420624"/>
          </a:xfrm>
          <a:prstGeom prst="rect">
            <a:avLst/>
          </a:prstGeom>
          <a:solidFill>
            <a:srgbClr val="7BBE9B"/>
          </a:solidFill>
          <a:ln w="6350">
            <a:solidFill>
              <a:srgbClr val="CCCCCC"/>
            </a:solidFill>
            <a:prstDash val="solid"/>
          </a:ln>
        </p:spPr>
        <p:txBody>
          <a:bodyPr/>
          <a:lstStyle/>
          <a:p>
            <a:endParaRPr lang="en-US"/>
          </a:p>
        </p:txBody>
      </p:sp>
      <p:sp>
        <p:nvSpPr>
          <p:cNvPr id="109" name="Text 107"/>
          <p:cNvSpPr/>
          <p:nvPr/>
        </p:nvSpPr>
        <p:spPr>
          <a:xfrm>
            <a:off x="3163824" y="398678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6.1</a:t>
            </a:r>
            <a:endParaRPr lang="en-US" sz="1100" dirty="0"/>
          </a:p>
        </p:txBody>
      </p:sp>
      <p:sp>
        <p:nvSpPr>
          <p:cNvPr id="110" name="Shape 108"/>
          <p:cNvSpPr/>
          <p:nvPr/>
        </p:nvSpPr>
        <p:spPr>
          <a:xfrm>
            <a:off x="4242816" y="3986784"/>
            <a:ext cx="1078992" cy="420624"/>
          </a:xfrm>
          <a:prstGeom prst="rect">
            <a:avLst/>
          </a:prstGeom>
          <a:solidFill>
            <a:srgbClr val="3A918F"/>
          </a:solidFill>
          <a:ln w="6350">
            <a:solidFill>
              <a:srgbClr val="CCCCCC"/>
            </a:solidFill>
            <a:prstDash val="solid"/>
          </a:ln>
        </p:spPr>
        <p:txBody>
          <a:bodyPr/>
          <a:lstStyle/>
          <a:p>
            <a:endParaRPr lang="en-US"/>
          </a:p>
        </p:txBody>
      </p:sp>
      <p:sp>
        <p:nvSpPr>
          <p:cNvPr id="111" name="Text 109"/>
          <p:cNvSpPr/>
          <p:nvPr/>
        </p:nvSpPr>
        <p:spPr>
          <a:xfrm>
            <a:off x="4242816" y="398678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6.6</a:t>
            </a:r>
            <a:endParaRPr lang="en-US" sz="1100" dirty="0"/>
          </a:p>
        </p:txBody>
      </p:sp>
      <p:sp>
        <p:nvSpPr>
          <p:cNvPr id="112" name="Shape 110"/>
          <p:cNvSpPr/>
          <p:nvPr/>
        </p:nvSpPr>
        <p:spPr>
          <a:xfrm>
            <a:off x="5321808" y="3986784"/>
            <a:ext cx="1078992" cy="420624"/>
          </a:xfrm>
          <a:prstGeom prst="rect">
            <a:avLst/>
          </a:prstGeom>
          <a:solidFill>
            <a:srgbClr val="3A918F"/>
          </a:solidFill>
          <a:ln w="6350">
            <a:solidFill>
              <a:srgbClr val="CCCCCC"/>
            </a:solidFill>
            <a:prstDash val="solid"/>
          </a:ln>
        </p:spPr>
        <p:txBody>
          <a:bodyPr/>
          <a:lstStyle/>
          <a:p>
            <a:endParaRPr lang="en-US"/>
          </a:p>
        </p:txBody>
      </p:sp>
      <p:sp>
        <p:nvSpPr>
          <p:cNvPr id="113" name="Text 111"/>
          <p:cNvSpPr/>
          <p:nvPr/>
        </p:nvSpPr>
        <p:spPr>
          <a:xfrm>
            <a:off x="5321808" y="3986784"/>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6.6</a:t>
            </a:r>
            <a:endParaRPr lang="en-US" sz="1100" dirty="0"/>
          </a:p>
        </p:txBody>
      </p:sp>
      <p:sp>
        <p:nvSpPr>
          <p:cNvPr id="114" name="Shape 112"/>
          <p:cNvSpPr/>
          <p:nvPr/>
        </p:nvSpPr>
        <p:spPr>
          <a:xfrm>
            <a:off x="6400800" y="3986784"/>
            <a:ext cx="1078992" cy="420624"/>
          </a:xfrm>
          <a:prstGeom prst="rect">
            <a:avLst/>
          </a:prstGeom>
          <a:solidFill>
            <a:srgbClr val="104383"/>
          </a:solidFill>
          <a:ln w="6350">
            <a:solidFill>
              <a:srgbClr val="CCCCCC"/>
            </a:solidFill>
            <a:prstDash val="solid"/>
          </a:ln>
        </p:spPr>
        <p:txBody>
          <a:bodyPr/>
          <a:lstStyle/>
          <a:p>
            <a:endParaRPr lang="en-US"/>
          </a:p>
        </p:txBody>
      </p:sp>
      <p:sp>
        <p:nvSpPr>
          <p:cNvPr id="115" name="Text 113"/>
          <p:cNvSpPr/>
          <p:nvPr/>
        </p:nvSpPr>
        <p:spPr>
          <a:xfrm>
            <a:off x="6400800" y="3986784"/>
            <a:ext cx="107899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7.4</a:t>
            </a:r>
            <a:endParaRPr lang="en-US" sz="1100" dirty="0"/>
          </a:p>
        </p:txBody>
      </p:sp>
      <p:sp>
        <p:nvSpPr>
          <p:cNvPr id="116" name="Shape 114"/>
          <p:cNvSpPr/>
          <p:nvPr/>
        </p:nvSpPr>
        <p:spPr>
          <a:xfrm>
            <a:off x="201168" y="4407408"/>
            <a:ext cx="777240" cy="420624"/>
          </a:xfrm>
          <a:prstGeom prst="rect">
            <a:avLst/>
          </a:prstGeom>
          <a:solidFill>
            <a:srgbClr val="1C2E4A"/>
          </a:solidFill>
          <a:ln w="6350">
            <a:solidFill>
              <a:srgbClr val="2A4060"/>
            </a:solidFill>
            <a:prstDash val="solid"/>
          </a:ln>
        </p:spPr>
        <p:txBody>
          <a:bodyPr/>
          <a:lstStyle/>
          <a:p>
            <a:endParaRPr lang="en-US"/>
          </a:p>
        </p:txBody>
      </p:sp>
      <p:sp>
        <p:nvSpPr>
          <p:cNvPr id="117" name="Text 115"/>
          <p:cNvSpPr/>
          <p:nvPr/>
        </p:nvSpPr>
        <p:spPr>
          <a:xfrm>
            <a:off x="201168" y="4407408"/>
            <a:ext cx="777240"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2020</a:t>
            </a:r>
            <a:endParaRPr lang="en-US" sz="1000" dirty="0"/>
          </a:p>
        </p:txBody>
      </p:sp>
      <p:sp>
        <p:nvSpPr>
          <p:cNvPr id="118" name="Shape 116"/>
          <p:cNvSpPr/>
          <p:nvPr/>
        </p:nvSpPr>
        <p:spPr>
          <a:xfrm>
            <a:off x="1005840" y="4407408"/>
            <a:ext cx="1078992" cy="420624"/>
          </a:xfrm>
          <a:prstGeom prst="rect">
            <a:avLst/>
          </a:prstGeom>
          <a:solidFill>
            <a:srgbClr val="AFDAB7"/>
          </a:solidFill>
          <a:ln w="6350">
            <a:solidFill>
              <a:srgbClr val="CCCCCC"/>
            </a:solidFill>
            <a:prstDash val="solid"/>
          </a:ln>
        </p:spPr>
        <p:txBody>
          <a:bodyPr/>
          <a:lstStyle/>
          <a:p>
            <a:endParaRPr lang="en-US"/>
          </a:p>
        </p:txBody>
      </p:sp>
      <p:sp>
        <p:nvSpPr>
          <p:cNvPr id="119" name="Text 117"/>
          <p:cNvSpPr/>
          <p:nvPr/>
        </p:nvSpPr>
        <p:spPr>
          <a:xfrm>
            <a:off x="1005840" y="440740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5.7</a:t>
            </a:r>
            <a:endParaRPr lang="en-US" sz="1100" dirty="0"/>
          </a:p>
        </p:txBody>
      </p:sp>
      <p:sp>
        <p:nvSpPr>
          <p:cNvPr id="120" name="Shape 118"/>
          <p:cNvSpPr/>
          <p:nvPr/>
        </p:nvSpPr>
        <p:spPr>
          <a:xfrm>
            <a:off x="2084832" y="4407408"/>
            <a:ext cx="1078992" cy="420624"/>
          </a:xfrm>
          <a:prstGeom prst="rect">
            <a:avLst/>
          </a:prstGeom>
          <a:solidFill>
            <a:srgbClr val="C8E6C8"/>
          </a:solidFill>
          <a:ln w="6350">
            <a:solidFill>
              <a:srgbClr val="CCCCCC"/>
            </a:solidFill>
            <a:prstDash val="solid"/>
          </a:ln>
        </p:spPr>
        <p:txBody>
          <a:bodyPr/>
          <a:lstStyle/>
          <a:p>
            <a:endParaRPr lang="en-US"/>
          </a:p>
        </p:txBody>
      </p:sp>
      <p:sp>
        <p:nvSpPr>
          <p:cNvPr id="121" name="Text 119"/>
          <p:cNvSpPr/>
          <p:nvPr/>
        </p:nvSpPr>
        <p:spPr>
          <a:xfrm>
            <a:off x="2084832" y="440740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5.5</a:t>
            </a:r>
            <a:endParaRPr lang="en-US" sz="1100" dirty="0"/>
          </a:p>
        </p:txBody>
      </p:sp>
      <p:sp>
        <p:nvSpPr>
          <p:cNvPr id="122" name="Shape 120"/>
          <p:cNvSpPr/>
          <p:nvPr/>
        </p:nvSpPr>
        <p:spPr>
          <a:xfrm>
            <a:off x="3163824" y="4407408"/>
            <a:ext cx="1078992" cy="420624"/>
          </a:xfrm>
          <a:prstGeom prst="rect">
            <a:avLst/>
          </a:prstGeom>
          <a:solidFill>
            <a:srgbClr val="89C69F"/>
          </a:solidFill>
          <a:ln w="6350">
            <a:solidFill>
              <a:srgbClr val="CCCCCC"/>
            </a:solidFill>
            <a:prstDash val="solid"/>
          </a:ln>
        </p:spPr>
        <p:txBody>
          <a:bodyPr/>
          <a:lstStyle/>
          <a:p>
            <a:endParaRPr lang="en-US"/>
          </a:p>
        </p:txBody>
      </p:sp>
      <p:sp>
        <p:nvSpPr>
          <p:cNvPr id="123" name="Text 121"/>
          <p:cNvSpPr/>
          <p:nvPr/>
        </p:nvSpPr>
        <p:spPr>
          <a:xfrm>
            <a:off x="3163824" y="440740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6.0</a:t>
            </a:r>
            <a:endParaRPr lang="en-US" sz="1100" dirty="0"/>
          </a:p>
        </p:txBody>
      </p:sp>
      <p:sp>
        <p:nvSpPr>
          <p:cNvPr id="124" name="Shape 122"/>
          <p:cNvSpPr/>
          <p:nvPr/>
        </p:nvSpPr>
        <p:spPr>
          <a:xfrm>
            <a:off x="4242816" y="4407408"/>
            <a:ext cx="1078992" cy="420624"/>
          </a:xfrm>
          <a:prstGeom prst="rect">
            <a:avLst/>
          </a:prstGeom>
          <a:solidFill>
            <a:srgbClr val="439C8D"/>
          </a:solidFill>
          <a:ln w="6350">
            <a:solidFill>
              <a:srgbClr val="CCCCCC"/>
            </a:solidFill>
            <a:prstDash val="solid"/>
          </a:ln>
        </p:spPr>
        <p:txBody>
          <a:bodyPr/>
          <a:lstStyle/>
          <a:p>
            <a:endParaRPr lang="en-US"/>
          </a:p>
        </p:txBody>
      </p:sp>
      <p:sp>
        <p:nvSpPr>
          <p:cNvPr id="125" name="Text 123"/>
          <p:cNvSpPr/>
          <p:nvPr/>
        </p:nvSpPr>
        <p:spPr>
          <a:xfrm>
            <a:off x="4242816" y="440740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6.5</a:t>
            </a:r>
            <a:endParaRPr lang="en-US" sz="1100" dirty="0"/>
          </a:p>
        </p:txBody>
      </p:sp>
      <p:sp>
        <p:nvSpPr>
          <p:cNvPr id="126" name="Shape 124"/>
          <p:cNvSpPr/>
          <p:nvPr/>
        </p:nvSpPr>
        <p:spPr>
          <a:xfrm>
            <a:off x="5321808" y="4407408"/>
            <a:ext cx="1078992" cy="420624"/>
          </a:xfrm>
          <a:prstGeom prst="rect">
            <a:avLst/>
          </a:prstGeom>
          <a:solidFill>
            <a:srgbClr val="3A918F"/>
          </a:solidFill>
          <a:ln w="6350">
            <a:solidFill>
              <a:srgbClr val="CCCCCC"/>
            </a:solidFill>
            <a:prstDash val="solid"/>
          </a:ln>
        </p:spPr>
        <p:txBody>
          <a:bodyPr/>
          <a:lstStyle/>
          <a:p>
            <a:endParaRPr lang="en-US"/>
          </a:p>
        </p:txBody>
      </p:sp>
      <p:sp>
        <p:nvSpPr>
          <p:cNvPr id="127" name="Text 125"/>
          <p:cNvSpPr/>
          <p:nvPr/>
        </p:nvSpPr>
        <p:spPr>
          <a:xfrm>
            <a:off x="5321808" y="440740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6.6</a:t>
            </a:r>
            <a:endParaRPr lang="en-US" sz="1100" dirty="0"/>
          </a:p>
        </p:txBody>
      </p:sp>
      <p:sp>
        <p:nvSpPr>
          <p:cNvPr id="128" name="Shape 126"/>
          <p:cNvSpPr/>
          <p:nvPr/>
        </p:nvSpPr>
        <p:spPr>
          <a:xfrm>
            <a:off x="6400800" y="4407408"/>
            <a:ext cx="1078992" cy="420624"/>
          </a:xfrm>
          <a:prstGeom prst="rect">
            <a:avLst/>
          </a:prstGeom>
          <a:solidFill>
            <a:srgbClr val="2A7D93"/>
          </a:solidFill>
          <a:ln w="6350">
            <a:solidFill>
              <a:srgbClr val="CCCCCC"/>
            </a:solidFill>
            <a:prstDash val="solid"/>
          </a:ln>
        </p:spPr>
        <p:txBody>
          <a:bodyPr/>
          <a:lstStyle/>
          <a:p>
            <a:endParaRPr lang="en-US"/>
          </a:p>
        </p:txBody>
      </p:sp>
      <p:sp>
        <p:nvSpPr>
          <p:cNvPr id="129" name="Text 127"/>
          <p:cNvSpPr/>
          <p:nvPr/>
        </p:nvSpPr>
        <p:spPr>
          <a:xfrm>
            <a:off x="6400800" y="4407408"/>
            <a:ext cx="1078992" cy="420624"/>
          </a:xfrm>
          <a:prstGeom prst="rect">
            <a:avLst/>
          </a:prstGeom>
          <a:noFill/>
          <a:ln/>
        </p:spPr>
        <p:txBody>
          <a:bodyPr wrap="square" lIns="0" tIns="0" rIns="0" bIns="0" rtlCol="0" anchor="ctr"/>
          <a:lstStyle/>
          <a:p>
            <a:pPr marL="0" indent="0" algn="ctr">
              <a:buNone/>
            </a:pPr>
            <a:r>
              <a:rPr lang="en-US" sz="1100" dirty="0">
                <a:solidFill>
                  <a:srgbClr val="1C2E4A"/>
                </a:solidFill>
                <a:latin typeface="Calibri" pitchFamily="34" charset="0"/>
                <a:ea typeface="Calibri" pitchFamily="34" charset="-122"/>
                <a:cs typeface="Calibri" pitchFamily="34" charset="-120"/>
              </a:rPr>
              <a:t>6.8</a:t>
            </a:r>
            <a:endParaRPr lang="en-US" sz="1100" dirty="0"/>
          </a:p>
        </p:txBody>
      </p:sp>
      <p:sp>
        <p:nvSpPr>
          <p:cNvPr id="130" name="Text 128"/>
          <p:cNvSpPr/>
          <p:nvPr/>
        </p:nvSpPr>
        <p:spPr>
          <a:xfrm>
            <a:off x="201168" y="4709160"/>
            <a:ext cx="731520" cy="228600"/>
          </a:xfrm>
          <a:prstGeom prst="rect">
            <a:avLst/>
          </a:prstGeom>
          <a:noFill/>
          <a:ln/>
        </p:spPr>
        <p:txBody>
          <a:bodyPr wrap="square" rtlCol="0" anchor="ctr"/>
          <a:lstStyle/>
          <a:p>
            <a:pPr marL="0" indent="0">
              <a:buNone/>
            </a:pPr>
            <a:r>
              <a:rPr lang="en-US" sz="900" dirty="0">
                <a:solidFill>
                  <a:srgbClr val="4A6080"/>
                </a:solidFill>
                <a:latin typeface="Calibri" pitchFamily="34" charset="0"/>
                <a:ea typeface="Calibri" pitchFamily="34" charset="-122"/>
                <a:cs typeface="Calibri" pitchFamily="34" charset="-120"/>
              </a:rPr>
              <a:t>Lower</a:t>
            </a:r>
            <a:endParaRPr lang="en-US" sz="900" dirty="0"/>
          </a:p>
        </p:txBody>
      </p:sp>
      <p:sp>
        <p:nvSpPr>
          <p:cNvPr id="131" name="Shape 129"/>
          <p:cNvSpPr/>
          <p:nvPr/>
        </p:nvSpPr>
        <p:spPr>
          <a:xfrm>
            <a:off x="960120" y="4736592"/>
            <a:ext cx="374904" cy="164592"/>
          </a:xfrm>
          <a:prstGeom prst="rect">
            <a:avLst/>
          </a:prstGeom>
          <a:solidFill>
            <a:srgbClr val="C8E6C3"/>
          </a:solidFill>
          <a:ln w="12700">
            <a:solidFill>
              <a:srgbClr val="C8E6C3"/>
            </a:solidFill>
            <a:prstDash val="solid"/>
          </a:ln>
        </p:spPr>
        <p:txBody>
          <a:bodyPr/>
          <a:lstStyle/>
          <a:p>
            <a:endParaRPr lang="en-US"/>
          </a:p>
        </p:txBody>
      </p:sp>
      <p:sp>
        <p:nvSpPr>
          <p:cNvPr id="132" name="Shape 130"/>
          <p:cNvSpPr/>
          <p:nvPr/>
        </p:nvSpPr>
        <p:spPr>
          <a:xfrm>
            <a:off x="1344168" y="4736592"/>
            <a:ext cx="374904" cy="164592"/>
          </a:xfrm>
          <a:prstGeom prst="rect">
            <a:avLst/>
          </a:prstGeom>
          <a:solidFill>
            <a:srgbClr val="8EC6A0"/>
          </a:solidFill>
          <a:ln w="12700">
            <a:solidFill>
              <a:srgbClr val="8EC6A0"/>
            </a:solidFill>
            <a:prstDash val="solid"/>
          </a:ln>
        </p:spPr>
        <p:txBody>
          <a:bodyPr/>
          <a:lstStyle/>
          <a:p>
            <a:endParaRPr lang="en-US"/>
          </a:p>
        </p:txBody>
      </p:sp>
      <p:sp>
        <p:nvSpPr>
          <p:cNvPr id="133" name="Shape 131"/>
          <p:cNvSpPr/>
          <p:nvPr/>
        </p:nvSpPr>
        <p:spPr>
          <a:xfrm>
            <a:off x="1728216" y="4736592"/>
            <a:ext cx="374904" cy="164592"/>
          </a:xfrm>
          <a:prstGeom prst="rect">
            <a:avLst/>
          </a:prstGeom>
          <a:solidFill>
            <a:srgbClr val="46A98A"/>
          </a:solidFill>
          <a:ln w="12700">
            <a:solidFill>
              <a:srgbClr val="46A98A"/>
            </a:solidFill>
            <a:prstDash val="solid"/>
          </a:ln>
        </p:spPr>
        <p:txBody>
          <a:bodyPr/>
          <a:lstStyle/>
          <a:p>
            <a:endParaRPr lang="en-US"/>
          </a:p>
        </p:txBody>
      </p:sp>
      <p:sp>
        <p:nvSpPr>
          <p:cNvPr id="134" name="Shape 132"/>
          <p:cNvSpPr/>
          <p:nvPr/>
        </p:nvSpPr>
        <p:spPr>
          <a:xfrm>
            <a:off x="2112264" y="4736592"/>
            <a:ext cx="374904" cy="164592"/>
          </a:xfrm>
          <a:prstGeom prst="rect">
            <a:avLst/>
          </a:prstGeom>
          <a:solidFill>
            <a:srgbClr val="1E6E96"/>
          </a:solidFill>
          <a:ln w="12700">
            <a:solidFill>
              <a:srgbClr val="1E6E96"/>
            </a:solidFill>
            <a:prstDash val="solid"/>
          </a:ln>
        </p:spPr>
        <p:txBody>
          <a:bodyPr/>
          <a:lstStyle/>
          <a:p>
            <a:endParaRPr lang="en-US"/>
          </a:p>
        </p:txBody>
      </p:sp>
      <p:sp>
        <p:nvSpPr>
          <p:cNvPr id="135" name="Shape 133"/>
          <p:cNvSpPr/>
          <p:nvPr/>
        </p:nvSpPr>
        <p:spPr>
          <a:xfrm>
            <a:off x="2496312" y="4736592"/>
            <a:ext cx="374904" cy="164592"/>
          </a:xfrm>
          <a:prstGeom prst="rect">
            <a:avLst/>
          </a:prstGeom>
          <a:solidFill>
            <a:srgbClr val="0F4180"/>
          </a:solidFill>
          <a:ln w="12700">
            <a:solidFill>
              <a:srgbClr val="0F4180"/>
            </a:solidFill>
            <a:prstDash val="solid"/>
          </a:ln>
        </p:spPr>
        <p:txBody>
          <a:bodyPr/>
          <a:lstStyle/>
          <a:p>
            <a:endParaRPr lang="en-US"/>
          </a:p>
        </p:txBody>
      </p:sp>
      <p:sp>
        <p:nvSpPr>
          <p:cNvPr id="136" name="Shape 134"/>
          <p:cNvSpPr/>
          <p:nvPr/>
        </p:nvSpPr>
        <p:spPr>
          <a:xfrm>
            <a:off x="2880360" y="4736592"/>
            <a:ext cx="374904" cy="164592"/>
          </a:xfrm>
          <a:prstGeom prst="rect">
            <a:avLst/>
          </a:prstGeom>
          <a:solidFill>
            <a:srgbClr val="08195A"/>
          </a:solidFill>
          <a:ln w="12700">
            <a:solidFill>
              <a:srgbClr val="08195A"/>
            </a:solidFill>
            <a:prstDash val="solid"/>
          </a:ln>
        </p:spPr>
        <p:txBody>
          <a:bodyPr/>
          <a:lstStyle/>
          <a:p>
            <a:endParaRPr lang="en-US"/>
          </a:p>
        </p:txBody>
      </p:sp>
      <p:sp>
        <p:nvSpPr>
          <p:cNvPr id="137" name="Text 135"/>
          <p:cNvSpPr/>
          <p:nvPr/>
        </p:nvSpPr>
        <p:spPr>
          <a:xfrm>
            <a:off x="3291840" y="4709160"/>
            <a:ext cx="1097280" cy="228600"/>
          </a:xfrm>
          <a:prstGeom prst="rect">
            <a:avLst/>
          </a:prstGeom>
          <a:noFill/>
          <a:ln/>
        </p:spPr>
        <p:txBody>
          <a:bodyPr wrap="square" rtlCol="0" anchor="ctr"/>
          <a:lstStyle/>
          <a:p>
            <a:pPr marL="0" indent="0">
              <a:buNone/>
            </a:pPr>
            <a:r>
              <a:rPr lang="en-US" sz="900" dirty="0">
                <a:solidFill>
                  <a:srgbClr val="4A6080"/>
                </a:solidFill>
                <a:latin typeface="Calibri" pitchFamily="34" charset="0"/>
                <a:ea typeface="Calibri" pitchFamily="34" charset="-122"/>
                <a:cs typeface="Calibri" pitchFamily="34" charset="-120"/>
              </a:rPr>
              <a:t>Higher rating</a:t>
            </a:r>
            <a:endParaRPr lang="en-US" sz="900" dirty="0"/>
          </a:p>
        </p:txBody>
      </p:sp>
      <p:sp>
        <p:nvSpPr>
          <p:cNvPr id="138" name="Shape 136"/>
          <p:cNvSpPr/>
          <p:nvPr/>
        </p:nvSpPr>
        <p:spPr>
          <a:xfrm>
            <a:off x="7479792" y="1143000"/>
            <a:ext cx="1463040" cy="3520440"/>
          </a:xfrm>
          <a:prstGeom prst="rect">
            <a:avLst/>
          </a:prstGeom>
          <a:solidFill>
            <a:srgbClr val="FFFFFF"/>
          </a:solidFill>
          <a:ln w="12700">
            <a:solidFill>
              <a:srgbClr val="D0DCF0"/>
            </a:solidFill>
            <a:prstDash val="solid"/>
          </a:ln>
        </p:spPr>
        <p:txBody>
          <a:bodyPr/>
          <a:lstStyle/>
          <a:p>
            <a:endParaRPr lang="en-US"/>
          </a:p>
        </p:txBody>
      </p:sp>
      <p:sp>
        <p:nvSpPr>
          <p:cNvPr id="139" name="Shape 137"/>
          <p:cNvSpPr/>
          <p:nvPr/>
        </p:nvSpPr>
        <p:spPr>
          <a:xfrm>
            <a:off x="7479792" y="1143000"/>
            <a:ext cx="64008" cy="3520440"/>
          </a:xfrm>
          <a:prstGeom prst="rect">
            <a:avLst/>
          </a:prstGeom>
          <a:solidFill>
            <a:srgbClr val="27AE60"/>
          </a:solidFill>
          <a:ln w="12700">
            <a:solidFill>
              <a:srgbClr val="27AE60"/>
            </a:solidFill>
            <a:prstDash val="solid"/>
          </a:ln>
        </p:spPr>
        <p:txBody>
          <a:bodyPr/>
          <a:lstStyle/>
          <a:p>
            <a:endParaRPr lang="en-US"/>
          </a:p>
        </p:txBody>
      </p:sp>
      <p:sp>
        <p:nvSpPr>
          <p:cNvPr id="140" name="Text 138"/>
          <p:cNvSpPr/>
          <p:nvPr/>
        </p:nvSpPr>
        <p:spPr>
          <a:xfrm>
            <a:off x="7589520" y="1234440"/>
            <a:ext cx="1261872" cy="292608"/>
          </a:xfrm>
          <a:prstGeom prst="rect">
            <a:avLst/>
          </a:prstGeom>
          <a:noFill/>
          <a:ln/>
        </p:spPr>
        <p:txBody>
          <a:bodyPr wrap="square" lIns="0" tIns="0" rIns="0" bIns="0" rtlCol="0" anchor="ctr"/>
          <a:lstStyle/>
          <a:p>
            <a:pPr marL="0" indent="0">
              <a:buNone/>
            </a:pPr>
            <a:r>
              <a:rPr lang="en-US" sz="1200" b="1" dirty="0">
                <a:solidFill>
                  <a:srgbClr val="1C2E4A"/>
                </a:solidFill>
                <a:latin typeface="Georgia" pitchFamily="34" charset="0"/>
                <a:ea typeface="Georgia" pitchFamily="34" charset="-122"/>
                <a:cs typeface="Georgia" pitchFamily="34" charset="-120"/>
              </a:rPr>
              <a:t>&gt;180 min</a:t>
            </a:r>
            <a:endParaRPr lang="en-US" sz="1200" dirty="0"/>
          </a:p>
        </p:txBody>
      </p:sp>
      <p:sp>
        <p:nvSpPr>
          <p:cNvPr id="141" name="Text 139"/>
          <p:cNvSpPr/>
          <p:nvPr/>
        </p:nvSpPr>
        <p:spPr>
          <a:xfrm>
            <a:off x="7589520" y="1527048"/>
            <a:ext cx="1261872" cy="640080"/>
          </a:xfrm>
          <a:prstGeom prst="rect">
            <a:avLst/>
          </a:prstGeom>
          <a:noFill/>
          <a:ln/>
        </p:spPr>
        <p:txBody>
          <a:bodyPr wrap="square" lIns="0" tIns="0" rIns="0" bIns="0" rtlCol="0" anchor="ctr"/>
          <a:lstStyle/>
          <a:p>
            <a:pPr marL="0" indent="0">
              <a:buNone/>
            </a:pPr>
            <a:r>
              <a:rPr lang="en-US" sz="900" dirty="0">
                <a:solidFill>
                  <a:srgbClr val="4A6080"/>
                </a:solidFill>
                <a:latin typeface="Calibri" pitchFamily="34" charset="0"/>
                <a:ea typeface="Calibri" pitchFamily="34" charset="-122"/>
                <a:cs typeface="Calibri" pitchFamily="34" charset="-120"/>
              </a:rPr>
              <a:t>Highest rated group in every decade, even among popular films only.</a:t>
            </a:r>
            <a:endParaRPr lang="en-US" sz="900" dirty="0"/>
          </a:p>
        </p:txBody>
      </p:sp>
      <p:sp>
        <p:nvSpPr>
          <p:cNvPr id="142" name="Shape 140"/>
          <p:cNvSpPr/>
          <p:nvPr/>
        </p:nvSpPr>
        <p:spPr>
          <a:xfrm>
            <a:off x="7589520" y="2231136"/>
            <a:ext cx="1097280" cy="36576"/>
          </a:xfrm>
          <a:prstGeom prst="rect">
            <a:avLst/>
          </a:prstGeom>
          <a:solidFill>
            <a:srgbClr val="D0DCF0"/>
          </a:solidFill>
          <a:ln w="12700">
            <a:solidFill>
              <a:srgbClr val="D0DCF0"/>
            </a:solidFill>
            <a:prstDash val="solid"/>
          </a:ln>
        </p:spPr>
        <p:txBody>
          <a:bodyPr/>
          <a:lstStyle/>
          <a:p>
            <a:endParaRPr lang="en-US"/>
          </a:p>
        </p:txBody>
      </p:sp>
      <p:sp>
        <p:nvSpPr>
          <p:cNvPr id="143" name="Text 141"/>
          <p:cNvSpPr/>
          <p:nvPr/>
        </p:nvSpPr>
        <p:spPr>
          <a:xfrm>
            <a:off x="7589520" y="2331720"/>
            <a:ext cx="1261872" cy="292608"/>
          </a:xfrm>
          <a:prstGeom prst="rect">
            <a:avLst/>
          </a:prstGeom>
          <a:noFill/>
          <a:ln/>
        </p:spPr>
        <p:txBody>
          <a:bodyPr wrap="square" lIns="0" tIns="0" rIns="0" bIns="0" rtlCol="0" anchor="ctr"/>
          <a:lstStyle/>
          <a:p>
            <a:pPr marL="0" indent="0">
              <a:buNone/>
            </a:pPr>
            <a:r>
              <a:rPr lang="en-US" sz="1200" b="1" dirty="0">
                <a:solidFill>
                  <a:srgbClr val="1C2E4A"/>
                </a:solidFill>
                <a:latin typeface="Georgia" pitchFamily="34" charset="0"/>
                <a:ea typeface="Georgia" pitchFamily="34" charset="-122"/>
                <a:cs typeface="Georgia" pitchFamily="34" charset="-120"/>
              </a:rPr>
              <a:t>60-90 min</a:t>
            </a:r>
            <a:endParaRPr lang="en-US" sz="1200" dirty="0"/>
          </a:p>
        </p:txBody>
      </p:sp>
      <p:sp>
        <p:nvSpPr>
          <p:cNvPr id="144" name="Text 142"/>
          <p:cNvSpPr/>
          <p:nvPr/>
        </p:nvSpPr>
        <p:spPr>
          <a:xfrm>
            <a:off x="7589520" y="2624328"/>
            <a:ext cx="1261872" cy="640080"/>
          </a:xfrm>
          <a:prstGeom prst="rect">
            <a:avLst/>
          </a:prstGeom>
          <a:noFill/>
          <a:ln/>
        </p:spPr>
        <p:txBody>
          <a:bodyPr wrap="square" lIns="0" tIns="0" rIns="0" bIns="0" rtlCol="0" anchor="ctr"/>
          <a:lstStyle/>
          <a:p>
            <a:pPr marL="0" indent="0">
              <a:buNone/>
            </a:pPr>
            <a:r>
              <a:rPr lang="en-US" sz="900" dirty="0">
                <a:solidFill>
                  <a:srgbClr val="4A6080"/>
                </a:solidFill>
                <a:latin typeface="Calibri" pitchFamily="34" charset="0"/>
                <a:ea typeface="Calibri" pitchFamily="34" charset="-122"/>
                <a:cs typeface="Calibri" pitchFamily="34" charset="-120"/>
              </a:rPr>
              <a:t>Lowest rated group in most decades, even after filtering to popular films.</a:t>
            </a:r>
            <a:endParaRPr lang="en-US" sz="900" dirty="0"/>
          </a:p>
        </p:txBody>
      </p:sp>
      <p:sp>
        <p:nvSpPr>
          <p:cNvPr id="145" name="Shape 143"/>
          <p:cNvSpPr/>
          <p:nvPr/>
        </p:nvSpPr>
        <p:spPr>
          <a:xfrm>
            <a:off x="7589520" y="3328416"/>
            <a:ext cx="1097280" cy="36576"/>
          </a:xfrm>
          <a:prstGeom prst="rect">
            <a:avLst/>
          </a:prstGeom>
          <a:solidFill>
            <a:srgbClr val="D0DCF0"/>
          </a:solidFill>
          <a:ln w="12700">
            <a:solidFill>
              <a:srgbClr val="D0DCF0"/>
            </a:solidFill>
            <a:prstDash val="solid"/>
          </a:ln>
        </p:spPr>
        <p:txBody>
          <a:bodyPr/>
          <a:lstStyle/>
          <a:p>
            <a:endParaRPr lang="en-US"/>
          </a:p>
        </p:txBody>
      </p:sp>
      <p:sp>
        <p:nvSpPr>
          <p:cNvPr id="146" name="Text 144"/>
          <p:cNvSpPr/>
          <p:nvPr/>
        </p:nvSpPr>
        <p:spPr>
          <a:xfrm>
            <a:off x="7589520" y="3429000"/>
            <a:ext cx="1261872" cy="640080"/>
          </a:xfrm>
          <a:prstGeom prst="rect">
            <a:avLst/>
          </a:prstGeom>
          <a:noFill/>
          <a:ln/>
        </p:spPr>
        <p:txBody>
          <a:bodyPr wrap="square" lIns="0" tIns="0" rIns="0" bIns="0" rtlCol="0" anchor="ctr"/>
          <a:lstStyle/>
          <a:p>
            <a:pPr marL="0" indent="0">
              <a:buNone/>
            </a:pPr>
            <a:r>
              <a:rPr lang="en-US" sz="900" i="1" dirty="0">
                <a:solidFill>
                  <a:srgbClr val="4A6080"/>
                </a:solidFill>
                <a:latin typeface="Calibri" pitchFamily="34" charset="0"/>
                <a:ea typeface="Calibri" pitchFamily="34" charset="-122"/>
                <a:cs typeface="Calibri" pitchFamily="34" charset="-120"/>
              </a:rPr>
              <a:t>The pattern survives the robustness check.</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2E4A"/>
          </a:solidFill>
          <a:ln w="12700">
            <a:solidFill>
              <a:srgbClr val="1C2E4A"/>
            </a:solidFill>
            <a:prstDash val="solid"/>
          </a:ln>
        </p:spPr>
        <p:txBody>
          <a:bodyPr/>
          <a:lstStyle/>
          <a:p>
            <a:endParaRPr lang="en-US"/>
          </a:p>
        </p:txBody>
      </p:sp>
      <p:sp>
        <p:nvSpPr>
          <p:cNvPr id="3" name="Shape 1"/>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274320" y="256032"/>
            <a:ext cx="8229600" cy="50292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KEY FINDINGS &amp; RECOMMENDATIONS</a:t>
            </a:r>
            <a:endParaRPr lang="en-US" sz="2200" dirty="0"/>
          </a:p>
        </p:txBody>
      </p:sp>
      <p:sp>
        <p:nvSpPr>
          <p:cNvPr id="5" name="Shape 3"/>
          <p:cNvSpPr/>
          <p:nvPr/>
        </p:nvSpPr>
        <p:spPr>
          <a:xfrm>
            <a:off x="274320" y="1097280"/>
            <a:ext cx="4206240" cy="1143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74320" y="1097280"/>
            <a:ext cx="64008" cy="1143000"/>
          </a:xfrm>
          <a:prstGeom prst="rect">
            <a:avLst/>
          </a:prstGeom>
          <a:solidFill>
            <a:srgbClr val="27AE60"/>
          </a:solidFill>
          <a:ln w="12700">
            <a:solidFill>
              <a:srgbClr val="27AE60"/>
            </a:solidFill>
            <a:prstDash val="solid"/>
          </a:ln>
        </p:spPr>
        <p:txBody>
          <a:bodyPr/>
          <a:lstStyle/>
          <a:p>
            <a:endParaRPr lang="en-US"/>
          </a:p>
        </p:txBody>
      </p:sp>
      <p:sp>
        <p:nvSpPr>
          <p:cNvPr id="7" name="Text 5"/>
          <p:cNvSpPr/>
          <p:nvPr/>
        </p:nvSpPr>
        <p:spPr>
          <a:xfrm>
            <a:off x="411480" y="1152144"/>
            <a:ext cx="457200" cy="274320"/>
          </a:xfrm>
          <a:prstGeom prst="rect">
            <a:avLst/>
          </a:prstGeom>
          <a:noFill/>
          <a:ln/>
        </p:spPr>
        <p:txBody>
          <a:bodyPr wrap="square" lIns="0" tIns="0" rIns="0" bIns="0" rtlCol="0" anchor="ctr"/>
          <a:lstStyle/>
          <a:p>
            <a:pPr marL="0" indent="0">
              <a:buNone/>
            </a:pPr>
            <a:r>
              <a:rPr lang="en-US" sz="1400" b="1" dirty="0">
                <a:solidFill>
                  <a:srgbClr val="27AE60"/>
                </a:solidFill>
                <a:latin typeface="Georgia" pitchFamily="34" charset="0"/>
                <a:ea typeface="Georgia" pitchFamily="34" charset="-122"/>
                <a:cs typeface="Georgia" pitchFamily="34" charset="-120"/>
              </a:rPr>
              <a:t>01</a:t>
            </a:r>
            <a:endParaRPr lang="en-US" sz="1400" dirty="0"/>
          </a:p>
        </p:txBody>
      </p:sp>
      <p:sp>
        <p:nvSpPr>
          <p:cNvPr id="8" name="Text 6"/>
          <p:cNvSpPr/>
          <p:nvPr/>
        </p:nvSpPr>
        <p:spPr>
          <a:xfrm>
            <a:off x="411480" y="144475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Longer Films Rate Higher</a:t>
            </a:r>
            <a:endParaRPr lang="en-US" sz="1200" dirty="0"/>
          </a:p>
        </p:txBody>
      </p:sp>
      <p:sp>
        <p:nvSpPr>
          <p:cNvPr id="9" name="Text 7"/>
          <p:cNvSpPr/>
          <p:nvPr/>
        </p:nvSpPr>
        <p:spPr>
          <a:xfrm>
            <a:off x="411480" y="1737360"/>
            <a:ext cx="3931920" cy="438912"/>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Films in the 150–180 min range achieve the highest average ratings. </a:t>
            </a:r>
          </a:p>
          <a:p>
            <a:pPr marL="0" indent="0">
              <a:buNone/>
            </a:pPr>
            <a:r>
              <a:rPr lang="en-US" sz="950" dirty="0">
                <a:solidFill>
                  <a:srgbClr val="4A6080"/>
                </a:solidFill>
                <a:latin typeface="Calibri" pitchFamily="34" charset="0"/>
                <a:ea typeface="Calibri" pitchFamily="34" charset="-122"/>
                <a:cs typeface="Calibri" pitchFamily="34" charset="-120"/>
                <a:sym typeface="Wingdings" pitchFamily="2" charset="2"/>
              </a:rPr>
              <a:t> </a:t>
            </a:r>
            <a:r>
              <a:rPr lang="en-US" sz="950" dirty="0">
                <a:solidFill>
                  <a:srgbClr val="4A6080"/>
                </a:solidFill>
                <a:latin typeface="Calibri" pitchFamily="34" charset="0"/>
                <a:ea typeface="Calibri" pitchFamily="34" charset="-122"/>
                <a:cs typeface="Calibri" pitchFamily="34" charset="-120"/>
              </a:rPr>
              <a:t>Audiences reward films that invest in narrative depth.</a:t>
            </a:r>
            <a:endParaRPr lang="en-US" sz="950" dirty="0"/>
          </a:p>
        </p:txBody>
      </p:sp>
      <p:sp>
        <p:nvSpPr>
          <p:cNvPr id="10" name="Shape 8"/>
          <p:cNvSpPr/>
          <p:nvPr/>
        </p:nvSpPr>
        <p:spPr>
          <a:xfrm>
            <a:off x="4709160" y="1097280"/>
            <a:ext cx="4206240" cy="1143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709160" y="1097280"/>
            <a:ext cx="64008" cy="1143000"/>
          </a:xfrm>
          <a:prstGeom prst="rect">
            <a:avLst/>
          </a:prstGeom>
          <a:solidFill>
            <a:srgbClr val="E74C3C"/>
          </a:solidFill>
          <a:ln w="12700">
            <a:solidFill>
              <a:srgbClr val="E74C3C"/>
            </a:solidFill>
            <a:prstDash val="solid"/>
          </a:ln>
        </p:spPr>
        <p:txBody>
          <a:bodyPr/>
          <a:lstStyle/>
          <a:p>
            <a:endParaRPr lang="en-US"/>
          </a:p>
        </p:txBody>
      </p:sp>
      <p:sp>
        <p:nvSpPr>
          <p:cNvPr id="12" name="Text 10"/>
          <p:cNvSpPr/>
          <p:nvPr/>
        </p:nvSpPr>
        <p:spPr>
          <a:xfrm>
            <a:off x="4846320" y="1152144"/>
            <a:ext cx="457200" cy="274320"/>
          </a:xfrm>
          <a:prstGeom prst="rect">
            <a:avLst/>
          </a:prstGeom>
          <a:noFill/>
          <a:ln/>
        </p:spPr>
        <p:txBody>
          <a:bodyPr wrap="square" lIns="0" tIns="0" rIns="0" bIns="0" rtlCol="0" anchor="ctr"/>
          <a:lstStyle/>
          <a:p>
            <a:pPr marL="0" indent="0">
              <a:buNone/>
            </a:pPr>
            <a:r>
              <a:rPr lang="en-US" sz="1400" b="1" dirty="0">
                <a:solidFill>
                  <a:srgbClr val="E74C3C"/>
                </a:solidFill>
                <a:latin typeface="Georgia" pitchFamily="34" charset="0"/>
                <a:ea typeface="Georgia" pitchFamily="34" charset="-122"/>
                <a:cs typeface="Georgia" pitchFamily="34" charset="-120"/>
              </a:rPr>
              <a:t>02</a:t>
            </a:r>
            <a:endParaRPr lang="en-US" sz="1400" dirty="0"/>
          </a:p>
        </p:txBody>
      </p:sp>
      <p:sp>
        <p:nvSpPr>
          <p:cNvPr id="13" name="Text 11"/>
          <p:cNvSpPr/>
          <p:nvPr/>
        </p:nvSpPr>
        <p:spPr>
          <a:xfrm>
            <a:off x="4846320" y="144475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Avoid the 60–90 Min Zone</a:t>
            </a:r>
            <a:endParaRPr lang="en-US" sz="1200" dirty="0"/>
          </a:p>
        </p:txBody>
      </p:sp>
      <p:sp>
        <p:nvSpPr>
          <p:cNvPr id="14" name="Text 12"/>
          <p:cNvSpPr/>
          <p:nvPr/>
        </p:nvSpPr>
        <p:spPr>
          <a:xfrm>
            <a:off x="4846320" y="1737360"/>
            <a:ext cx="3931920" cy="438912"/>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The most consistent finding: almost every genre scores its lowest here. </a:t>
            </a:r>
          </a:p>
          <a:p>
            <a:pPr marL="0" indent="0">
              <a:buNone/>
            </a:pPr>
            <a:r>
              <a:rPr lang="en-US" sz="950" dirty="0">
                <a:solidFill>
                  <a:srgbClr val="4A6080"/>
                </a:solidFill>
                <a:latin typeface="Calibri" pitchFamily="34" charset="0"/>
                <a:ea typeface="Calibri" pitchFamily="34" charset="-122"/>
                <a:cs typeface="Calibri" pitchFamily="34" charset="-120"/>
                <a:sym typeface="Wingdings" pitchFamily="2" charset="2"/>
              </a:rPr>
              <a:t> </a:t>
            </a:r>
            <a:r>
              <a:rPr lang="en-US" sz="950" dirty="0">
                <a:solidFill>
                  <a:srgbClr val="4A6080"/>
                </a:solidFill>
                <a:latin typeface="Calibri" pitchFamily="34" charset="0"/>
                <a:ea typeface="Calibri" pitchFamily="34" charset="-122"/>
                <a:cs typeface="Calibri" pitchFamily="34" charset="-120"/>
              </a:rPr>
              <a:t>If the story needs more time, take it.</a:t>
            </a:r>
            <a:endParaRPr lang="en-US" sz="950" dirty="0"/>
          </a:p>
        </p:txBody>
      </p:sp>
      <p:sp>
        <p:nvSpPr>
          <p:cNvPr id="15" name="Shape 13"/>
          <p:cNvSpPr/>
          <p:nvPr/>
        </p:nvSpPr>
        <p:spPr>
          <a:xfrm>
            <a:off x="274320" y="2377440"/>
            <a:ext cx="4206240" cy="1143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274320" y="2377440"/>
            <a:ext cx="64008" cy="1143000"/>
          </a:xfrm>
          <a:prstGeom prst="rect">
            <a:avLst/>
          </a:prstGeom>
          <a:solidFill>
            <a:srgbClr val="1A56A0"/>
          </a:solidFill>
          <a:ln w="12700">
            <a:solidFill>
              <a:srgbClr val="1A56A0"/>
            </a:solidFill>
            <a:prstDash val="solid"/>
          </a:ln>
        </p:spPr>
        <p:txBody>
          <a:bodyPr/>
          <a:lstStyle/>
          <a:p>
            <a:endParaRPr lang="en-US"/>
          </a:p>
        </p:txBody>
      </p:sp>
      <p:sp>
        <p:nvSpPr>
          <p:cNvPr id="17" name="Text 15"/>
          <p:cNvSpPr/>
          <p:nvPr/>
        </p:nvSpPr>
        <p:spPr>
          <a:xfrm>
            <a:off x="411480" y="2432304"/>
            <a:ext cx="457200" cy="274320"/>
          </a:xfrm>
          <a:prstGeom prst="rect">
            <a:avLst/>
          </a:prstGeom>
          <a:noFill/>
          <a:ln/>
        </p:spPr>
        <p:txBody>
          <a:bodyPr wrap="square" lIns="0" tIns="0" rIns="0" bIns="0" rtlCol="0" anchor="ctr"/>
          <a:lstStyle/>
          <a:p>
            <a:pPr marL="0" indent="0">
              <a:buNone/>
            </a:pPr>
            <a:r>
              <a:rPr lang="en-US" sz="1400" b="1" dirty="0">
                <a:solidFill>
                  <a:srgbClr val="1A56A0"/>
                </a:solidFill>
                <a:latin typeface="Georgia" pitchFamily="34" charset="0"/>
                <a:ea typeface="Georgia" pitchFamily="34" charset="-122"/>
                <a:cs typeface="Georgia" pitchFamily="34" charset="-120"/>
              </a:rPr>
              <a:t>03</a:t>
            </a:r>
            <a:endParaRPr lang="en-US" sz="1400" dirty="0"/>
          </a:p>
        </p:txBody>
      </p:sp>
      <p:sp>
        <p:nvSpPr>
          <p:cNvPr id="18" name="Text 16"/>
          <p:cNvSpPr/>
          <p:nvPr/>
        </p:nvSpPr>
        <p:spPr>
          <a:xfrm>
            <a:off x="411480" y="272491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Runtime Sensitivity is Genre-Specific</a:t>
            </a:r>
            <a:endParaRPr lang="en-US" sz="1200" dirty="0"/>
          </a:p>
        </p:txBody>
      </p:sp>
      <p:sp>
        <p:nvSpPr>
          <p:cNvPr id="19" name="Text 17"/>
          <p:cNvSpPr/>
          <p:nvPr/>
        </p:nvSpPr>
        <p:spPr>
          <a:xfrm>
            <a:off x="411480" y="3017520"/>
            <a:ext cx="3931920" cy="438912"/>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Horror is highly sensitive with nearly 2 rating points across groups. Comedy is nearly flat. </a:t>
            </a:r>
          </a:p>
          <a:p>
            <a:pPr marL="0" indent="0">
              <a:buNone/>
            </a:pPr>
            <a:r>
              <a:rPr lang="en-US" sz="950" dirty="0">
                <a:solidFill>
                  <a:srgbClr val="4A6080"/>
                </a:solidFill>
                <a:latin typeface="Calibri" pitchFamily="34" charset="0"/>
                <a:ea typeface="Calibri" pitchFamily="34" charset="-122"/>
                <a:cs typeface="Calibri" pitchFamily="34" charset="-120"/>
                <a:sym typeface="Wingdings" pitchFamily="2" charset="2"/>
              </a:rPr>
              <a:t> </a:t>
            </a:r>
            <a:r>
              <a:rPr lang="en-US" sz="950" dirty="0">
                <a:solidFill>
                  <a:srgbClr val="4A6080"/>
                </a:solidFill>
                <a:latin typeface="Calibri" pitchFamily="34" charset="0"/>
                <a:ea typeface="Calibri" pitchFamily="34" charset="-122"/>
                <a:cs typeface="Calibri" pitchFamily="34" charset="-120"/>
              </a:rPr>
              <a:t>Know your genre.</a:t>
            </a:r>
            <a:endParaRPr lang="en-US" sz="950" dirty="0"/>
          </a:p>
        </p:txBody>
      </p:sp>
      <p:sp>
        <p:nvSpPr>
          <p:cNvPr id="20" name="Shape 18"/>
          <p:cNvSpPr/>
          <p:nvPr/>
        </p:nvSpPr>
        <p:spPr>
          <a:xfrm>
            <a:off x="4709160" y="2377440"/>
            <a:ext cx="4206240" cy="1143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709160" y="2377440"/>
            <a:ext cx="64008" cy="1143000"/>
          </a:xfrm>
          <a:prstGeom prst="rect">
            <a:avLst/>
          </a:prstGeom>
          <a:solidFill>
            <a:srgbClr val="E8A020"/>
          </a:solidFill>
          <a:ln w="12700">
            <a:solidFill>
              <a:srgbClr val="E8A020"/>
            </a:solidFill>
            <a:prstDash val="solid"/>
          </a:ln>
        </p:spPr>
        <p:txBody>
          <a:bodyPr/>
          <a:lstStyle/>
          <a:p>
            <a:endParaRPr lang="en-US"/>
          </a:p>
        </p:txBody>
      </p:sp>
      <p:sp>
        <p:nvSpPr>
          <p:cNvPr id="22" name="Text 20"/>
          <p:cNvSpPr/>
          <p:nvPr/>
        </p:nvSpPr>
        <p:spPr>
          <a:xfrm>
            <a:off x="4846320" y="2432304"/>
            <a:ext cx="457200" cy="274320"/>
          </a:xfrm>
          <a:prstGeom prst="rect">
            <a:avLst/>
          </a:prstGeom>
          <a:noFill/>
          <a:ln/>
        </p:spPr>
        <p:txBody>
          <a:bodyPr wrap="square" lIns="0" tIns="0" rIns="0" bIns="0" rtlCol="0" anchor="ctr"/>
          <a:lstStyle/>
          <a:p>
            <a:pPr marL="0" indent="0">
              <a:buNone/>
            </a:pPr>
            <a:r>
              <a:rPr lang="en-US" sz="1400" b="1" dirty="0">
                <a:solidFill>
                  <a:srgbClr val="E8A020"/>
                </a:solidFill>
                <a:latin typeface="Georgia" pitchFamily="34" charset="0"/>
                <a:ea typeface="Georgia" pitchFamily="34" charset="-122"/>
                <a:cs typeface="Georgia" pitchFamily="34" charset="-120"/>
              </a:rPr>
              <a:t>04</a:t>
            </a:r>
            <a:endParaRPr lang="en-US" sz="1400" dirty="0"/>
          </a:p>
        </p:txBody>
      </p:sp>
      <p:sp>
        <p:nvSpPr>
          <p:cNvPr id="23" name="Text 21"/>
          <p:cNvSpPr/>
          <p:nvPr/>
        </p:nvSpPr>
        <p:spPr>
          <a:xfrm>
            <a:off x="4846320" y="272491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Longer Films Are More Popular</a:t>
            </a:r>
            <a:endParaRPr lang="en-US" sz="1200" dirty="0"/>
          </a:p>
        </p:txBody>
      </p:sp>
      <p:sp>
        <p:nvSpPr>
          <p:cNvPr id="24" name="Text 22"/>
          <p:cNvSpPr/>
          <p:nvPr/>
        </p:nvSpPr>
        <p:spPr>
          <a:xfrm>
            <a:off x="4846320" y="3017520"/>
            <a:ext cx="3931920" cy="438912"/>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Films over 180 min average ~21,300 votes vs ~100 for under 60 min </a:t>
            </a:r>
          </a:p>
          <a:p>
            <a:pPr marL="0" indent="0">
              <a:buNone/>
            </a:pPr>
            <a:r>
              <a:rPr lang="en-US" sz="950" dirty="0">
                <a:solidFill>
                  <a:srgbClr val="4A6080"/>
                </a:solidFill>
                <a:latin typeface="Calibri" pitchFamily="34" charset="0"/>
                <a:ea typeface="Calibri" pitchFamily="34" charset="-122"/>
                <a:cs typeface="Calibri" pitchFamily="34" charset="-120"/>
                <a:sym typeface="Wingdings" pitchFamily="2" charset="2"/>
              </a:rPr>
              <a:t></a:t>
            </a:r>
            <a:r>
              <a:rPr lang="en-US" sz="950" dirty="0">
                <a:solidFill>
                  <a:srgbClr val="4A6080"/>
                </a:solidFill>
                <a:latin typeface="Calibri" pitchFamily="34" charset="0"/>
                <a:ea typeface="Calibri" pitchFamily="34" charset="-122"/>
                <a:cs typeface="Calibri" pitchFamily="34" charset="-120"/>
              </a:rPr>
              <a:t> a completely different level of engagement.</a:t>
            </a:r>
            <a:endParaRPr lang="en-US" sz="950" dirty="0"/>
          </a:p>
        </p:txBody>
      </p:sp>
      <p:sp>
        <p:nvSpPr>
          <p:cNvPr id="25" name="Shape 23"/>
          <p:cNvSpPr/>
          <p:nvPr/>
        </p:nvSpPr>
        <p:spPr>
          <a:xfrm>
            <a:off x="274320" y="3657600"/>
            <a:ext cx="4206240" cy="1143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26" name="Shape 24"/>
          <p:cNvSpPr/>
          <p:nvPr/>
        </p:nvSpPr>
        <p:spPr>
          <a:xfrm>
            <a:off x="274320" y="3657600"/>
            <a:ext cx="64008" cy="1143000"/>
          </a:xfrm>
          <a:prstGeom prst="rect">
            <a:avLst/>
          </a:prstGeom>
          <a:solidFill>
            <a:srgbClr val="6B7CBD"/>
          </a:solidFill>
          <a:ln w="12700">
            <a:solidFill>
              <a:srgbClr val="6B7CBD"/>
            </a:solidFill>
            <a:prstDash val="solid"/>
          </a:ln>
        </p:spPr>
        <p:txBody>
          <a:bodyPr/>
          <a:lstStyle/>
          <a:p>
            <a:endParaRPr lang="en-US"/>
          </a:p>
        </p:txBody>
      </p:sp>
      <p:sp>
        <p:nvSpPr>
          <p:cNvPr id="27" name="Text 25"/>
          <p:cNvSpPr/>
          <p:nvPr/>
        </p:nvSpPr>
        <p:spPr>
          <a:xfrm>
            <a:off x="411480" y="3712464"/>
            <a:ext cx="457200" cy="274320"/>
          </a:xfrm>
          <a:prstGeom prst="rect">
            <a:avLst/>
          </a:prstGeom>
          <a:noFill/>
          <a:ln/>
        </p:spPr>
        <p:txBody>
          <a:bodyPr wrap="square" lIns="0" tIns="0" rIns="0" bIns="0" rtlCol="0" anchor="ctr"/>
          <a:lstStyle/>
          <a:p>
            <a:pPr marL="0" indent="0">
              <a:buNone/>
            </a:pPr>
            <a:r>
              <a:rPr lang="en-US" sz="1400" b="1" dirty="0">
                <a:solidFill>
                  <a:srgbClr val="6B7CBD"/>
                </a:solidFill>
                <a:latin typeface="Georgia" pitchFamily="34" charset="0"/>
                <a:ea typeface="Georgia" pitchFamily="34" charset="-122"/>
                <a:cs typeface="Georgia" pitchFamily="34" charset="-120"/>
              </a:rPr>
              <a:t>05</a:t>
            </a:r>
            <a:endParaRPr lang="en-US" sz="1400" dirty="0"/>
          </a:p>
        </p:txBody>
      </p:sp>
      <p:sp>
        <p:nvSpPr>
          <p:cNvPr id="28" name="Text 26"/>
          <p:cNvSpPr/>
          <p:nvPr/>
        </p:nvSpPr>
        <p:spPr>
          <a:xfrm>
            <a:off x="411480" y="400507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Industry Norms Are Stable</a:t>
            </a:r>
            <a:endParaRPr lang="en-US" sz="1200" dirty="0"/>
          </a:p>
        </p:txBody>
      </p:sp>
      <p:sp>
        <p:nvSpPr>
          <p:cNvPr id="29" name="Text 27"/>
          <p:cNvSpPr/>
          <p:nvPr/>
        </p:nvSpPr>
        <p:spPr>
          <a:xfrm>
            <a:off x="411480" y="4297680"/>
            <a:ext cx="3931920" cy="438912"/>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Median runtime has stayed between 90–95 min every decade since 1950. The IQR spread has widened — but the centre holds.</a:t>
            </a:r>
            <a:endParaRPr lang="en-US" sz="950" dirty="0"/>
          </a:p>
        </p:txBody>
      </p:sp>
      <p:sp>
        <p:nvSpPr>
          <p:cNvPr id="30" name="Shape 28"/>
          <p:cNvSpPr/>
          <p:nvPr/>
        </p:nvSpPr>
        <p:spPr>
          <a:xfrm>
            <a:off x="4709160" y="3657600"/>
            <a:ext cx="4206240" cy="114300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31" name="Shape 29"/>
          <p:cNvSpPr/>
          <p:nvPr/>
        </p:nvSpPr>
        <p:spPr>
          <a:xfrm>
            <a:off x="4709160" y="3657600"/>
            <a:ext cx="64008" cy="1143000"/>
          </a:xfrm>
          <a:prstGeom prst="rect">
            <a:avLst/>
          </a:prstGeom>
          <a:solidFill>
            <a:srgbClr val="E74C3C"/>
          </a:solidFill>
          <a:ln w="12700">
            <a:solidFill>
              <a:srgbClr val="E74C3C"/>
            </a:solidFill>
            <a:prstDash val="solid"/>
          </a:ln>
        </p:spPr>
        <p:txBody>
          <a:bodyPr/>
          <a:lstStyle/>
          <a:p>
            <a:endParaRPr lang="en-US"/>
          </a:p>
        </p:txBody>
      </p:sp>
      <p:sp>
        <p:nvSpPr>
          <p:cNvPr id="32" name="Text 30"/>
          <p:cNvSpPr/>
          <p:nvPr/>
        </p:nvSpPr>
        <p:spPr>
          <a:xfrm>
            <a:off x="4846320" y="3712464"/>
            <a:ext cx="457200" cy="274320"/>
          </a:xfrm>
          <a:prstGeom prst="rect">
            <a:avLst/>
          </a:prstGeom>
          <a:noFill/>
          <a:ln/>
        </p:spPr>
        <p:txBody>
          <a:bodyPr wrap="square" lIns="0" tIns="0" rIns="0" bIns="0" rtlCol="0" anchor="ctr"/>
          <a:lstStyle/>
          <a:p>
            <a:pPr marL="0" indent="0">
              <a:buNone/>
            </a:pPr>
            <a:r>
              <a:rPr lang="en-US" sz="1400" b="1" dirty="0">
                <a:solidFill>
                  <a:srgbClr val="E74C3C"/>
                </a:solidFill>
                <a:latin typeface="Georgia" pitchFamily="34" charset="0"/>
                <a:ea typeface="Georgia" pitchFamily="34" charset="-122"/>
                <a:cs typeface="Georgia" pitchFamily="34" charset="-120"/>
              </a:rPr>
              <a:t>06</a:t>
            </a:r>
            <a:endParaRPr lang="en-US" sz="1400" dirty="0"/>
          </a:p>
        </p:txBody>
      </p:sp>
      <p:sp>
        <p:nvSpPr>
          <p:cNvPr id="33" name="Text 31"/>
          <p:cNvSpPr/>
          <p:nvPr/>
        </p:nvSpPr>
        <p:spPr>
          <a:xfrm>
            <a:off x="4846320" y="4005072"/>
            <a:ext cx="3931920" cy="274320"/>
          </a:xfrm>
          <a:prstGeom prst="rect">
            <a:avLst/>
          </a:prstGeom>
          <a:noFill/>
          <a:ln/>
        </p:spPr>
        <p:txBody>
          <a:bodyPr wrap="square" lIns="0" tIns="0" rIns="0" bIns="0" rtlCol="0" anchor="ctr"/>
          <a:lstStyle/>
          <a:p>
            <a:pPr marL="0" indent="0">
              <a:buNone/>
            </a:pPr>
            <a:r>
              <a:rPr lang="en-US" sz="1200" b="1" dirty="0">
                <a:solidFill>
                  <a:srgbClr val="1C2E4A"/>
                </a:solidFill>
                <a:latin typeface="Calibri" pitchFamily="34" charset="0"/>
                <a:ea typeface="Calibri" pitchFamily="34" charset="-122"/>
                <a:cs typeface="Calibri" pitchFamily="34" charset="-120"/>
              </a:rPr>
              <a:t>Correlation is Not Causation</a:t>
            </a:r>
            <a:endParaRPr lang="en-US" sz="1200" dirty="0"/>
          </a:p>
        </p:txBody>
      </p:sp>
      <p:sp>
        <p:nvSpPr>
          <p:cNvPr id="34" name="Text 32"/>
          <p:cNvSpPr/>
          <p:nvPr/>
        </p:nvSpPr>
        <p:spPr>
          <a:xfrm>
            <a:off x="4846320" y="4297680"/>
            <a:ext cx="3931920" cy="438912"/>
          </a:xfrm>
          <a:prstGeom prst="rect">
            <a:avLst/>
          </a:prstGeom>
          <a:noFill/>
          <a:ln/>
        </p:spPr>
        <p:txBody>
          <a:bodyPr wrap="square" lIns="0" tIns="0" rIns="0" bIns="0" rtlCol="0" anchor="ctr"/>
          <a:lstStyle/>
          <a:p>
            <a:pPr marL="0" indent="0">
              <a:buNone/>
            </a:pPr>
            <a:r>
              <a:rPr lang="en-US" sz="950" dirty="0">
                <a:solidFill>
                  <a:srgbClr val="4A6080"/>
                </a:solidFill>
                <a:latin typeface="Calibri" pitchFamily="34" charset="0"/>
                <a:ea typeface="Calibri" pitchFamily="34" charset="-122"/>
                <a:cs typeface="Calibri" pitchFamily="34" charset="-120"/>
              </a:rPr>
              <a:t>Runtime is a symptom of quality, not the cause. </a:t>
            </a:r>
          </a:p>
          <a:p>
            <a:pPr marL="0" indent="0">
              <a:buNone/>
            </a:pPr>
            <a:r>
              <a:rPr lang="en-US" sz="950" dirty="0">
                <a:solidFill>
                  <a:srgbClr val="4A6080"/>
                </a:solidFill>
                <a:latin typeface="Calibri" pitchFamily="34" charset="0"/>
                <a:ea typeface="Calibri" pitchFamily="34" charset="-122"/>
                <a:cs typeface="Calibri" pitchFamily="34" charset="-120"/>
                <a:sym typeface="Wingdings" pitchFamily="2" charset="2"/>
              </a:rPr>
              <a:t> </a:t>
            </a:r>
            <a:r>
              <a:rPr lang="en-US" sz="950" dirty="0">
                <a:solidFill>
                  <a:srgbClr val="4A6080"/>
                </a:solidFill>
                <a:latin typeface="Calibri" pitchFamily="34" charset="0"/>
                <a:ea typeface="Calibri" pitchFamily="34" charset="-122"/>
                <a:cs typeface="Calibri" pitchFamily="34" charset="-120"/>
              </a:rPr>
              <a:t>Don't pad a film to hit a bracket — serve the story first.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txBody>
          <a:bodyPr/>
          <a:lstStyle/>
          <a:p>
            <a:endParaRPr lang="en-US"/>
          </a:p>
        </p:txBody>
      </p:sp>
      <p:sp>
        <p:nvSpPr>
          <p:cNvPr id="3" name="Shape 1"/>
          <p:cNvSpPr/>
          <p:nvPr/>
        </p:nvSpPr>
        <p:spPr>
          <a:xfrm>
            <a:off x="7772400"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4" name="Shape 2"/>
          <p:cNvSpPr/>
          <p:nvPr/>
        </p:nvSpPr>
        <p:spPr>
          <a:xfrm>
            <a:off x="7772400"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5" name="Shape 3"/>
          <p:cNvSpPr/>
          <p:nvPr/>
        </p:nvSpPr>
        <p:spPr>
          <a:xfrm>
            <a:off x="8028432"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6" name="Shape 4"/>
          <p:cNvSpPr/>
          <p:nvPr/>
        </p:nvSpPr>
        <p:spPr>
          <a:xfrm>
            <a:off x="8028432"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7" name="Shape 5"/>
          <p:cNvSpPr/>
          <p:nvPr/>
        </p:nvSpPr>
        <p:spPr>
          <a:xfrm>
            <a:off x="8284464"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8" name="Shape 6"/>
          <p:cNvSpPr/>
          <p:nvPr/>
        </p:nvSpPr>
        <p:spPr>
          <a:xfrm>
            <a:off x="8284464"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9" name="Shape 7"/>
          <p:cNvSpPr/>
          <p:nvPr/>
        </p:nvSpPr>
        <p:spPr>
          <a:xfrm>
            <a:off x="8540496"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10" name="Shape 8"/>
          <p:cNvSpPr/>
          <p:nvPr/>
        </p:nvSpPr>
        <p:spPr>
          <a:xfrm>
            <a:off x="8540496"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11" name="Shape 9"/>
          <p:cNvSpPr/>
          <p:nvPr/>
        </p:nvSpPr>
        <p:spPr>
          <a:xfrm>
            <a:off x="8796528"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12" name="Shape 10"/>
          <p:cNvSpPr/>
          <p:nvPr/>
        </p:nvSpPr>
        <p:spPr>
          <a:xfrm>
            <a:off x="8796528"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13" name="Shape 11"/>
          <p:cNvSpPr/>
          <p:nvPr/>
        </p:nvSpPr>
        <p:spPr>
          <a:xfrm>
            <a:off x="9052560" y="182880"/>
            <a:ext cx="164592" cy="457200"/>
          </a:xfrm>
          <a:prstGeom prst="rect">
            <a:avLst/>
          </a:prstGeom>
          <a:solidFill>
            <a:srgbClr val="162033"/>
          </a:solidFill>
          <a:ln w="6350">
            <a:solidFill>
              <a:srgbClr val="8FA3BF"/>
            </a:solidFill>
            <a:prstDash val="solid"/>
          </a:ln>
        </p:spPr>
        <p:txBody>
          <a:bodyPr/>
          <a:lstStyle/>
          <a:p>
            <a:endParaRPr lang="en-US"/>
          </a:p>
        </p:txBody>
      </p:sp>
      <p:sp>
        <p:nvSpPr>
          <p:cNvPr id="14" name="Shape 12"/>
          <p:cNvSpPr/>
          <p:nvPr/>
        </p:nvSpPr>
        <p:spPr>
          <a:xfrm>
            <a:off x="9052560" y="4480560"/>
            <a:ext cx="164592" cy="457200"/>
          </a:xfrm>
          <a:prstGeom prst="rect">
            <a:avLst/>
          </a:prstGeom>
          <a:solidFill>
            <a:srgbClr val="162033"/>
          </a:solidFill>
          <a:ln w="6350">
            <a:solidFill>
              <a:srgbClr val="8FA3BF"/>
            </a:solidFill>
            <a:prstDash val="solid"/>
          </a:ln>
        </p:spPr>
        <p:txBody>
          <a:bodyPr/>
          <a:lstStyle/>
          <a:p>
            <a:endParaRPr lang="en-US"/>
          </a:p>
        </p:txBody>
      </p:sp>
      <p:sp>
        <p:nvSpPr>
          <p:cNvPr id="15" name="Text 13"/>
          <p:cNvSpPr/>
          <p:nvPr/>
        </p:nvSpPr>
        <p:spPr>
          <a:xfrm>
            <a:off x="365760" y="1005840"/>
            <a:ext cx="8229600" cy="365760"/>
          </a:xfrm>
          <a:prstGeom prst="rect">
            <a:avLst/>
          </a:prstGeom>
          <a:noFill/>
          <a:ln/>
        </p:spPr>
        <p:txBody>
          <a:bodyPr wrap="square" rtlCol="0" anchor="ctr"/>
          <a:lstStyle/>
          <a:p>
            <a:pPr marL="0" indent="0">
              <a:buNone/>
            </a:pPr>
            <a:r>
              <a:rPr lang="en-US" sz="1100" b="1" kern="0" spc="400" dirty="0">
                <a:solidFill>
                  <a:srgbClr val="E8A020"/>
                </a:solidFill>
                <a:latin typeface="Calibri" pitchFamily="34" charset="0"/>
                <a:ea typeface="Calibri" pitchFamily="34" charset="-122"/>
                <a:cs typeface="Calibri" pitchFamily="34" charset="-120"/>
              </a:rPr>
              <a:t>THE BOTTOM LINE</a:t>
            </a:r>
            <a:endParaRPr lang="en-US" sz="1100" dirty="0"/>
          </a:p>
        </p:txBody>
      </p:sp>
      <p:sp>
        <p:nvSpPr>
          <p:cNvPr id="16" name="Text 14"/>
          <p:cNvSpPr/>
          <p:nvPr/>
        </p:nvSpPr>
        <p:spPr>
          <a:xfrm>
            <a:off x="365760" y="1417320"/>
            <a:ext cx="7772400" cy="1645920"/>
          </a:xfrm>
          <a:prstGeom prst="rect">
            <a:avLst/>
          </a:prstGeom>
          <a:noFill/>
          <a:ln/>
        </p:spPr>
        <p:txBody>
          <a:bodyPr wrap="square" rtlCol="0" anchor="ctr"/>
          <a:lstStyle/>
          <a:p>
            <a:pPr marL="0" indent="0" algn="l">
              <a:buNone/>
            </a:pPr>
            <a:r>
              <a:rPr lang="en-US" sz="4200" b="1" dirty="0">
                <a:solidFill>
                  <a:srgbClr val="FFFFFF"/>
                </a:solidFill>
                <a:latin typeface="Georgia" pitchFamily="34" charset="0"/>
                <a:ea typeface="Georgia" pitchFamily="34" charset="-122"/>
                <a:cs typeface="Georgia" pitchFamily="34" charset="-120"/>
              </a:rPr>
              <a:t>Serve the story.</a:t>
            </a:r>
            <a:endParaRPr lang="en-US" sz="4200" dirty="0"/>
          </a:p>
          <a:p>
            <a:pPr marL="0" indent="0" algn="l">
              <a:buNone/>
            </a:pPr>
            <a:r>
              <a:rPr lang="en-US" sz="4200" b="1" dirty="0">
                <a:solidFill>
                  <a:srgbClr val="FFFFFF"/>
                </a:solidFill>
                <a:latin typeface="Georgia" pitchFamily="34" charset="0"/>
                <a:ea typeface="Georgia" pitchFamily="34" charset="-122"/>
                <a:cs typeface="Georgia" pitchFamily="34" charset="-120"/>
              </a:rPr>
              <a:t>The data will follow.</a:t>
            </a:r>
            <a:endParaRPr lang="en-US" sz="4200" dirty="0"/>
          </a:p>
        </p:txBody>
      </p:sp>
      <p:sp>
        <p:nvSpPr>
          <p:cNvPr id="17" name="Shape 15"/>
          <p:cNvSpPr/>
          <p:nvPr/>
        </p:nvSpPr>
        <p:spPr>
          <a:xfrm>
            <a:off x="365760" y="3154680"/>
            <a:ext cx="4114800" cy="36576"/>
          </a:xfrm>
          <a:prstGeom prst="rect">
            <a:avLst/>
          </a:prstGeom>
          <a:solidFill>
            <a:srgbClr val="8FA3BF"/>
          </a:solidFill>
          <a:ln w="12700">
            <a:solidFill>
              <a:srgbClr val="8FA3BF"/>
            </a:solidFill>
            <a:prstDash val="solid"/>
          </a:ln>
        </p:spPr>
        <p:txBody>
          <a:bodyPr/>
          <a:lstStyle/>
          <a:p>
            <a:endParaRPr lang="en-US"/>
          </a:p>
        </p:txBody>
      </p:sp>
      <p:sp>
        <p:nvSpPr>
          <p:cNvPr id="18" name="Text 16"/>
          <p:cNvSpPr/>
          <p:nvPr/>
        </p:nvSpPr>
        <p:spPr>
          <a:xfrm>
            <a:off x="365760" y="3291840"/>
            <a:ext cx="7772400" cy="1097280"/>
          </a:xfrm>
          <a:prstGeom prst="rect">
            <a:avLst/>
          </a:prstGeom>
          <a:noFill/>
          <a:ln/>
        </p:spPr>
        <p:txBody>
          <a:bodyPr wrap="square" rtlCol="0" anchor="ctr"/>
          <a:lstStyle/>
          <a:p>
            <a:pPr marL="0" indent="0" algn="l">
              <a:buNone/>
            </a:pPr>
            <a:r>
              <a:rPr lang="en-US" sz="1200" dirty="0">
                <a:solidFill>
                  <a:srgbClr val="8FA3BF"/>
                </a:solidFill>
                <a:latin typeface="Calibri" pitchFamily="34" charset="0"/>
                <a:ea typeface="Calibri" pitchFamily="34" charset="-122"/>
                <a:cs typeface="Calibri" pitchFamily="34" charset="-120"/>
              </a:rPr>
              <a:t>Films rated 150–180 minutes outperform shorter films in both ratings and engagement. But runtime is a consequence of good storytelling — not a substitute for it. Producers who focus on narrative quality will find the right runtime naturally.</a:t>
            </a:r>
            <a:endParaRPr lang="en-US" sz="1200" dirty="0"/>
          </a:p>
        </p:txBody>
      </p:sp>
      <p:sp>
        <p:nvSpPr>
          <p:cNvPr id="19" name="Text 17"/>
          <p:cNvSpPr/>
          <p:nvPr/>
        </p:nvSpPr>
        <p:spPr>
          <a:xfrm>
            <a:off x="365760" y="4663440"/>
            <a:ext cx="5486400" cy="320040"/>
          </a:xfrm>
          <a:prstGeom prst="rect">
            <a:avLst/>
          </a:prstGeom>
          <a:noFill/>
          <a:ln/>
        </p:spPr>
        <p:txBody>
          <a:bodyPr wrap="square" rtlCol="0" anchor="ctr"/>
          <a:lstStyle/>
          <a:p>
            <a:pPr marL="0" indent="0">
              <a:buNone/>
            </a:pPr>
            <a:r>
              <a:rPr lang="en-US" sz="1000" kern="0" spc="100" dirty="0">
                <a:solidFill>
                  <a:srgbClr val="3A5070"/>
                </a:solidFill>
                <a:latin typeface="Calibri" pitchFamily="34" charset="0"/>
                <a:ea typeface="Calibri" pitchFamily="34" charset="-122"/>
                <a:cs typeface="Calibri" pitchFamily="34" charset="-120"/>
              </a:rPr>
              <a:t>DATA SOURCE: IMDb · title.basics · title.ratings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376</TotalTime>
  <Words>3565</Words>
  <Application>Microsoft Macintosh PowerPoint</Application>
  <PresentationFormat>On-screen Show (16:9)</PresentationFormat>
  <Paragraphs>386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Movie Runtime Influence Success?</dc:title>
  <dc:subject>PptxGenJS Presentation</dc:subject>
  <dc:creator>PptxGenJS</dc:creator>
  <cp:lastModifiedBy>Robin Nguyen</cp:lastModifiedBy>
  <cp:revision>2</cp:revision>
  <dcterms:created xsi:type="dcterms:W3CDTF">2026-04-09T05:32:47Z</dcterms:created>
  <dcterms:modified xsi:type="dcterms:W3CDTF">2026-04-09T11:51:00Z</dcterms:modified>
</cp:coreProperties>
</file>